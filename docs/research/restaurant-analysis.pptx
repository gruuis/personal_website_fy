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报告关注玩家为何愿意持续经营餐厅，以及餐厅成长如何连接消费需求。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配图 rs-icon https://play-lh.googleusercontent.com/u6Cot9a6a4ZsGZ4RJMlYmTie6hcEuqbC0z6DB7CcGHZV-6RkjQ6fbeiTsWUTJCQuVJKTeLCOTtGP6PGXOIZq-GE=w512；官方商店图来自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长期目标同时包含经营与表达。正式报告以可核查的产品信息开场，不使用收入或玩家规模推断成功原因。</a:t>
            </a:r>
          </a:p>
          <a:p>
            <a:r>
              <a:t>R1、R2。R0 记录的早期上线日期存在口径差异，因此本页不保留精确日。若需要产品历史，可在备注中写“原报告记录 2010 年首发，未在本轮重新核验具体日期”。</a:t>
            </a:r>
          </a:p>
          <a:p>
            <a:r>
              <a:t>资料访问及整理日期：2026-10-12</a:t>
            </a:r>
          </a:p>
          <a:p>
            <a:r>
              <a:t>R1 https://play.google.com/store/apps/details?id=com.teamlava.restaurantstory&amp;hl=en_US</a:t>
            </a:r>
          </a:p>
          <a:p>
            <a:r>
              <a:t>R2 https://apps.apple.com/us/app/restaurant-story/id394807905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配图 rs-screen7 https://play-lh.googleusercontent.com/5GP3TuzfuNGEuqfrfTLWVcocUXEQP4z8CxedXRI3SowRVUn_clxJmh4zKevbae8-1TQsP7c03jo88vGsTQK5=w1600；官方商店图来自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经营效率与装修偏好共同决定资源去向。该关系是分析模型，不代表官方完整经济系统。</a:t>
            </a:r>
          </a:p>
          <a:p>
            <a:r>
              <a:t>R0 第 4、5、13、14 页，R1，R3 历史机制。当前收入与菜品的详细数值不填写。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R1 https://play.google.com/store/apps/details?id=com.teamlava.restaurantstory&amp;hl=en_US</a:t>
            </a:r>
          </a:p>
          <a:p>
            <a:r>
              <a:t>R3 https://forums.storm8.com/showthread.php/59838-Restaurant-Story-Game-Guide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时间效率、外观表达可以作为消费动机假设。没有完整售卖流程，不将“加速、补材料、装饰直购”一律写成已经确认的当前商品。</a:t>
            </a:r>
          </a:p>
          <a:p>
            <a:r>
              <a:t>R1、R2、R4。广告存在不等于已经确认全部都是激励视频。广告点位和观看奖励不沿用玩家评论作为正式规则。</a:t>
            </a:r>
          </a:p>
          <a:p>
            <a:r>
              <a:t>资料访问及整理日期：2026-10-12</a:t>
            </a:r>
          </a:p>
          <a:p>
            <a:r>
              <a:t>R1 https://play.google.com/store/apps/details?id=com.teamlava.restaurantstory&amp;hl=en_US</a:t>
            </a:r>
          </a:p>
          <a:p>
            <a:r>
              <a:t>R2 https://apps.apple.com/us/app/restaurant-story/id394807905</a:t>
            </a:r>
          </a:p>
          <a:p>
            <a:r>
              <a:t>R4 https://forums.storm8.com/showthread.php/98400-Restaurant-Story-Master-Box-Guide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R0、R1、R2、R3、R4。表格是研究分类，不宣称为当前全部活动清单。挑战与排行榜仅保留商店文案描述，具体规则不补写。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R1 https://play.google.com/store/apps/details?id=com.teamlava.restaurantstory&amp;hl=en_US</a:t>
            </a:r>
          </a:p>
          <a:p>
            <a:r>
              <a:t>R2 https://apps.apple.com/us/app/restaurant-story/id394807905</a:t>
            </a:r>
          </a:p>
          <a:p>
            <a:r>
              <a:t>R3 https://forums.storm8.com/showthread.php/59838-Restaurant-Story-Game-Guide</a:t>
            </a:r>
          </a:p>
          <a:p>
            <a:r>
              <a:t>R4 https://forums.storm8.com/showthread.php/98400-Restaurant-Story-Master-Box-Guide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主空间同时承载经营与外观展示，使装饰奖励可以被持续看见。</a:t>
            </a:r>
          </a:p>
          <a:p>
            <a:r>
              <a:t>R0 第 8 页是推断线框，没有截图，不能沿用为实机布局。正式页写“官方商店展示图”，不标“当前版本 UI”。删除原报告的未经确认体力入口。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配图 rs-screen2 https://play-lh.googleusercontent.com/XmWvuFnCT6gUpCGHDAqSpBvbotfda1rolJZwGl4oWOTb-5kRry8y6m6fFNGKR5m7O0IxV2aqTziWv-VfaICJ=w1600；官方商店图来自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等待可以产生回访理由，内容更新可以提供回来以后要做的事。这是机制解释，效果需要玩家行为验证。</a:t>
            </a:r>
          </a:p>
          <a:p>
            <a:r>
              <a:t>R0 第 9 页，R1、R2。周更文案不代表本轮已观察到每周实装。没有完整排期，不写固定 5 / 14 天活动或每日推送数量。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R1 https://play.google.com/store/apps/details?id=com.teamlava.restaurantstory&amp;hl=en_US</a:t>
            </a:r>
          </a:p>
          <a:p>
            <a:r>
              <a:t>R2 https://apps.apple.com/us/app/restaurant-story/id394807905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商业化分析可以观察“玩家在什么情况下觉得等不及”，而不是预先认定所有等待都会转化为消费。</a:t>
            </a:r>
          </a:p>
          <a:p>
            <a:r>
              <a:t>R3 历史指南及 R0 第 5 页。当前操作步骤、菜品变质、售价、烹饪时长和广告缩时规则待实测。</a:t>
            </a:r>
          </a:p>
          <a:p>
            <a:r>
              <a:t>资料访问及整理日期：2026-10-12</a:t>
            </a:r>
          </a:p>
          <a:p>
            <a:r>
              <a:t>R3 https://forums.storm8.com/showthread.php/59838-Restaurant-Story-Game-Guide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配图 rs-screen6 https://play-lh.googleusercontent.com/zvxJD9_P8mo5X5ZaGRYZfOHOaoKtAsEXlpjQWafMm9o0bU00mqk95QFaduqPW5K2AzqPwSPHPKzu20y_fhMS=w1600；官方商店图来自 R1，rs-spooky 来自 R2，rs-box-* 来自 R4 中引用的历史社区图片。</a:t>
            </a:r>
          </a:p>
          <a:p>
            <a:r>
              <a:t>配图 rs-screen3 https://play-lh.googleusercontent.com/gklaG7MJ8mN1jS4xkBXKb1rkk1WxTcv0b6ekAsb0IoN71fH1xGaVss12S_2PLvwkfOE5oVdmwrKB_sUDV4b9=w1600；官方商店图来自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沿用模板“活动与核心玩法结合”的问题意识，通过具体活动证据再判断结合程度。</a:t>
            </a:r>
          </a:p>
          <a:p>
            <a:r>
              <a:t>R0 第 10 页的流程原本已标候选模型，本稿继续保留这个性质。没有活动面板，不制作一张仿真的当前任务流程图。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买到一个物品只是起点。能否找到位置、组成主题、让别人看到，决定了后续使用价值。</a:t>
            </a:r>
          </a:p>
          <a:p>
            <a:r>
              <a:t>R0 第 11、12、13 页，R1、R2。不要将装饰多直接等同于客流提升、经营收益或消费转化。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R1 https://play.google.com/store/apps/details?id=com.teamlava.restaurantstory&amp;hl=en_US</a:t>
            </a:r>
          </a:p>
          <a:p>
            <a:r>
              <a:t>R2 https://apps.apple.com/us/app/restaurant-story/id394807905</a:t>
            </a:r>
          </a:p>
          <a:p>
            <a:r>
              <a:t>配图 rs-screen2 https://play-lh.googleusercontent.com/XmWvuFnCT6gUpCGHDAqSpBvbotfda1rolJZwGl4oWOTb-5kRry8y6m6fFNGKR5m7O0IxV2aqTziWv-VfaICJ=w1600；官方商店图来自 R1，rs-spooky 来自 R2，rs-box-* 来自 R4 中引用的历史社区图片。</a:t>
            </a:r>
          </a:p>
          <a:p>
            <a:r>
              <a:t>配图 rs-screen4 https://play-lh.googleusercontent.com/neDkvQRyUD0SZRWmKWFuMCpxWjw85xWVRjmcXoW8mMhOXCE2qHbbkJYDnNQgU4gGtCunTXqM3JhJKaCIK0J_3A=w1600；官方商店图来自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分析每个奖励是否给后续行动提供具体理由，不预设奖励能够持续放大。</a:t>
            </a:r>
          </a:p>
          <a:p>
            <a:r>
              <a:t>R0 第 4、5、12、14 页、R3、R4。没有连续领奖与收支样本，不使用模板中的奖励增幅或资源倍增案例。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R3 https://forums.storm8.com/showthread.php/59838-Restaurant-Story-Game-Guide</a:t>
            </a:r>
          </a:p>
          <a:p>
            <a:r>
              <a:t>R4 https://forums.storm8.com/showthread.php/98400-Restaurant-Story-Master-Box-Guide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网页同数量 Gems 还列有其他价格条目，无法仅凭列表认定是折扣、触发式礼包或当前完整售卖档位。</a:t>
            </a:r>
          </a:p>
          <a:p>
            <a:r>
              <a:t>R2。本表是网页列价，不代表所有地区、平台、账号的实际购买页，暂不推断币种和折扣比例。原报告“商品与价格完全未公开”的表述需更新为“已有网页列价，游戏内组合和触发仍待验证”。</a:t>
            </a:r>
          </a:p>
          <a:p>
            <a:r>
              <a:t>资料访问及整理日期：2026-10-12</a:t>
            </a:r>
          </a:p>
          <a:p>
            <a:r>
              <a:t>R2 https://apps.apple.com/us/app/restaurant-story/id394807905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本页通过明确案例解释主题更新，不假定所有主题都需要限时完成。</a:t>
            </a:r>
          </a:p>
          <a:p>
            <a:r>
              <a:t>R5、R2。官方预告也保留“内容可能变化”的说明。只有箱体名称与展示条目，不足以确认当前奖励表和持续时间。</a:t>
            </a:r>
          </a:p>
          <a:p>
            <a:r>
              <a:t>资料访问及整理日期：2026-10-12</a:t>
            </a:r>
          </a:p>
          <a:p>
            <a:r>
              <a:t>R5 https://blog.storm8.com/post/154729571249/new-content-for-december-20-23-2016/amp</a:t>
            </a:r>
          </a:p>
          <a:p>
            <a:r>
              <a:t>R2 https://apps.apple.com/us/app/restaurant-story/id394807905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配图 rs-spooky https://is1-ssl.mzstatic.com/image/thumb/4m_j_tXvCP4yVRjxZb7GUA/900x506sr-60.jpg；官方商店图来自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箱体售卖与主题奖励需要一起分析。箱体的价格、是否有目标预览、重复物品用途都会改变体验。</a:t>
            </a:r>
          </a:p>
          <a:p>
            <a:r>
              <a:t>R4，R2 的 Loot Boxes 标签及箱体展示。历史指南标价为 24 Gems，本稿不把它写成当前统一价格。历史稀有度概率不进入现行规则表。</a:t>
            </a:r>
          </a:p>
          <a:p>
            <a:r>
              <a:t>资料访问及整理日期：2026-10-12</a:t>
            </a:r>
          </a:p>
          <a:p>
            <a:r>
              <a:t>R4 https://forums.storm8.com/showthread.php/98400-Restaurant-Story-Master-Box-Guide</a:t>
            </a:r>
          </a:p>
          <a:p>
            <a:r>
              <a:t>R2 https://apps.apple.com/us/app/restaurant-story/id394807905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配图 rs-box-menu https://i.imgur.com/I3JX780.png；官方商店图来自 R1，rs-spooky 来自 R2，rs-box-* 来自 R4 中引用的历史社区图片。</a:t>
            </a:r>
          </a:p>
          <a:p>
            <a:r>
              <a:t>配图 rs-box-prize https://i.imgur.com/2R8ywzh.png；官方商店图来自 R1，rs-spooky 来自 R2，rs-box-* 来自 R4 中引用的历史社区图片。</a:t>
            </a:r>
          </a:p>
          <a:p>
            <a:r>
              <a:t>配图 rs-box-inventory https://i.imgur.com/l1kJoRe.png；官方商店图来自 R1，rs-spooky 来自 R2，rs-box-* 来自 R4 中引用的历史社区图片。</a:t>
            </a:r>
          </a:p>
          <a:p>
            <a:r>
              <a:t>配图 rs-box-display https://i.imgur.com/D0f5JuC.png；官方商店图来自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关注玩家完成访问后是否有继续交往的理由，不能只统计好友数量。</a:t>
            </a:r>
          </a:p>
          <a:p>
            <a:r>
              <a:t>R0 第 12 页、R1、R2、R3。当前小费数量、拜访限制、称赞是否为独立操作，以及 Facebook 具体接入方式需试玩。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R1 https://play.google.com/store/apps/details?id=com.teamlava.restaurantstory&amp;hl=en_US</a:t>
            </a:r>
          </a:p>
          <a:p>
            <a:r>
              <a:t>R2 https://apps.apple.com/us/app/restaurant-story/id394807905</a:t>
            </a:r>
          </a:p>
          <a:p>
            <a:r>
              <a:t>R3 https://forums.storm8.com/showthread.php/59838-Restaurant-Story-Game-Guide</a:t>
            </a:r>
          </a:p>
          <a:p>
            <a:r>
              <a:t>配图 rs-screen5 https://play-lh.googleusercontent.com/JqWXe608WybvHbvJUsgzaoqZpDgwEBobSRY7CD2QwVY_eqMAb3V8PIXo-3X5LdghmDj4bZT220ADpQwBr6lX=w1600；官方商店图来自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互助可以成为再次联系邻居的理由，也可能形成等待。两种体验需要通过真实请求和回传记录判断。</a:t>
            </a:r>
          </a:p>
          <a:p>
            <a:r>
              <a:t>R0 第 12、14 页、R3 目录。当前赠礼配额、请求人数、部件数量和补购价格没有足够证据，不沿用社区零散数字。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R3 https://forums.storm8.com/showthread.php/59838-Restaurant-Story-Game-Guide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本页关注“得到以后怎么用”，区别于第 16 页的获取方式。不套用 Monopoly GO 的贴纸图鉴、兑换大奖或交换玩法。</a:t>
            </a:r>
          </a:p>
          <a:p>
            <a:r>
              <a:t>R0、R2、R4。不声称产品存在某种装饰图鉴完成奖、套装加成或统一季度收藏活动。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R2 https://apps.apple.com/us/app/restaurant-story/id394807905</a:t>
            </a:r>
          </a:p>
          <a:p>
            <a:r>
              <a:t>R4 https://forums.storm8.com/showthread.php/98400-Restaurant-Story-Master-Box-Guide</a:t>
            </a:r>
          </a:p>
          <a:p>
            <a:r>
              <a:t>配图 rs-box-display https://i.imgur.com/D0f5JuC.png；官方商店图来自 R1，rs-spooky 来自 R2，rs-box-* 来自 R4 中引用的历史社区图片。</a:t>
            </a:r>
          </a:p>
          <a:p>
            <a:r>
              <a:t>配图 rs-screen4 https://play-lh.googleusercontent.com/neDkvQRyUD0SZRWmKWFuMCpxWjw85xWVRjmcXoW8mMhOXCE2qHbbkJYDnNQgU4gGtCunTXqM3JhJKaCIK0J_3A=w1600；官方商店图来自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扩建可以同时服务经营与装修。分析具体门槛时，要区分金币、等级、邻居和高级货币的作用。</a:t>
            </a:r>
          </a:p>
          <a:p>
            <a:r>
              <a:t>R0 第 13 页、R3 历史表。当前栏位、等级、扩建价格与邻居数量需复核。历史表不作为现在的数值建议。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R3 https://forums.storm8.com/showthread.php/59838-Restaurant-Story-Game-Guide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单看价格不足以判断经济压力，还要看玩家每天实际能获得多少，以及喜欢的物品需要积累多久。</a:t>
            </a:r>
          </a:p>
          <a:p>
            <a:r>
              <a:t>R0 第 14 页、R2、R3、R4。App Store 列价不等于完整经济表，本轮不生成付费效率曲线或营收占比图。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R2 https://apps.apple.com/us/app/restaurant-story/id394807905</a:t>
            </a:r>
          </a:p>
          <a:p>
            <a:r>
              <a:t>R3 https://forums.storm8.com/showthread.php/59838-Restaurant-Story-Game-Guide</a:t>
            </a:r>
          </a:p>
          <a:p>
            <a:r>
              <a:t>R4 https://forums.storm8.com/showthread.php/98400-Restaurant-Story-Master-Box-Guide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迁移到其他产品时，应先确定玩家愿意经营和展示什么，再设计商品与广告入口。转化率、回访率和收益效果需要后续数据验证。</a:t>
            </a:r>
          </a:p>
          <a:p>
            <a:r>
              <a:t>资料访问及整理日期：2026-10-12</a:t>
            </a:r>
          </a:p>
          <a:p>
            <a:r>
              <a:t>R0 E:/Learn/学习/RestaurantStory/Restaurant_Story_竞品商业化体验分析_2026-10-12.pptx</a:t>
            </a:r>
          </a:p>
          <a:p>
            <a:r>
              <a:t>配图 rs-screen3 https://play-lh.googleusercontent.com/gklaG7MJ8mN1jS4xkBXKb1rkk1WxTcv0b6ekAsb0IoN71fH1xGaVss12S_2PLvwkfOE5oVdmwrKB_sUDV4b9=w1600；官方商店图来自 R1，rs-spooky 来自 R2，rs-box-* 来自 R4 中引用的历史社区图片。</a:t>
            </a:r>
          </a:p>
          <a:p>
            <a:r>
              <a:t>研究范围：Restaurant Story，未进行当前版本真机体验。官方论坛历史社区内容不作为官方现行规则。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正文 竞品商业化体验分析"/>
          <p:cNvSpPr>
            <a:spLocks noGrp="1"/>
          </p:cNvSpPr>
          <p:nvPr/>
        </p:nvSpPr>
        <p:spPr>
          <a:xfrm>
            <a:off x="4286250" y="3800475"/>
            <a:ext cx="70961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竞品商业化体验分析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正文 餐厅物语"/>
          <p:cNvSpPr>
            <a:spLocks noGrp="1"/>
          </p:cNvSpPr>
          <p:nvPr/>
        </p:nvSpPr>
        <p:spPr>
          <a:xfrm>
            <a:off x="4286250" y="2266950"/>
            <a:ext cx="7096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4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餐厅物语</a:t>
            </a:r>
            <a:endParaRPr sz="487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正文 Restaurant Story"/>
          <p:cNvSpPr>
            <a:spLocks noGrp="1"/>
          </p:cNvSpPr>
          <p:nvPr/>
        </p:nvSpPr>
        <p:spPr>
          <a:xfrm>
            <a:off x="4305300" y="4667250"/>
            <a:ext cx="704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Restaurant Story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正文 2026 年 10 月"/>
          <p:cNvSpPr>
            <a:spLocks noGrp="1"/>
          </p:cNvSpPr>
          <p:nvPr/>
        </p:nvSpPr>
        <p:spPr>
          <a:xfrm>
            <a:off x="9858375" y="1905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425" b="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10 月</a:t>
            </a:r>
            <a:endParaRPr sz="1425" b="0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1704975"/>
            <a:ext cx="3190875" cy="3190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19907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19907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产品简介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烹饪、装修与社交共同组成长期餐厅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烹饪、装修与社交共同组成长期餐厅经营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2372"/>
            <a:ext cx="5810250" cy="3631406"/>
          </a:xfrm>
          <a:prstGeom prst="rect">
            <a:avLst/>
          </a:prstGeom>
        </p:spPr>
      </p:pic>
      <p:sp>
        <p:nvSpPr>
          <p:cNvPr id="14" name="正文 官方商店展示图"/>
          <p:cNvSpPr>
            <a:spLocks noGrp="1"/>
          </p:cNvSpPr>
          <p:nvPr/>
        </p:nvSpPr>
        <p:spPr>
          <a:xfrm>
            <a:off x="457200" y="5781675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官方商店展示图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产品"/>
          <p:cNvSpPr>
            <a:spLocks noGrp="1"/>
          </p:cNvSpPr>
          <p:nvPr/>
        </p:nvSpPr>
        <p:spPr>
          <a:xfrm>
            <a:off x="6696075" y="1619250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Restaurant Story"/>
          <p:cNvSpPr>
            <a:spLocks noGrp="1"/>
          </p:cNvSpPr>
          <p:nvPr/>
        </p:nvSpPr>
        <p:spPr>
          <a:xfrm>
            <a:off x="6696075" y="1962150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Restaurant Story，Storm8 Studios。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平台"/>
          <p:cNvSpPr>
            <a:spLocks noGrp="1"/>
          </p:cNvSpPr>
          <p:nvPr/>
        </p:nvSpPr>
        <p:spPr>
          <a:xfrm>
            <a:off x="6696075" y="2447925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iOS / Android，需联"/>
          <p:cNvSpPr>
            <a:spLocks noGrp="1"/>
          </p:cNvSpPr>
          <p:nvPr/>
        </p:nvSpPr>
        <p:spPr>
          <a:xfrm>
            <a:off x="6696075" y="2790825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iOS / Android，需联网游玩。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主要体验"/>
          <p:cNvSpPr>
            <a:spLocks noGrp="1"/>
          </p:cNvSpPr>
          <p:nvPr/>
        </p:nvSpPr>
        <p:spPr>
          <a:xfrm>
            <a:off x="6696075" y="3276600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主要体验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烹饪、餐厅经营、空间设计、好友互"/>
          <p:cNvSpPr>
            <a:spLocks noGrp="1"/>
          </p:cNvSpPr>
          <p:nvPr/>
        </p:nvSpPr>
        <p:spPr>
          <a:xfrm>
            <a:off x="6696075" y="3619500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烹饪、餐厅经营、空间设计、好友互动。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商业模式"/>
          <p:cNvSpPr>
            <a:spLocks noGrp="1"/>
          </p:cNvSpPr>
          <p:nvPr/>
        </p:nvSpPr>
        <p:spPr>
          <a:xfrm>
            <a:off x="6696075" y="4105275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商业模式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免费下载，含应用内购买与广告。"/>
          <p:cNvSpPr>
            <a:spLocks noGrp="1"/>
          </p:cNvSpPr>
          <p:nvPr/>
        </p:nvSpPr>
        <p:spPr>
          <a:xfrm>
            <a:off x="6696075" y="4448175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免费下载，含应用内购买与广告。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内容方向"/>
          <p:cNvSpPr>
            <a:spLocks noGrp="1"/>
          </p:cNvSpPr>
          <p:nvPr/>
        </p:nvSpPr>
        <p:spPr>
          <a:xfrm>
            <a:off x="6696075" y="4933950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内容方向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商店文案强调新菜品和装饰的持续更"/>
          <p:cNvSpPr>
            <a:spLocks noGrp="1"/>
          </p:cNvSpPr>
          <p:nvPr/>
        </p:nvSpPr>
        <p:spPr>
          <a:xfrm>
            <a:off x="6696075" y="5276850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商店新菜品和装饰的持续更新。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02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3454400" y="2751455"/>
            <a:ext cx="22078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D72828"/>
                </a:solidFill>
                <a:latin typeface="Segoe UI Black" panose="020B0A02040204020203"/>
                <a:ea typeface="Segoe UI Black" panose="020B0A02040204020203"/>
                <a:cs typeface="Segoe UI Black" panose="020B0A02040204020203"/>
              </a:rPr>
              <a:t>0 1</a:t>
            </a:r>
            <a:endParaRPr sz="9600" b="1">
              <a:solidFill>
                <a:srgbClr val="D72828"/>
              </a:solidFill>
              <a:latin typeface="Segoe UI Black" panose="020B0A02040204020203"/>
              <a:ea typeface="Segoe UI Black" panose="020B0A02040204020203"/>
              <a:cs typeface="Segoe UI Black" panose="020B0A02040204020203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662295" y="2751455"/>
            <a:ext cx="6530000" cy="1283970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6524625" y="2914650"/>
            <a:ext cx="5172075" cy="106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整体框架</a:t>
            </a:r>
            <a:endParaRPr sz="60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24625" y="4191000"/>
            <a:ext cx="5238750" cy="428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经营、装修与消费关系</a:t>
            </a:r>
            <a:endParaRPr spc="600">
              <a:solidFill>
                <a:srgbClr val="D72828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6" name="直接箭头连接符 25"/>
          <p:cNvCxnSpPr>
            <a:stCxn id="22" idx="3"/>
            <a:endCxn id="23" idx="1"/>
          </p:cNvCxnSpPr>
          <p:nvPr/>
        </p:nvCxnSpPr>
        <p:spPr>
          <a:xfrm>
            <a:off x="8767763" y="4457700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25" name="直接箭头连接符 24"/>
          <p:cNvCxnSpPr>
            <a:stCxn id="21" idx="3"/>
            <a:endCxn id="22" idx="1"/>
          </p:cNvCxnSpPr>
          <p:nvPr/>
        </p:nvCxnSpPr>
        <p:spPr>
          <a:xfrm>
            <a:off x="5915026" y="4457700"/>
            <a:ext cx="361949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24" name="直接箭头连接符 23"/>
          <p:cNvCxnSpPr>
            <a:stCxn id="20" idx="3"/>
            <a:endCxn id="21" idx="1"/>
          </p:cNvCxnSpPr>
          <p:nvPr/>
        </p:nvCxnSpPr>
        <p:spPr>
          <a:xfrm>
            <a:off x="3062288" y="4457700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19" name="直接箭头连接符 18"/>
          <p:cNvCxnSpPr>
            <a:stCxn id="15" idx="3"/>
            <a:endCxn id="16" idx="1"/>
          </p:cNvCxnSpPr>
          <p:nvPr/>
        </p:nvCxnSpPr>
        <p:spPr>
          <a:xfrm>
            <a:off x="8767763" y="2552700"/>
            <a:ext cx="361950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14" idx="3"/>
            <a:endCxn id="15" idx="1"/>
          </p:cNvCxnSpPr>
          <p:nvPr/>
        </p:nvCxnSpPr>
        <p:spPr>
          <a:xfrm>
            <a:off x="5915026" y="2552700"/>
            <a:ext cx="361949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cxnSp>
        <p:nvCxnSpPr>
          <p:cNvPr id="17" name="直接箭头连接符 16"/>
          <p:cNvCxnSpPr>
            <a:stCxn id="13" idx="3"/>
            <a:endCxn id="14" idx="1"/>
          </p:cNvCxnSpPr>
          <p:nvPr/>
        </p:nvCxnSpPr>
        <p:spPr>
          <a:xfrm>
            <a:off x="3062288" y="2552700"/>
            <a:ext cx="361950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核心循环与资源关系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餐厅经营的产出可以继续投入经营，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餐厅经营的产出可以继续投入经营，也可以投入空间表达。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流程 选择菜品"/>
          <p:cNvSpPr>
            <a:spLocks noGrp="1"/>
          </p:cNvSpPr>
          <p:nvPr/>
        </p:nvSpPr>
        <p:spPr>
          <a:xfrm>
            <a:off x="571500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选择菜品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流程 准备与烹饪"/>
          <p:cNvSpPr>
            <a:spLocks noGrp="1"/>
          </p:cNvSpPr>
          <p:nvPr/>
        </p:nvSpPr>
        <p:spPr>
          <a:xfrm>
            <a:off x="3424238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准备与烹饪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流程 供应顾客"/>
          <p:cNvSpPr>
            <a:spLocks noGrp="1"/>
          </p:cNvSpPr>
          <p:nvPr/>
        </p:nvSpPr>
        <p:spPr>
          <a:xfrm>
            <a:off x="6276975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供应顾客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流程 经营收入"/>
          <p:cNvSpPr>
            <a:spLocks noGrp="1"/>
          </p:cNvSpPr>
          <p:nvPr/>
        </p:nvSpPr>
        <p:spPr>
          <a:xfrm>
            <a:off x="9129713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经营收入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流程 资源再投入"/>
          <p:cNvSpPr>
            <a:spLocks noGrp="1"/>
          </p:cNvSpPr>
          <p:nvPr/>
        </p:nvSpPr>
        <p:spPr>
          <a:xfrm>
            <a:off x="571500" y="4095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资源再投入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流程 设施 / 装饰"/>
          <p:cNvSpPr>
            <a:spLocks noGrp="1"/>
          </p:cNvSpPr>
          <p:nvPr/>
        </p:nvSpPr>
        <p:spPr>
          <a:xfrm>
            <a:off x="3424238" y="4095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设施 / 装饰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流程 餐厅变化"/>
          <p:cNvSpPr>
            <a:spLocks noGrp="1"/>
          </p:cNvSpPr>
          <p:nvPr/>
        </p:nvSpPr>
        <p:spPr>
          <a:xfrm>
            <a:off x="6276975" y="4095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餐厅变化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流程 邻居反馈"/>
          <p:cNvSpPr>
            <a:spLocks noGrp="1"/>
          </p:cNvSpPr>
          <p:nvPr/>
        </p:nvSpPr>
        <p:spPr>
          <a:xfrm>
            <a:off x="9129713" y="4095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邻居反馈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正文 04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12407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12407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商业化触达场景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已确认内购与广告共存，具体触发路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内购与广告。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457200" y="1476375"/>
          <a:ext cx="11277600" cy="3905250"/>
        </p:xfrm>
        <a:graphic>
          <a:graphicData uri="http://schemas.openxmlformats.org/drawingml/2006/table">
            <a:tbl>
              <a:tblPr/>
              <a:tblGrid>
                <a:gridCol w="1762125"/>
                <a:gridCol w="2714625"/>
                <a:gridCol w="3752850"/>
              </a:tblGrid>
              <a:tr h="7810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场景方向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玩家需求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可获得</a:t>
                      </a:r>
                      <a:endParaRPr lang="zh-CN"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7810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Gems 购买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获得高级货币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高级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装饰品，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7810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Bundle Pack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获得组合商品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内容、触发与限购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7810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主题箱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获得主题装饰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当前价格、奖励和重复规则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7810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广告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用观看换取帮助或资源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主动奖励与自动展示分别验证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</a:tbl>
          </a:graphicData>
        </a:graphic>
      </p:graphicFrame>
      <p:sp>
        <p:nvSpPr>
          <p:cNvPr id="15" name="正文 05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内容类型概览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主题内容、挑战与邻居互动围绕经营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主题内容、挑战与邻居互动围绕经营和装修展开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457200" y="1476375"/>
          <a:ext cx="11277600" cy="3905250"/>
        </p:xfrm>
        <a:graphic>
          <a:graphicData uri="http://schemas.openxmlformats.org/drawingml/2006/table">
            <a:tbl>
              <a:tblPr/>
              <a:tblGrid>
                <a:gridCol w="1762125"/>
                <a:gridCol w="2714625"/>
                <a:gridCol w="3752850"/>
              </a:tblGrid>
              <a:tr h="650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玩家面对的目标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本页分析重点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650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菜品与装饰更新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新菜、新主题、新组合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经营与装修的新目标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650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烹饪挑战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完成烹饪目标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目标与产能的关系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650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主题箱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获取一组主题物品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装饰需求与随机获取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650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邻居互动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访问、获得反馈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展示与回访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65087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成长目标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设备、等级、空间扩展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内容解锁与经营能力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</a:tbl>
          </a:graphicData>
        </a:graphic>
      </p:graphicFrame>
      <p:sp>
        <p:nvSpPr>
          <p:cNvPr id="15" name="正文 06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381250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381250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主餐厅与功能入口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经营与装修围绕主餐厅空间展开。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经营与装修围绕主餐厅空间展开。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5" y="1600200"/>
            <a:ext cx="5461000" cy="4095750"/>
          </a:xfrm>
          <a:prstGeom prst="rect">
            <a:avLst/>
          </a:prstGeom>
        </p:spPr>
      </p:pic>
      <p:sp>
        <p:nvSpPr>
          <p:cNvPr id="14" name="正文 官方商店展示图"/>
          <p:cNvSpPr>
            <a:spLocks noGrp="1"/>
          </p:cNvSpPr>
          <p:nvPr/>
        </p:nvSpPr>
        <p:spPr>
          <a:xfrm>
            <a:off x="457200" y="5781675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官方商店展示图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01"/>
          <p:cNvSpPr>
            <a:spLocks noGrp="1"/>
          </p:cNvSpPr>
          <p:nvPr/>
        </p:nvSpPr>
        <p:spPr>
          <a:xfrm>
            <a:off x="6696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主餐厅展示设备、桌椅、装饰与顾客"/>
          <p:cNvSpPr>
            <a:spLocks noGrp="1"/>
          </p:cNvSpPr>
          <p:nvPr/>
        </p:nvSpPr>
        <p:spPr>
          <a:xfrm>
            <a:off x="7153275" y="1619250"/>
            <a:ext cx="45815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主餐厅展示设备、桌椅、装饰与顾客。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2"/>
          <p:cNvSpPr>
            <a:spLocks noGrp="1"/>
          </p:cNvSpPr>
          <p:nvPr/>
        </p:nvSpPr>
        <p:spPr>
          <a:xfrm>
            <a:off x="6696075" y="2447925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烹饪操作连接设备和菜品。"/>
          <p:cNvSpPr>
            <a:spLocks noGrp="1"/>
          </p:cNvSpPr>
          <p:nvPr/>
        </p:nvSpPr>
        <p:spPr>
          <a:xfrm>
            <a:off x="7153275" y="2447925"/>
            <a:ext cx="45815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烹饪操作连接设备和菜品。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3"/>
          <p:cNvSpPr>
            <a:spLocks noGrp="1"/>
          </p:cNvSpPr>
          <p:nvPr/>
        </p:nvSpPr>
        <p:spPr>
          <a:xfrm>
            <a:off x="6696075" y="327660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装修功能连接购买、库存与摆放。"/>
          <p:cNvSpPr>
            <a:spLocks noGrp="1"/>
          </p:cNvSpPr>
          <p:nvPr/>
        </p:nvSpPr>
        <p:spPr>
          <a:xfrm>
            <a:off x="7153275" y="3276600"/>
            <a:ext cx="45815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装修功能连接购买、库存与摆放。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4"/>
          <p:cNvSpPr>
            <a:spLocks noGrp="1"/>
          </p:cNvSpPr>
          <p:nvPr/>
        </p:nvSpPr>
        <p:spPr>
          <a:xfrm>
            <a:off x="6696075" y="4105275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社交功能连接餐厅展示与邻居访问。"/>
          <p:cNvSpPr>
            <a:spLocks noGrp="1"/>
          </p:cNvSpPr>
          <p:nvPr/>
        </p:nvSpPr>
        <p:spPr>
          <a:xfrm>
            <a:off x="7153275" y="4105275"/>
            <a:ext cx="45815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社交功能连接餐厅展示与邻居访问。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5"/>
          <p:cNvSpPr>
            <a:spLocks noGrp="1"/>
          </p:cNvSpPr>
          <p:nvPr/>
        </p:nvSpPr>
        <p:spPr>
          <a:xfrm>
            <a:off x="6696075" y="49339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活动目标需要继续回到餐厅经营中完"/>
          <p:cNvSpPr>
            <a:spLocks noGrp="1"/>
          </p:cNvSpPr>
          <p:nvPr/>
        </p:nvSpPr>
        <p:spPr>
          <a:xfrm>
            <a:off x="7153275" y="4933950"/>
            <a:ext cx="45815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活动目标需要继续回到餐厅经营中完成。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07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经营与内容更新节奏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玩家的烹饪安排与产品的内容更新属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玩家的烹饪安排与产品的内容更新属于两种不同节奏。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457200" y="1524000"/>
          <a:ext cx="11277600" cy="4048125"/>
        </p:xfrm>
        <a:graphic>
          <a:graphicData uri="http://schemas.openxmlformats.org/drawingml/2006/table">
            <a:tbl>
              <a:tblPr/>
              <a:tblGrid>
                <a:gridCol w="1809750"/>
                <a:gridCol w="4381500"/>
                <a:gridCol w="5086350"/>
              </a:tblGrid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节奏层级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玩家的行动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分析解释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经营操作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准备、等待、供应、再次安排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生产安排可能产生回访理由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成长投入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积累资源、发展设施、调整餐厅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让资源变成持续可见的变化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内容更新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新菜、新装饰、主题内容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商店文案的持续更新承诺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当期目标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烹饪挑战与主题关注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具体排期仍需活动内证据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</a:tbl>
          </a:graphicData>
        </a:graphic>
      </p:graphicFrame>
      <p:sp>
        <p:nvSpPr>
          <p:cNvPr id="14" name="正文 公开资料 / 历史机制：周更是商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历史机制：周更是商店文案承诺，未记录实际内容更新日历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08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12407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12407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烹饪与餐厅经营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生产安排与供应状态构成经营决策。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生产安排与供应状态构成经营决策。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97919"/>
            <a:ext cx="3333750" cy="2500313"/>
          </a:xfrm>
          <a:prstGeom prst="rect">
            <a:avLst/>
          </a:prstGeom>
        </p:spPr>
      </p:pic>
      <p:sp>
        <p:nvSpPr>
          <p:cNvPr id="14" name="正文 官方商店展示图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官方商店展示图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2397919"/>
            <a:ext cx="3333750" cy="2500313"/>
          </a:xfrm>
          <a:prstGeom prst="rect">
            <a:avLst/>
          </a:prstGeom>
        </p:spPr>
      </p:pic>
      <p:sp>
        <p:nvSpPr>
          <p:cNvPr id="16" name="正文 官方商店展示图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官方商店展示图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菜品进入准备和烹饪阶段，完成后供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菜品进入准备和烹饪阶段，完成后供应给顾客。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历史指南描述食物上架后自动售卖。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食物上架后自动售卖。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玩家持续安排下一批生产，同时调整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玩家持续安排下一批生产，同时调整经营设施。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4"/>
          <p:cNvSpPr>
            <a:spLocks noGrp="1"/>
          </p:cNvSpPr>
          <p:nvPr/>
        </p:nvSpPr>
        <p:spPr>
          <a:xfrm>
            <a:off x="7839075" y="4726781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经营判断关注等待时间、生产能力和"/>
          <p:cNvSpPr>
            <a:spLocks noGrp="1"/>
          </p:cNvSpPr>
          <p:nvPr/>
        </p:nvSpPr>
        <p:spPr>
          <a:xfrm>
            <a:off x="8296275" y="4726781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经营判断关注等待时间、生产能力和供应情况。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09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活动目标与烹饪行为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活动分析应落到玩家要重复执行的经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活动分析应落到玩家要重复执行的经营动作。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57200" y="1524000"/>
          <a:ext cx="11277600" cy="4057650"/>
        </p:xfrm>
        <a:graphic>
          <a:graphicData uri="http://schemas.openxmlformats.org/drawingml/2006/table">
            <a:tbl>
              <a:tblPr/>
              <a:tblGrid>
                <a:gridCol w="1905000"/>
                <a:gridCol w="4953000"/>
                <a:gridCol w="4419600"/>
              </a:tblGrid>
              <a:tr h="81153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拆解对象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要记录的具体问题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与经营的连接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81153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活动目标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做什么菜、用什么设备、完成几次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复用日常生产动作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81153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资源缺口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需要多少时间、金币与设备能力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形成当期投入压力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81153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帮助选择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能否等待、互助或使用加速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确定免费与消费路径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81153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完成奖励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是否获得可用或可摆放的新内容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回到主餐厅使用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</a:tbl>
          </a:graphicData>
        </a:graphic>
      </p:graphicFrame>
      <p:sp>
        <p:nvSpPr>
          <p:cNvPr id="14" name="正文 公开资料 / 历史机制：公开描述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历史机制：公开描述支持烹饪挑战，具体任务流程尚未实测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10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餐厅装修与社交展示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装饰改变玩家持续经营的空间，也成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装饰改变玩家持续经营的空间，也成为朋友看到的内容。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97919"/>
            <a:ext cx="3333750" cy="2500313"/>
          </a:xfrm>
          <a:prstGeom prst="rect">
            <a:avLst/>
          </a:prstGeom>
        </p:spPr>
      </p:pic>
      <p:sp>
        <p:nvSpPr>
          <p:cNvPr id="14" name="正文 官方商店展示图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官方商店展示图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2397919"/>
            <a:ext cx="3333750" cy="2500313"/>
          </a:xfrm>
          <a:prstGeom prst="rect">
            <a:avLst/>
          </a:prstGeom>
        </p:spPr>
      </p:pic>
      <p:sp>
        <p:nvSpPr>
          <p:cNvPr id="16" name="正文 官方商店展示图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官方商店展示图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装修选择形成不同主题和布局。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装修选择形成不同主题和布局。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餐厅展示将购买结果留在主要游戏空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餐厅展示将购买结果留在主要游戏空间。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好友互动提供额外反馈。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好友互动提供额外反馈。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分析判断"/>
          <p:cNvSpPr>
            <a:spLocks noGrp="1"/>
          </p:cNvSpPr>
          <p:nvPr/>
        </p:nvSpPr>
        <p:spPr>
          <a:xfrm>
            <a:off x="7839075" y="4726781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分析判断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主题完整度可能影响玩家继续收集的"/>
          <p:cNvSpPr>
            <a:spLocks noGrp="1"/>
          </p:cNvSpPr>
          <p:nvPr/>
        </p:nvSpPr>
        <p:spPr>
          <a:xfrm>
            <a:off x="7839075" y="5069681"/>
            <a:ext cx="3895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主题完整度可能影响玩家继续收集的意愿。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公开资料 / 历史机制：装修与社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历史机制：装修与社交是公开功能，效果判断仍为分析假设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11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6" name="直接箭头连接符 25"/>
          <p:cNvCxnSpPr>
            <a:stCxn id="22" idx="3"/>
            <a:endCxn id="23" idx="1"/>
          </p:cNvCxnSpPr>
          <p:nvPr/>
        </p:nvCxnSpPr>
        <p:spPr>
          <a:xfrm>
            <a:off x="8767763" y="4457700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25" name="直接箭头连接符 24"/>
          <p:cNvCxnSpPr>
            <a:stCxn id="21" idx="3"/>
            <a:endCxn id="22" idx="1"/>
          </p:cNvCxnSpPr>
          <p:nvPr/>
        </p:nvCxnSpPr>
        <p:spPr>
          <a:xfrm>
            <a:off x="5915026" y="4457700"/>
            <a:ext cx="361949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24" name="直接箭头连接符 23"/>
          <p:cNvCxnSpPr>
            <a:stCxn id="20" idx="3"/>
            <a:endCxn id="21" idx="1"/>
          </p:cNvCxnSpPr>
          <p:nvPr/>
        </p:nvCxnSpPr>
        <p:spPr>
          <a:xfrm>
            <a:off x="3062288" y="4457700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19" name="直接箭头连接符 18"/>
          <p:cNvCxnSpPr>
            <a:stCxn id="15" idx="3"/>
            <a:endCxn id="16" idx="1"/>
          </p:cNvCxnSpPr>
          <p:nvPr/>
        </p:nvCxnSpPr>
        <p:spPr>
          <a:xfrm>
            <a:off x="8767763" y="2552700"/>
            <a:ext cx="361950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14" idx="3"/>
            <a:endCxn id="15" idx="1"/>
          </p:cNvCxnSpPr>
          <p:nvPr/>
        </p:nvCxnSpPr>
        <p:spPr>
          <a:xfrm>
            <a:off x="5915026" y="2552700"/>
            <a:ext cx="361949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cxnSp>
        <p:nvCxnSpPr>
          <p:cNvPr id="17" name="直接箭头连接符 16"/>
          <p:cNvCxnSpPr>
            <a:stCxn id="13" idx="3"/>
            <a:endCxn id="14" idx="1"/>
          </p:cNvCxnSpPr>
          <p:nvPr/>
        </p:nvCxnSpPr>
        <p:spPr>
          <a:xfrm>
            <a:off x="3062288" y="2552700"/>
            <a:ext cx="361950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12407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12407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奖励流与再投资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经营产出与内容奖励可以成为下一轮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经营产出与内容奖励可以成为下一轮经营和装修的投入。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流程 经营产出"/>
          <p:cNvSpPr>
            <a:spLocks noGrp="1"/>
          </p:cNvSpPr>
          <p:nvPr/>
        </p:nvSpPr>
        <p:spPr>
          <a:xfrm>
            <a:off x="571500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经营产出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流程 再次投资"/>
          <p:cNvSpPr>
            <a:spLocks noGrp="1"/>
          </p:cNvSpPr>
          <p:nvPr/>
        </p:nvSpPr>
        <p:spPr>
          <a:xfrm>
            <a:off x="3424238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再次投资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流程 设施与菜品"/>
          <p:cNvSpPr>
            <a:spLocks noGrp="1"/>
          </p:cNvSpPr>
          <p:nvPr/>
        </p:nvSpPr>
        <p:spPr>
          <a:xfrm>
            <a:off x="6276975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设施与菜品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流程 后续经营"/>
          <p:cNvSpPr>
            <a:spLocks noGrp="1"/>
          </p:cNvSpPr>
          <p:nvPr/>
        </p:nvSpPr>
        <p:spPr>
          <a:xfrm>
            <a:off x="9129713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后续经营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流程 内容奖励"/>
          <p:cNvSpPr>
            <a:spLocks noGrp="1"/>
          </p:cNvSpPr>
          <p:nvPr/>
        </p:nvSpPr>
        <p:spPr>
          <a:xfrm>
            <a:off x="571500" y="4095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内容奖励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流程 库存装饰"/>
          <p:cNvSpPr>
            <a:spLocks noGrp="1"/>
          </p:cNvSpPr>
          <p:nvPr/>
        </p:nvSpPr>
        <p:spPr>
          <a:xfrm>
            <a:off x="3424238" y="4095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库存装饰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流程 摆放组合"/>
          <p:cNvSpPr>
            <a:spLocks noGrp="1"/>
          </p:cNvSpPr>
          <p:nvPr/>
        </p:nvSpPr>
        <p:spPr>
          <a:xfrm>
            <a:off x="6276975" y="4095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摆放组合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流程 空间展示"/>
          <p:cNvSpPr>
            <a:spLocks noGrp="1"/>
          </p:cNvSpPr>
          <p:nvPr/>
        </p:nvSpPr>
        <p:spPr>
          <a:xfrm>
            <a:off x="9129713" y="4095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空间展示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正文 金币和 Gems 分开，获得奖励"/>
          <p:cNvSpPr>
            <a:spLocks noGrp="1"/>
          </p:cNvSpPr>
          <p:nvPr/>
        </p:nvSpPr>
        <p:spPr>
          <a:xfrm>
            <a:off x="571500" y="542925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金币和 Gems 分开，获得奖励、购买物品与解锁内容分开</a:t>
            </a:r>
            <a:endParaRPr sz="16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正文 公开资料 / 历史机制：关系图是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历史机制：关系图是产品分析，未验证奖励倍增或收入效果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正文 12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3454400" y="2751455"/>
            <a:ext cx="22078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D72828"/>
                </a:solidFill>
                <a:latin typeface="Segoe UI Black" panose="020B0A02040204020203"/>
                <a:ea typeface="Segoe UI Black" panose="020B0A02040204020203"/>
                <a:cs typeface="Segoe UI Black" panose="020B0A02040204020203"/>
              </a:rPr>
              <a:t>0 2</a:t>
            </a:r>
            <a:endParaRPr sz="9600" b="1">
              <a:solidFill>
                <a:srgbClr val="D72828"/>
              </a:solidFill>
              <a:latin typeface="Segoe UI Black" panose="020B0A02040204020203"/>
              <a:ea typeface="Segoe UI Black" panose="020B0A02040204020203"/>
              <a:cs typeface="Segoe UI Black" panose="020B0A02040204020203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662295" y="2751455"/>
            <a:ext cx="6530000" cy="1283970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6524625" y="2914650"/>
            <a:ext cx="5172075" cy="106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活动设计</a:t>
            </a:r>
            <a:endParaRPr sz="60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24625" y="4191000"/>
            <a:ext cx="5238750" cy="428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主题消费、邻居互助与成长</a:t>
            </a:r>
            <a:endParaRPr spc="600">
              <a:solidFill>
                <a:srgbClr val="D72828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内购商品与消费动机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公开内购列表证明货币包与组合包存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公开内购列表证明货币包与组合包存在，消费用途仍需进入游戏核对。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57200" y="1666875"/>
          <a:ext cx="5572125" cy="3590925"/>
        </p:xfrm>
        <a:graphic>
          <a:graphicData uri="http://schemas.openxmlformats.org/drawingml/2006/table">
            <a:tbl>
              <a:tblPr/>
              <a:tblGrid>
                <a:gridCol w="3095625"/>
                <a:gridCol w="2476500"/>
              </a:tblGrid>
              <a:tr h="71818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商店网页商品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网页列价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71818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 Gems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$2.39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71818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 Gems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$5.99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71818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 Gems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$11.99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71818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Bundle Pack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$2.39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</a:tbl>
          </a:graphicData>
        </a:graphic>
      </p:graphicFrame>
      <p:sp>
        <p:nvSpPr>
          <p:cNvPr id="14" name="正文 01"/>
          <p:cNvSpPr>
            <a:spLocks noGrp="1"/>
          </p:cNvSpPr>
          <p:nvPr/>
        </p:nvSpPr>
        <p:spPr>
          <a:xfrm>
            <a:off x="66198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App Store 列出多种 G"/>
          <p:cNvSpPr>
            <a:spLocks noGrp="1"/>
          </p:cNvSpPr>
          <p:nvPr/>
        </p:nvSpPr>
        <p:spPr>
          <a:xfrm>
            <a:off x="7077075" y="1619250"/>
            <a:ext cx="4638675" cy="9001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Store 列出多种 Gems 数量商品。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02"/>
          <p:cNvSpPr>
            <a:spLocks noGrp="1"/>
          </p:cNvSpPr>
          <p:nvPr/>
        </p:nvSpPr>
        <p:spPr>
          <a:xfrm>
            <a:off x="6619875" y="2595563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另有 Bundle Pack 商"/>
          <p:cNvSpPr>
            <a:spLocks noGrp="1"/>
          </p:cNvSpPr>
          <p:nvPr/>
        </p:nvSpPr>
        <p:spPr>
          <a:xfrm>
            <a:off x="7077075" y="2595563"/>
            <a:ext cx="4638675" cy="9001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 Bundle Pack 商品，具体内容未公开。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研究动机"/>
          <p:cNvSpPr>
            <a:spLocks noGrp="1"/>
          </p:cNvSpPr>
          <p:nvPr/>
        </p:nvSpPr>
        <p:spPr>
          <a:xfrm>
            <a:off x="6619875" y="3571875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研究动机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补足资源、完成主题、提高效率。"/>
          <p:cNvSpPr>
            <a:spLocks noGrp="1"/>
          </p:cNvSpPr>
          <p:nvPr/>
        </p:nvSpPr>
        <p:spPr>
          <a:xfrm>
            <a:off x="6619875" y="3914775"/>
            <a:ext cx="5095875" cy="604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补足资源、完成主题、提高效率。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04"/>
          <p:cNvSpPr>
            <a:spLocks noGrp="1"/>
          </p:cNvSpPr>
          <p:nvPr/>
        </p:nvSpPr>
        <p:spPr>
          <a:xfrm>
            <a:off x="6619875" y="454818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动机是否成立，需要对应具体售卖入"/>
          <p:cNvSpPr>
            <a:spLocks noGrp="1"/>
          </p:cNvSpPr>
          <p:nvPr/>
        </p:nvSpPr>
        <p:spPr>
          <a:xfrm>
            <a:off x="7077075" y="4548188"/>
            <a:ext cx="4638675" cy="9001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动机是否成立，需要对应具体售卖入口和玩家行为。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公开资料 / 历史机制：商店网页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历史机制：商店网页列价样本，不能推导折扣、完整档位或账号实售价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14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主题内容与限时目标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主题内容为装修消费提供当期方向。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主题内容为装修消费提供当期方向。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3006"/>
            <a:ext cx="6477000" cy="3641513"/>
          </a:xfrm>
          <a:prstGeom prst="rect">
            <a:avLst/>
          </a:prstGeom>
        </p:spPr>
      </p:pic>
      <p:sp>
        <p:nvSpPr>
          <p:cNvPr id="14" name="正文 2026 年官方商店主题展示"/>
          <p:cNvSpPr>
            <a:spLocks noGrp="1"/>
          </p:cNvSpPr>
          <p:nvPr/>
        </p:nvSpPr>
        <p:spPr>
          <a:xfrm>
            <a:off x="457200" y="5353050"/>
            <a:ext cx="6477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年官方商店主题展示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Spooky Spirit Bo"/>
          <p:cNvSpPr>
            <a:spLocks noGrp="1"/>
          </p:cNvSpPr>
          <p:nvPr/>
        </p:nvSpPr>
        <p:spPr>
          <a:xfrm>
            <a:off x="457200" y="5553075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Spooky Spirit Box</a:t>
            </a:r>
            <a:endParaRPr sz="19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历史官方案例"/>
          <p:cNvSpPr>
            <a:spLocks noGrp="1"/>
          </p:cNvSpPr>
          <p:nvPr/>
        </p:nvSpPr>
        <p:spPr>
          <a:xfrm>
            <a:off x="7477125" y="1619250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历史官方案例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2016 年冬季 Frosty "/>
          <p:cNvSpPr>
            <a:spLocks noGrp="1"/>
          </p:cNvSpPr>
          <p:nvPr/>
        </p:nvSpPr>
        <p:spPr>
          <a:xfrm>
            <a:off x="7477125" y="1962150"/>
            <a:ext cx="4238625" cy="6881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2016 年冬季 Frosty Crate 与雪人、冰冻喷泉等装饰预告。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本轮商店展示"/>
          <p:cNvSpPr>
            <a:spLocks noGrp="1"/>
          </p:cNvSpPr>
          <p:nvPr/>
        </p:nvSpPr>
        <p:spPr>
          <a:xfrm>
            <a:off x="7477125" y="2678906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本轮商店展示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Spooky Spirit Bo"/>
          <p:cNvSpPr>
            <a:spLocks noGrp="1"/>
          </p:cNvSpPr>
          <p:nvPr/>
        </p:nvSpPr>
        <p:spPr>
          <a:xfrm>
            <a:off x="7477125" y="3021806"/>
            <a:ext cx="4238625" cy="6881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Spooky Spirit Box 万圣节主题条目。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分析判断"/>
          <p:cNvSpPr>
            <a:spLocks noGrp="1"/>
          </p:cNvSpPr>
          <p:nvPr/>
        </p:nvSpPr>
        <p:spPr>
          <a:xfrm>
            <a:off x="7477125" y="3738563"/>
            <a:ext cx="4238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分析判断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主题让玩家更容易形成“想把餐厅布"/>
          <p:cNvSpPr>
            <a:spLocks noGrp="1"/>
          </p:cNvSpPr>
          <p:nvPr/>
        </p:nvSpPr>
        <p:spPr>
          <a:xfrm>
            <a:off x="7477125" y="4081463"/>
            <a:ext cx="4238625" cy="6881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主题让玩家更容易形成“想把餐厅布置成什么样”的目标。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04"/>
          <p:cNvSpPr>
            <a:spLocks noGrp="1"/>
          </p:cNvSpPr>
          <p:nvPr/>
        </p:nvSpPr>
        <p:spPr>
          <a:xfrm>
            <a:off x="7477125" y="4798219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限时性质、到期处理与任务链仍需具"/>
          <p:cNvSpPr>
            <a:spLocks noGrp="1"/>
          </p:cNvSpPr>
          <p:nvPr/>
        </p:nvSpPr>
        <p:spPr>
          <a:xfrm>
            <a:off x="7934325" y="4798219"/>
            <a:ext cx="3781425" cy="9834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限时性质、到期处理与任务链仍需具体活动证据。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15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381250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381250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主题箱与装饰消费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历史主题箱以随机获取装饰，连接主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历史主题箱以随机获取装饰，连接主题偏好与重复尝试。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1571625"/>
            <a:ext cx="3302000" cy="1857375"/>
          </a:xfrm>
          <a:prstGeom prst="rect">
            <a:avLst/>
          </a:prstGeom>
        </p:spPr>
      </p:pic>
      <p:sp>
        <p:nvSpPr>
          <p:cNvPr id="14" name="正文 历史资料：选择主题箱"/>
          <p:cNvSpPr>
            <a:spLocks noGrp="1"/>
          </p:cNvSpPr>
          <p:nvPr/>
        </p:nvSpPr>
        <p:spPr>
          <a:xfrm>
            <a:off x="457200" y="351472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历史资料：选择主题箱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081" y="1571625"/>
            <a:ext cx="2662238" cy="1857375"/>
          </a:xfrm>
          <a:prstGeom prst="rect">
            <a:avLst/>
          </a:prstGeom>
        </p:spPr>
      </p:pic>
      <p:sp>
        <p:nvSpPr>
          <p:cNvPr id="16" name="正文 历史资料：获得一件奖励"/>
          <p:cNvSpPr>
            <a:spLocks noGrp="1"/>
          </p:cNvSpPr>
          <p:nvPr/>
        </p:nvSpPr>
        <p:spPr>
          <a:xfrm>
            <a:off x="4124325" y="351472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历史资料：获得一件奖励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5" y="3800475"/>
            <a:ext cx="3302000" cy="1857375"/>
          </a:xfrm>
          <a:prstGeom prst="rect">
            <a:avLst/>
          </a:prstGeom>
        </p:spPr>
      </p:pic>
      <p:sp>
        <p:nvSpPr>
          <p:cNvPr id="18" name="正文 历史资料：进入物品库存"/>
          <p:cNvSpPr>
            <a:spLocks noGrp="1"/>
          </p:cNvSpPr>
          <p:nvPr/>
        </p:nvSpPr>
        <p:spPr>
          <a:xfrm>
            <a:off x="457200" y="57435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历史资料：进入物品库存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3800475"/>
            <a:ext cx="3302000" cy="1857375"/>
          </a:xfrm>
          <a:prstGeom prst="rect">
            <a:avLst/>
          </a:prstGeom>
        </p:spPr>
      </p:pic>
      <p:sp>
        <p:nvSpPr>
          <p:cNvPr id="20" name="正文 历史资料：摆放到餐厅"/>
          <p:cNvSpPr>
            <a:spLocks noGrp="1"/>
          </p:cNvSpPr>
          <p:nvPr/>
        </p:nvSpPr>
        <p:spPr>
          <a:xfrm>
            <a:off x="4124325" y="57435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历史资料：摆放到餐厅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1"/>
          <p:cNvSpPr>
            <a:spLocks noGrp="1"/>
          </p:cNvSpPr>
          <p:nvPr/>
        </p:nvSpPr>
        <p:spPr>
          <a:xfrm>
            <a:off x="79533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历史攻略描述一次开箱得到一件主题"/>
          <p:cNvSpPr>
            <a:spLocks noGrp="1"/>
          </p:cNvSpPr>
          <p:nvPr/>
        </p:nvSpPr>
        <p:spPr>
          <a:xfrm>
            <a:off x="8410575" y="1619250"/>
            <a:ext cx="3305175" cy="966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历史攻略描述一次开箱得到一件主题奖励。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2"/>
          <p:cNvSpPr>
            <a:spLocks noGrp="1"/>
          </p:cNvSpPr>
          <p:nvPr/>
        </p:nvSpPr>
        <p:spPr>
          <a:xfrm>
            <a:off x="7953375" y="26622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奖励进入库存，之后可以摆入餐厅。"/>
          <p:cNvSpPr>
            <a:spLocks noGrp="1"/>
          </p:cNvSpPr>
          <p:nvPr/>
        </p:nvSpPr>
        <p:spPr>
          <a:xfrm>
            <a:off x="8410575" y="2662238"/>
            <a:ext cx="3305175" cy="966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奖励进入库存，之后可以摆入餐厅。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03"/>
          <p:cNvSpPr>
            <a:spLocks noGrp="1"/>
          </p:cNvSpPr>
          <p:nvPr/>
        </p:nvSpPr>
        <p:spPr>
          <a:xfrm>
            <a:off x="7953375" y="3705225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攻略说明存在重复奖励，不能保证每"/>
          <p:cNvSpPr>
            <a:spLocks noGrp="1"/>
          </p:cNvSpPr>
          <p:nvPr/>
        </p:nvSpPr>
        <p:spPr>
          <a:xfrm>
            <a:off x="8410575" y="3705225"/>
            <a:ext cx="3305175" cy="9667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攻略说明存在重复奖励，不能保证每次获得不同物品。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正文 分析判断"/>
          <p:cNvSpPr>
            <a:spLocks noGrp="1"/>
          </p:cNvSpPr>
          <p:nvPr/>
        </p:nvSpPr>
        <p:spPr>
          <a:xfrm>
            <a:off x="7953375" y="4748213"/>
            <a:ext cx="3762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分析判断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正文 物品的展示价值与获取不确定性同时"/>
          <p:cNvSpPr>
            <a:spLocks noGrp="1"/>
          </p:cNvSpPr>
          <p:nvPr/>
        </p:nvSpPr>
        <p:spPr>
          <a:xfrm>
            <a:off x="7953375" y="5091113"/>
            <a:ext cx="3762375" cy="6715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物品的展示价值与获取不确定性同时影响尝试意愿。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正文 公开资料 / 历史机制：2017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历史机制：2017 年历史社区规则，不作为现行统一价格和概率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正文 16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12407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12407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邻居访问与互动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邻居为餐厅提供观看者，也为玩家提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邻居为餐厅提供观看者，也为玩家提供回访对象。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5" y="1600200"/>
            <a:ext cx="5461000" cy="4095750"/>
          </a:xfrm>
          <a:prstGeom prst="rect">
            <a:avLst/>
          </a:prstGeom>
        </p:spPr>
      </p:pic>
      <p:sp>
        <p:nvSpPr>
          <p:cNvPr id="14" name="正文 官方商店展示图"/>
          <p:cNvSpPr>
            <a:spLocks noGrp="1"/>
          </p:cNvSpPr>
          <p:nvPr/>
        </p:nvSpPr>
        <p:spPr>
          <a:xfrm>
            <a:off x="457200" y="5781675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官方商店展示图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01"/>
          <p:cNvSpPr>
            <a:spLocks noGrp="1"/>
          </p:cNvSpPr>
          <p:nvPr/>
        </p:nvSpPr>
        <p:spPr>
          <a:xfrm>
            <a:off x="6696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官方商店强调展示餐厅并获得朋友的"/>
          <p:cNvSpPr>
            <a:spLocks noGrp="1"/>
          </p:cNvSpPr>
          <p:nvPr/>
        </p:nvSpPr>
        <p:spPr>
          <a:xfrm>
            <a:off x="7153275" y="1619250"/>
            <a:ext cx="4581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官方商店强调展示餐厅并获得朋友的小费与称赞。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2"/>
          <p:cNvSpPr>
            <a:spLocks noGrp="1"/>
          </p:cNvSpPr>
          <p:nvPr/>
        </p:nvSpPr>
        <p:spPr>
          <a:xfrm>
            <a:off x="6696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邻居系统让玩家可以浏览不同餐厅。"/>
          <p:cNvSpPr>
            <a:spLocks noGrp="1"/>
          </p:cNvSpPr>
          <p:nvPr/>
        </p:nvSpPr>
        <p:spPr>
          <a:xfrm>
            <a:off x="7153275" y="2655094"/>
            <a:ext cx="4581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邻居系统让玩家可以浏览不同餐厅。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3"/>
          <p:cNvSpPr>
            <a:spLocks noGrp="1"/>
          </p:cNvSpPr>
          <p:nvPr/>
        </p:nvSpPr>
        <p:spPr>
          <a:xfrm>
            <a:off x="6696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历史资料记录邀请、访问与互动机制"/>
          <p:cNvSpPr>
            <a:spLocks noGrp="1"/>
          </p:cNvSpPr>
          <p:nvPr/>
        </p:nvSpPr>
        <p:spPr>
          <a:xfrm>
            <a:off x="7153275" y="3690938"/>
            <a:ext cx="4581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历史资料记录邀请、访问与互动机制。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分析判断"/>
          <p:cNvSpPr>
            <a:spLocks noGrp="1"/>
          </p:cNvSpPr>
          <p:nvPr/>
        </p:nvSpPr>
        <p:spPr>
          <a:xfrm>
            <a:off x="6696075" y="4726781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分析判断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互相访问可能延长装修成果的使用价"/>
          <p:cNvSpPr>
            <a:spLocks noGrp="1"/>
          </p:cNvSpPr>
          <p:nvPr/>
        </p:nvSpPr>
        <p:spPr>
          <a:xfrm>
            <a:off x="6696075" y="5069681"/>
            <a:ext cx="5038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互相访问可能延长装修成果的使用价值。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公开资料 / 历史机制：公开资料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历史机制：公开资料与官方展示图，当前交互配额待验证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17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箭头连接符 18"/>
          <p:cNvCxnSpPr>
            <a:stCxn id="15" idx="3"/>
            <a:endCxn id="16" idx="1"/>
          </p:cNvCxnSpPr>
          <p:nvPr/>
        </p:nvCxnSpPr>
        <p:spPr>
          <a:xfrm>
            <a:off x="8767763" y="2124075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14" idx="3"/>
            <a:endCxn id="15" idx="1"/>
          </p:cNvCxnSpPr>
          <p:nvPr/>
        </p:nvCxnSpPr>
        <p:spPr>
          <a:xfrm>
            <a:off x="5915026" y="2124075"/>
            <a:ext cx="361949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17" name="直接箭头连接符 16"/>
          <p:cNvCxnSpPr>
            <a:stCxn id="13" idx="3"/>
            <a:endCxn id="14" idx="1"/>
          </p:cNvCxnSpPr>
          <p:nvPr/>
        </p:nvCxnSpPr>
        <p:spPr>
          <a:xfrm>
            <a:off x="3062288" y="2124075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381250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381250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礼物、部件与互助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部件请求把邻居关系连接到设备建造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部件请求把邻居关系连接到设备建造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流程 需要部件"/>
          <p:cNvSpPr>
            <a:spLocks noGrp="1"/>
          </p:cNvSpPr>
          <p:nvPr/>
        </p:nvSpPr>
        <p:spPr>
          <a:xfrm>
            <a:off x="571500" y="1762125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需要部件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流程 发出请求"/>
          <p:cNvSpPr>
            <a:spLocks noGrp="1"/>
          </p:cNvSpPr>
          <p:nvPr/>
        </p:nvSpPr>
        <p:spPr>
          <a:xfrm>
            <a:off x="3424238" y="1762125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发出请求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流程 获得回应"/>
          <p:cNvSpPr>
            <a:spLocks noGrp="1"/>
          </p:cNvSpPr>
          <p:nvPr/>
        </p:nvSpPr>
        <p:spPr>
          <a:xfrm>
            <a:off x="6276975" y="1762125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获得回应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流程 继续建造"/>
          <p:cNvSpPr>
            <a:spLocks noGrp="1"/>
          </p:cNvSpPr>
          <p:nvPr/>
        </p:nvSpPr>
        <p:spPr>
          <a:xfrm>
            <a:off x="9129713" y="1762125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继续建造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历史机制研究与当前待验证路径"/>
          <p:cNvSpPr>
            <a:spLocks noGrp="1"/>
          </p:cNvSpPr>
          <p:nvPr/>
        </p:nvSpPr>
        <p:spPr>
          <a:xfrm>
            <a:off x="571500" y="2857500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历史机制研究与当前待验证路径</a:t>
            </a:r>
            <a:endParaRPr sz="187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1" name="表格 20"/>
          <p:cNvGraphicFramePr/>
          <p:nvPr/>
        </p:nvGraphicFramePr>
        <p:xfrm>
          <a:off x="571500" y="3600450"/>
          <a:ext cx="11049000" cy="2257425"/>
        </p:xfrm>
        <a:graphic>
          <a:graphicData uri="http://schemas.openxmlformats.org/drawingml/2006/table">
            <a:tbl>
              <a:tblPr/>
              <a:tblGrid>
                <a:gridCol w="2286000"/>
                <a:gridCol w="8763000"/>
              </a:tblGrid>
              <a:tr h="564356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观察问题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实际需要记录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564356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需求是否明确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需要的部件与设备需求能否对应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564356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回应是否及时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请求发送、收到物品及完成建造的时间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564356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选择是否清楚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互助、等待与资源补充如何分别帮助玩家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</a:tbl>
          </a:graphicData>
        </a:graphic>
      </p:graphicFrame>
      <p:sp>
        <p:nvSpPr>
          <p:cNvPr id="22" name="正文 公开资料 / 历史机制：历史机制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历史机制：历史机制研究与待验证路径，当前赠礼数量未确认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18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装饰收集与主题组合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装饰的长期价值来自可摆放与可组合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装饰的长期价值来自可摆放与可组合。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10458"/>
            <a:ext cx="3333750" cy="1875234"/>
          </a:xfrm>
          <a:prstGeom prst="rect">
            <a:avLst/>
          </a:prstGeom>
        </p:spPr>
      </p:pic>
      <p:sp>
        <p:nvSpPr>
          <p:cNvPr id="14" name="正文 历史社区资料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历史社区资料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2397919"/>
            <a:ext cx="3333750" cy="2500313"/>
          </a:xfrm>
          <a:prstGeom prst="rect">
            <a:avLst/>
          </a:prstGeom>
        </p:spPr>
      </p:pic>
      <p:sp>
        <p:nvSpPr>
          <p:cNvPr id="16" name="正文 官方商店展示图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官方商店展示图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收藏目标可以来自喜欢的主题与不同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收藏目标可以来自喜欢的主题与不同空间组合。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历史主题箱奖励进入装饰库存。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历史主题箱奖励进入装饰库存。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获得奖励以后，摆放与搭配继续提供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获得奖励以后，摆放与搭配继续提供决策。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分析判断"/>
          <p:cNvSpPr>
            <a:spLocks noGrp="1"/>
          </p:cNvSpPr>
          <p:nvPr/>
        </p:nvSpPr>
        <p:spPr>
          <a:xfrm>
            <a:off x="7839075" y="4726781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分析判断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物品检索和主题整理会影响长期收藏"/>
          <p:cNvSpPr>
            <a:spLocks noGrp="1"/>
          </p:cNvSpPr>
          <p:nvPr/>
        </p:nvSpPr>
        <p:spPr>
          <a:xfrm>
            <a:off x="7839075" y="5069681"/>
            <a:ext cx="3895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物品检索和主题整理会影响长期收藏体验。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公开资料 / 历史机制：装饰可摆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历史机制：装饰可摆放与组合，不假定存在图鉴大奖或套装属性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19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381250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381250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等级、设备与扩建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成长同时扩大经营能力和餐厅布置空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成长同时扩大经营能力和餐厅布置空间。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57200" y="1619250"/>
          <a:ext cx="11277600" cy="3095625"/>
        </p:xfrm>
        <a:graphic>
          <a:graphicData uri="http://schemas.openxmlformats.org/drawingml/2006/table">
            <a:tbl>
              <a:tblPr/>
              <a:tblGrid>
                <a:gridCol w="2190750"/>
                <a:gridCol w="4095750"/>
                <a:gridCol w="4991100"/>
              </a:tblGrid>
              <a:tr h="773906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成长对象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历史资料中的关系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当前版本待验证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773906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等级与设备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等级对应新增设备栏位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栏位、等级及可购买扩容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773906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餐厅空间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扩建涉及邻居条件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金币、等级、邻居和 Gems 的具体门槛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773906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经营选择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新能力扩大生产与装修范围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是否带来清晰的新目标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</a:tbl>
          </a:graphicData>
        </a:graphic>
      </p:graphicFrame>
      <p:sp>
        <p:nvSpPr>
          <p:cNvPr id="14" name="正文 分析判断：新能力应对应可感知的新"/>
          <p:cNvSpPr>
            <a:spLocks noGrp="1"/>
          </p:cNvSpPr>
          <p:nvPr/>
        </p:nvSpPr>
        <p:spPr>
          <a:xfrm>
            <a:off x="457200" y="523875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分析判断：新能力应对应可感知的新选择</a:t>
            </a:r>
            <a:endParaRPr sz="180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公开资料 / 历史机制：历史成长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历史机制：历史成长机制，当前等级与扩建条件待验证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20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资源经济与数值观察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数值分析首先要说明资源用途和玩家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数值分析首先要说明资源用途和玩家缺口。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57200" y="1476375"/>
          <a:ext cx="11277600" cy="4191000"/>
        </p:xfrm>
        <a:graphic>
          <a:graphicData uri="http://schemas.openxmlformats.org/drawingml/2006/table">
            <a:tbl>
              <a:tblPr/>
              <a:tblGrid>
                <a:gridCol w="1809750"/>
                <a:gridCol w="4238625"/>
                <a:gridCol w="5229225"/>
              </a:tblGrid>
              <a:tr h="598714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资源 / 状态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本次研究能说明的关系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需要补充的版本内记录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598714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经营与购买的基础资源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菜品净收入、设施与装饰价格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598714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Gems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官方内购列表中的高级货币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免费来源、各消耗入口与定价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598714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XP / 等级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历史成长系统内容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动作获得量与解锁条件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598714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菜品 / 设备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生产与内容选择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烹饪时长、批量产出与栏位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598714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部件 / 礼物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历史互助与建造研究方向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请求配额、建造需求与回传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598714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装饰 / 空间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玩家餐厅表达的主要对象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获取渠道、重复用途与扩建成本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</a:tbl>
          </a:graphicData>
        </a:graphic>
      </p:graphicFrame>
      <p:sp>
        <p:nvSpPr>
          <p:cNvPr id="14" name="正文 公开资料 / 历史机制：资源关系"/>
          <p:cNvSpPr>
            <a:spLocks noGrp="1"/>
          </p:cNvSpPr>
          <p:nvPr/>
        </p:nvSpPr>
        <p:spPr>
          <a:xfrm>
            <a:off x="333375" y="6429375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 / 历史机制：资源关系与现行数值分开，未生成营收占比或付费效率曲线</a:t>
            </a:r>
            <a:endParaRPr sz="101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21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19907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19907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结论与借鉴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可借鉴的关系是经营产出、空间变化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可借鉴的关系是经营产出、空间变化与社交反馈的连接。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5" y="1600200"/>
            <a:ext cx="5461000" cy="4095750"/>
          </a:xfrm>
          <a:prstGeom prst="rect">
            <a:avLst/>
          </a:prstGeom>
        </p:spPr>
      </p:pic>
      <p:sp>
        <p:nvSpPr>
          <p:cNvPr id="15" name="正文 经营价值"/>
          <p:cNvSpPr>
            <a:spLocks noGrp="1"/>
          </p:cNvSpPr>
          <p:nvPr/>
        </p:nvSpPr>
        <p:spPr>
          <a:xfrm>
            <a:off x="6696075" y="1619250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经营价值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生产安排给玩家持续决策。"/>
          <p:cNvSpPr>
            <a:spLocks noGrp="1"/>
          </p:cNvSpPr>
          <p:nvPr/>
        </p:nvSpPr>
        <p:spPr>
          <a:xfrm>
            <a:off x="6696075" y="1962150"/>
            <a:ext cx="5038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生产安排给玩家持续决策。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表达价值"/>
          <p:cNvSpPr>
            <a:spLocks noGrp="1"/>
          </p:cNvSpPr>
          <p:nvPr/>
        </p:nvSpPr>
        <p:spPr>
          <a:xfrm>
            <a:off x="6696075" y="2655094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表达价值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资源投入改变自己的餐厅。"/>
          <p:cNvSpPr>
            <a:spLocks noGrp="1"/>
          </p:cNvSpPr>
          <p:nvPr/>
        </p:nvSpPr>
        <p:spPr>
          <a:xfrm>
            <a:off x="6696075" y="2997994"/>
            <a:ext cx="5038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资源投入改变自己的餐厅。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展示价值"/>
          <p:cNvSpPr>
            <a:spLocks noGrp="1"/>
          </p:cNvSpPr>
          <p:nvPr/>
        </p:nvSpPr>
        <p:spPr>
          <a:xfrm>
            <a:off x="6696075" y="3690938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展示价值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朋友看到并反馈装修成果。"/>
          <p:cNvSpPr>
            <a:spLocks noGrp="1"/>
          </p:cNvSpPr>
          <p:nvPr/>
        </p:nvSpPr>
        <p:spPr>
          <a:xfrm>
            <a:off x="6696075" y="4033838"/>
            <a:ext cx="5038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朋友看到并反馈装修成果。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商业化观察"/>
          <p:cNvSpPr>
            <a:spLocks noGrp="1"/>
          </p:cNvSpPr>
          <p:nvPr/>
        </p:nvSpPr>
        <p:spPr>
          <a:xfrm>
            <a:off x="6696075" y="4726781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商业化观察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内购、广告和互助是否在玩家缺口出"/>
          <p:cNvSpPr>
            <a:spLocks noGrp="1"/>
          </p:cNvSpPr>
          <p:nvPr/>
        </p:nvSpPr>
        <p:spPr>
          <a:xfrm>
            <a:off x="6696075" y="5069681"/>
            <a:ext cx="5038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内购、广告和互助是否在玩家缺口出现时提供清晰选择。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22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TABLE_BEAUTIFY" val="smartTable{ccc9bddf-465f-4eb9-9e6f-3163713be4af}"/>
</p:tagLst>
</file>

<file path=ppt/tags/tag2.xml><?xml version="1.0" encoding="utf-8"?>
<p:tagLst xmlns:p="http://schemas.openxmlformats.org/presentationml/2006/main">
  <p:tag name="KSO_WM_UNIT_TABLE_BEAUTIFY" val="smartTable{055d1192-c945-4965-a4af-651ca346739a}"/>
</p:tagLst>
</file>

<file path=ppt/tags/tag3.xml><?xml version="1.0" encoding="utf-8"?>
<p:tagLst xmlns:p="http://schemas.openxmlformats.org/presentationml/2006/main">
  <p:tag name="KSO_WM_UNIT_TABLE_BEAUTIFY" val="smartTable{e013b09c-4871-4cd2-a9b0-a2d4efa30644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3121</Words>
  <Application>WPS 演示</Application>
  <PresentationFormat>Converted Presentation</PresentationFormat>
  <Paragraphs>628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Wingdings</vt:lpstr>
      <vt:lpstr>微软雅黑</vt:lpstr>
      <vt:lpstr>Segoe UI Black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yufan</cp:lastModifiedBy>
  <cp:revision>3</cp:revision>
  <dcterms:created xsi:type="dcterms:W3CDTF">2026-10-13T03:32:45Z</dcterms:created>
  <dcterms:modified xsi:type="dcterms:W3CDTF">2026-10-13T08:58:24Z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85EAEF8029214E17BEC9EF3184E67A53</vt:lpwstr>
  </property>
  <property fmtid="{D5CDD505-2E9C-101B-9397-08002B2CF9AE}" pid="3" name="KSOProductBuildVer">
    <vt:lpwstr>2052-11.1.0.10578</vt:lpwstr>
  </property>
</Properties>
</file>