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开场提出本报告的问题：玩家为何愿意补道具、刷新商品，以及持续追逐装扮和排名。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E:/Learn/学习/干了个饭/游戏截图/主界面.PNG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题材把同一组玩法结果转换成销售额、工资、销冠等玩家能理解的目标。</a:t>
            </a:r>
          </a:p>
          <a:p>
            <a:r>
              <a:t>G1、G2。发行主体与上线日期没有足够证据，不填写。“简游出品”来自导流弹窗，不能据此填写法律意义上的开发商。未见内购入口，不写“已确认纯 IAA”。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G2 E:/Learn/学习/干了个饭/干了个饭-游戏框架整理.md</a:t>
            </a:r>
          </a:p>
          <a:p>
            <a:r>
              <a:t>截图 E:/Learn/学习/干了个饭/游戏截图/经典模式.PNG</a:t>
            </a:r>
          </a:p>
          <a:p>
            <a:r>
              <a:t>截图 E:/Learn/学习/干了个饭/游戏截图/经典模式结算.PNG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同一轮游戏产生两种追求：局内更高成绩，局外更完整的主播形象。</a:t>
            </a:r>
          </a:p>
          <a:p>
            <a:r>
              <a:t>G1：经典模式结算.PNG、每日关卡-挑战成功.PNG、装扮-装扮商店.PNG。没有完整产出表，不判断哪种渠道是金币主力。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获取道具与获取金币、刷新商品有不同动机，不能把所有播放角标都归成同一广告流程。</a:t>
            </a:r>
          </a:p>
          <a:p>
            <a:r>
              <a:t>G1 对应上述截图。“1/1”“5/5”先按界面显示记录，不写已验证日限额。广告完成后的发放时点、取消结果与实际奖励待试玩。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E:/Learn/学习/干了个饭/游戏截图/游戏内无道具时点击道具.PNG</a:t>
            </a:r>
          </a:p>
          <a:p>
            <a:r>
              <a:t>截图 E:/Learn/学习/干了个饭/游戏截图/连线PK-储备道具.PNG</a:t>
            </a:r>
          </a:p>
          <a:p>
            <a:r>
              <a:t>截图 E:/Learn/学习/干了个饭/游戏截图/装扮-装扮商店.PNG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G1、G2。未展示的 PK 活动奖励不补写具体内容。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G2 E:/Learn/学习/干了个饭/干了个饭-游戏框架整理.md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活动入口与核心开局按钮同时可见。入口数量也可能分散注意力，需要观察新玩家能否快速找到主玩法。</a:t>
            </a:r>
          </a:p>
          <a:p>
            <a:r>
              <a:t>只描述这张截图的布局。点击率与视觉注意力尚无行为数据。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E:/Learn/学习/干了个饭/游戏截图/主界面.PNG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每种目标提供不同的回访理由。这里分析目标层级，不伪造活动排期。</a:t>
            </a:r>
          </a:p>
          <a:p>
            <a:r>
              <a:t>G1。倒计时不能证明活动完整持续时间，也不能证明竞赛一天轮换两次。正式页不制作没有实测记录的 24 小时投放甘特图。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玩家完成一次操作后，可以同时感知消除、分数和竞争目标。推测这一结构有利于减少活动学习成本，效果需试玩判断。</a:t>
            </a:r>
          </a:p>
          <a:p>
            <a:r>
              <a:t>G1、G3。不使用反推文档中的具体计分公式、无时限或失败判定作为实测事实。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G3 E:/Learn/学习/干了个饭/经典模式策划案.md</a:t>
            </a:r>
          </a:p>
          <a:p>
            <a:r>
              <a:t>截图 E:/Learn/学习/干了个饭/游戏截图/经典模式-放置后可消除-提示.PNG</a:t>
            </a:r>
          </a:p>
          <a:p>
            <a:r>
              <a:t>截图 E:/Learn/学习/干了个饭/游戏截图/经典模式结算-每日竞赛排名显示.PNG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目标完成反馈让玩家知道距离结束还差什么，与经典模式的成绩追求形成不同体验。</a:t>
            </a:r>
          </a:p>
          <a:p>
            <a:r>
              <a:t>G1。笑脸方块的具体功能、迷雾揭示规则尚未观察，不写“已验证战争迷雾”。+3000 是成功截图样本，不概括为所有关卡固定奖励。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E:/Learn/学习/干了个饭/游戏截图/每日关卡-游玩.PNG</a:t>
            </a:r>
          </a:p>
          <a:p>
            <a:r>
              <a:t>截图 E:/Learn/学习/干了个饭/游戏截图/每日关卡-进度可视化.PNG</a:t>
            </a:r>
          </a:p>
          <a:p>
            <a:r>
              <a:t>截图 E:/Learn/学习/干了个饭/游戏截图/每日关卡-挑战成功.PNG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奖励价值来自玩家能持续看到穿搭，也来自角色与成绩同屏。好友实际能看到哪些搭配仍需分享端验证。</a:t>
            </a:r>
          </a:p>
          <a:p>
            <a:r>
              <a:t>G1、G5。截图说明存在这些展示场景，不证明它们全部实时同步玩家最新保存方案。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G5 E:/Learn/学习/干了个饭/装扮系统策划案.md</a:t>
            </a:r>
          </a:p>
          <a:p>
            <a:r>
              <a:t>截图 E:/Learn/学习/干了个饭/游戏截图/经典模式.PNG</a:t>
            </a:r>
          </a:p>
          <a:p>
            <a:r>
              <a:t>截图 E:/Learn/学习/干了个饭/游戏截图/经典模式结算弹窗.PNG</a:t>
            </a:r>
          </a:p>
          <a:p>
            <a:r>
              <a:t>截图 E:/Learn/学习/干了个饭/游戏截图/进入游戏后每周结算.PNG</a:t>
            </a:r>
          </a:p>
          <a:p>
            <a:r>
              <a:t>截图 E:/Learn/学习/干了个饭/游戏截图/连线PK.PNG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本产品可见的是奖励汇聚与消费回流。没有连续领奖记录，不声称像模板案例一样存在资源滚雪球或“小投入撬动高回报”。</a:t>
            </a:r>
          </a:p>
          <a:p>
            <a:r>
              <a:t>G1：关卡成功、任务、故事兑换、带货达人、商店、PK 储备。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购买决定关注“是否喜欢、是否买得起”，刷新决定关注“是否还想继续找”。广告在选购阶段提供了额外选择机会。</a:t>
            </a:r>
          </a:p>
          <a:p>
            <a:r>
              <a:t>G1、G4。页面展示价格样本 6,633 / 12,300 / 12,800 / 32,800。每日最大购买量、重复商品概率、刷新排重规则以及余额不足后的流程待验证。13 小时是剩余刷新时间。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G4 E:/Learn/学习/干了个饭/装扮商店系统策划案.md</a:t>
            </a:r>
          </a:p>
          <a:p>
            <a:r>
              <a:t>截图 E:/Learn/学习/干了个饭/游戏截图/装扮-装扮商店.PNG</a:t>
            </a:r>
          </a:p>
          <a:p>
            <a:r>
              <a:t>截图 E:/Learn/学习/干了个饭/游戏截图/装扮-装扮商店-点击商品后.PNG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剧情给关卡提供题材，兑换表给反复参与提供资源理由。外观奖励能够回到其他模式展示。</a:t>
            </a:r>
          </a:p>
          <a:p>
            <a:r>
              <a:t>G1。截图显示 50 对应 1000 金币、100 对应 3000、300 对应 5000、500 对应外观。兑换是扣除货币还是累计领取、章节产出量、到期处理均待验证。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E:/Learn/学习/干了个饭/游戏截图/主界面左侧-故事模式.PNG</a:t>
            </a:r>
          </a:p>
          <a:p>
            <a:r>
              <a:t>截图 E:/Learn/学习/干了个饭/游戏截图/主界面左侧-故事模式-奖励兑换.PNG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玩家在准备阶段知道要得到什么，再把道具带入挑战。这种安排可能降低比赛中断，但截图未覆盖实际竞赛过程。</a:t>
            </a:r>
          </a:p>
          <a:p>
            <a:r>
              <a:t>G1。只确认广告文案及入口，不把 20/20 写成每种道具库存上限或每日上限。不声明 PK 是实时联机。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E:/Learn/学习/干了个饭/游戏截图/连线PK.PNG</a:t>
            </a:r>
          </a:p>
          <a:p>
            <a:r>
              <a:t>截图 E:/Learn/学习/干了个饭/游戏截图/连线PK-储备道具.PNG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战报回答“我这局表现怎样”，邀请回答“你以什么身份加入”。两种分享内容的触发动机不同。</a:t>
            </a:r>
          </a:p>
          <a:p>
            <a:r>
              <a:t>G1。实际分享卡、好友进入后的玩法、邀请奖励和旗下主播收益未展示，不补写分成、持续收益或拉新率。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E:/Learn/学习/干了个饭/游戏截图/经典模式结算弹窗.PNG</a:t>
            </a:r>
          </a:p>
          <a:p>
            <a:r>
              <a:t>截图 E:/Learn/学习/干了个饭/游戏截图/主界面-中间-邀请主播弹窗.PNG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数量让收集可感知，空缺让后续目标可见。是否存在图鉴完成奖励须另外确认。</a:t>
            </a:r>
          </a:p>
          <a:p>
            <a:r>
              <a:t>G1、G5。截图的部位图标能证明分类，具体命名以界面为准。不写套装属性、收藏加成或图鉴档位奖励；这些在系统文档中属于建议或预留。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G5 E:/Learn/学习/干了个饭/装扮系统策划案.md</a:t>
            </a:r>
          </a:p>
          <a:p>
            <a:r>
              <a:t>截图 E:/Learn/学习/干了个饭/游戏截图/装扮-装扮图鉴.PNG</a:t>
            </a:r>
          </a:p>
          <a:p>
            <a:r>
              <a:t>截图 E:/Learn/学习/干了个饭/游戏截图/装扮-获得新装版后红点系统.PNG</a:t>
            </a:r>
          </a:p>
          <a:p>
            <a:r>
              <a:t>截图 E:/Learn/学习/干了个饭/游戏截图/装扮-选择装扮.PNG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竞争反馈既包含数字，也包含角色形象。可以讨论这一展示方式如何强化榜单记忆，但不能断言它提升收入。</a:t>
            </a:r>
          </a:p>
          <a:p>
            <a:r>
              <a:t>G1。榜单分组算法、玩家真实性、奖励公式、报名门槛和实际结算周期未验证。金币样式不代表可提现现金。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E:/Learn/学习/干了个饭/游戏截图/菜单-每日竞赛.PNG</a:t>
            </a:r>
          </a:p>
          <a:p>
            <a:r>
              <a:t>截图 E:/Learn/学习/干了个饭/游戏截图/进入游戏后每周结算.PNG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任务不仅奖励玩家，也承担活动导流。每周商店消费目标把金币消费纳入周期追求。</a:t>
            </a:r>
          </a:p>
          <a:p>
            <a:r>
              <a:t>G1。阶段奖励的实际领取条件、超越比例统计范围、全勤奖是否自动发放待验证。不把玩家样本的 0/4 当作固定参与人数。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E:/Learn/学习/干了个饭/游戏截图/主界面左侧-带货达人.PNG</a:t>
            </a:r>
          </a:p>
          <a:p>
            <a:r>
              <a:t>截图 E:/Learn/学习/干了个饭/游戏截图/菜单-任务.PNG</a:t>
            </a:r>
          </a:p>
          <a:p>
            <a:r>
              <a:t>截图 E:/Learn/学习/干了个饭/游戏截图/菜单-任务 每周.PNG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迁移时优先借鉴“玩家需要什么、入口何时出现、奖励回来做什么”，具体频控与数值要结合本项目验证。</a:t>
            </a:r>
          </a:p>
          <a:p>
            <a:r>
              <a:t>资料访问及整理日期：2026-10-12</a:t>
            </a:r>
          </a:p>
          <a:p>
            <a:r>
              <a:t>G1 E:/Learn/学习/干了个饭/游戏截图/</a:t>
            </a:r>
          </a:p>
          <a:p>
            <a:r>
              <a:t>截图 E:/Learn/学习/干了个饭/游戏截图/装扮.PNG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正文 竞品商业化体验分析"/>
          <p:cNvSpPr>
            <a:spLocks noGrp="1"/>
          </p:cNvSpPr>
          <p:nvPr/>
        </p:nvSpPr>
        <p:spPr>
          <a:xfrm>
            <a:off x="4286250" y="3800475"/>
            <a:ext cx="70961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竞品商业化体验分析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正文 干了个饭"/>
          <p:cNvSpPr>
            <a:spLocks noGrp="1"/>
          </p:cNvSpPr>
          <p:nvPr/>
        </p:nvSpPr>
        <p:spPr>
          <a:xfrm>
            <a:off x="4286250" y="2266950"/>
            <a:ext cx="7096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4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干了个饭</a:t>
            </a:r>
            <a:endParaRPr sz="487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正文 方块消除、主播装扮与广告触达"/>
          <p:cNvSpPr>
            <a:spLocks noGrp="1"/>
          </p:cNvSpPr>
          <p:nvPr/>
        </p:nvSpPr>
        <p:spPr>
          <a:xfrm>
            <a:off x="4305300" y="4667250"/>
            <a:ext cx="7048500" cy="12426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俄罗斯方块like</a:t>
            </a:r>
            <a:r>
              <a:rPr lang="en-US"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方块消除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主播装扮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广告触达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正文 2026 年 10 月"/>
          <p:cNvSpPr>
            <a:spLocks noGrp="1"/>
          </p:cNvSpPr>
          <p:nvPr/>
        </p:nvSpPr>
        <p:spPr>
          <a:xfrm>
            <a:off x="9858375" y="1905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425" b="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10 月</a:t>
            </a:r>
            <a:endParaRPr sz="1425" b="0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722" y="476250"/>
            <a:ext cx="2733757" cy="59245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19907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19907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产品简介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方块消除提供操作核心，主播题材延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方块消除提供操作核心，主播题材延伸成绩与外观目标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27" y="1600200"/>
            <a:ext cx="1889896" cy="4095750"/>
          </a:xfrm>
          <a:prstGeom prst="rect">
            <a:avLst/>
          </a:prstGeom>
        </p:spPr>
      </p:pic>
      <p:sp>
        <p:nvSpPr>
          <p:cNvPr id="14" name="正文 经典模式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经典模式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627" y="1600200"/>
            <a:ext cx="1889896" cy="4095750"/>
          </a:xfrm>
          <a:prstGeom prst="rect">
            <a:avLst/>
          </a:prstGeom>
        </p:spPr>
      </p:pic>
      <p:sp>
        <p:nvSpPr>
          <p:cNvPr id="16" name="正文 经典模式结算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经典模式结算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平台"/>
          <p:cNvSpPr>
            <a:spLocks noGrp="1"/>
          </p:cNvSpPr>
          <p:nvPr/>
        </p:nvSpPr>
        <p:spPr>
          <a:xfrm>
            <a:off x="7839075" y="1619250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微信小游戏，画面可见微信胶囊入口"/>
          <p:cNvSpPr>
            <a:spLocks noGrp="1"/>
          </p:cNvSpPr>
          <p:nvPr/>
        </p:nvSpPr>
        <p:spPr>
          <a:xfrm>
            <a:off x="7839075" y="1962150"/>
            <a:ext cx="3895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微信小游戏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玩法"/>
          <p:cNvSpPr>
            <a:spLocks noGrp="1"/>
          </p:cNvSpPr>
          <p:nvPr/>
        </p:nvSpPr>
        <p:spPr>
          <a:xfrm>
            <a:off x="7839075" y="2447925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玩法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拖放方块、完成行列消除，以“销售"/>
          <p:cNvSpPr>
            <a:spLocks noGrp="1"/>
          </p:cNvSpPr>
          <p:nvPr/>
        </p:nvSpPr>
        <p:spPr>
          <a:xfrm>
            <a:off x="7839075" y="2790825"/>
            <a:ext cx="3895725" cy="6946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拖放方块、完成行列消除，以“销售额”呈现分数。</a:t>
            </a:r>
            <a:r>
              <a:rPr lang="zh-CN"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每批次给</a:t>
            </a:r>
            <a:r>
              <a:rPr lang="en-US" altLang="zh-CN"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种形状的方块，若本批次没有将所有方块塞入</a:t>
            </a:r>
            <a:r>
              <a:rPr lang="en-US" altLang="zh-CN"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8x8</a:t>
            </a:r>
            <a:r>
              <a:rPr lang="zh-CN" altLang="en-US"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棋盘内则</a:t>
            </a:r>
            <a:r>
              <a:rPr lang="zh-CN" altLang="en-US"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判定为失败。</a:t>
            </a:r>
            <a:endParaRPr lang="zh-CN" altLang="en-US"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包装"/>
          <p:cNvSpPr>
            <a:spLocks noGrp="1"/>
          </p:cNvSpPr>
          <p:nvPr/>
        </p:nvSpPr>
        <p:spPr>
          <a:xfrm>
            <a:off x="7839075" y="3543300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包装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主播直播间、工资单、带货订单、主"/>
          <p:cNvSpPr>
            <a:spLocks noGrp="1"/>
          </p:cNvSpPr>
          <p:nvPr/>
        </p:nvSpPr>
        <p:spPr>
          <a:xfrm>
            <a:off x="7839075" y="3886200"/>
            <a:ext cx="3895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直播间、工资单、带货订单、主播装扮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局外目标"/>
          <p:cNvSpPr>
            <a:spLocks noGrp="1"/>
          </p:cNvSpPr>
          <p:nvPr/>
        </p:nvSpPr>
        <p:spPr>
          <a:xfrm>
            <a:off x="7839075" y="4324350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局外目标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排名挑战、活动奖励、金币购买装扮"/>
          <p:cNvSpPr>
            <a:spLocks noGrp="1"/>
          </p:cNvSpPr>
          <p:nvPr/>
        </p:nvSpPr>
        <p:spPr>
          <a:xfrm>
            <a:off x="7839075" y="4667250"/>
            <a:ext cx="3895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排名挑战、活动奖励、金币购买装扮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正文 商业化观察"/>
          <p:cNvSpPr>
            <a:spLocks noGrp="1"/>
          </p:cNvSpPr>
          <p:nvPr/>
        </p:nvSpPr>
        <p:spPr>
          <a:xfrm>
            <a:off x="7839075" y="5153025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商业化观察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已见视频广告入口与分享获取入口。"/>
          <p:cNvSpPr>
            <a:spLocks noGrp="1"/>
          </p:cNvSpPr>
          <p:nvPr/>
        </p:nvSpPr>
        <p:spPr>
          <a:xfrm>
            <a:off x="7839075" y="5495925"/>
            <a:ext cx="3895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视频广告与分享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正文 02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3454400" y="2751455"/>
            <a:ext cx="22078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D72828"/>
                </a:solidFill>
                <a:latin typeface="Segoe UI Black" panose="020B0A02040204020203"/>
                <a:ea typeface="Segoe UI Black" panose="020B0A02040204020203"/>
                <a:cs typeface="Segoe UI Black" panose="020B0A02040204020203"/>
              </a:rPr>
              <a:t>0 1</a:t>
            </a:r>
            <a:endParaRPr sz="9600" b="1">
              <a:solidFill>
                <a:srgbClr val="D72828"/>
              </a:solidFill>
              <a:latin typeface="Segoe UI Black" panose="020B0A02040204020203"/>
              <a:ea typeface="Segoe UI Black" panose="020B0A02040204020203"/>
              <a:cs typeface="Segoe UI Black" panose="020B0A02040204020203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662295" y="2751455"/>
            <a:ext cx="6530000" cy="1283970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6524625" y="2914650"/>
            <a:ext cx="5172075" cy="106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6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整体框架</a:t>
            </a:r>
            <a:endParaRPr sz="60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24625" y="4191000"/>
            <a:ext cx="5238750" cy="4286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玩法、资源与商业化触达</a:t>
            </a:r>
            <a:endParaRPr spc="600">
              <a:solidFill>
                <a:srgbClr val="D72828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0" name="直接箭头连接符 29"/>
          <p:cNvCxnSpPr>
            <a:stCxn id="27" idx="3"/>
            <a:endCxn id="28" idx="1"/>
          </p:cNvCxnSpPr>
          <p:nvPr/>
        </p:nvCxnSpPr>
        <p:spPr>
          <a:xfrm>
            <a:off x="7816850" y="5581650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29" name="直接箭头连接符 28"/>
          <p:cNvCxnSpPr>
            <a:stCxn id="26" idx="3"/>
            <a:endCxn id="27" idx="1"/>
          </p:cNvCxnSpPr>
          <p:nvPr/>
        </p:nvCxnSpPr>
        <p:spPr>
          <a:xfrm>
            <a:off x="4013200" y="5581650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25" name="直接箭头连接符 24"/>
          <p:cNvCxnSpPr>
            <a:stCxn id="22" idx="3"/>
            <a:endCxn id="23" idx="1"/>
          </p:cNvCxnSpPr>
          <p:nvPr/>
        </p:nvCxnSpPr>
        <p:spPr>
          <a:xfrm>
            <a:off x="7816850" y="4600575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24" name="直接箭头连接符 23"/>
          <p:cNvCxnSpPr>
            <a:stCxn id="21" idx="3"/>
            <a:endCxn id="22" idx="1"/>
          </p:cNvCxnSpPr>
          <p:nvPr/>
        </p:nvCxnSpPr>
        <p:spPr>
          <a:xfrm>
            <a:off x="4013200" y="4600575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19" name="直接箭头连接符 18"/>
          <p:cNvCxnSpPr>
            <a:stCxn id="15" idx="3"/>
            <a:endCxn id="16" idx="1"/>
          </p:cNvCxnSpPr>
          <p:nvPr/>
        </p:nvCxnSpPr>
        <p:spPr>
          <a:xfrm>
            <a:off x="8767763" y="2552700"/>
            <a:ext cx="361950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cxnSp>
        <p:nvCxnSpPr>
          <p:cNvPr id="18" name="直接箭头连接符 17"/>
          <p:cNvCxnSpPr>
            <a:stCxn id="14" idx="3"/>
            <a:endCxn id="15" idx="1"/>
          </p:cNvCxnSpPr>
          <p:nvPr/>
        </p:nvCxnSpPr>
        <p:spPr>
          <a:xfrm>
            <a:off x="5915026" y="2552700"/>
            <a:ext cx="361949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cxnSp>
        <p:nvCxnSpPr>
          <p:cNvPr id="17" name="直接箭头连接符 16"/>
          <p:cNvCxnSpPr>
            <a:stCxn id="13" idx="3"/>
            <a:endCxn id="14" idx="1"/>
          </p:cNvCxnSpPr>
          <p:nvPr/>
        </p:nvCxnSpPr>
        <p:spPr>
          <a:xfrm>
            <a:off x="3062288" y="2552700"/>
            <a:ext cx="361950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核心循环与资源关系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成绩负责短期反馈，装扮提供局外消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成绩负责短期反馈，装扮</a:t>
            </a:r>
            <a:r>
              <a:rPr lang="zh-CN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则是</a:t>
            </a: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局外消费目标。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流程 方块消除&#10;销售额"/>
          <p:cNvSpPr>
            <a:spLocks noGrp="1"/>
          </p:cNvSpPr>
          <p:nvPr/>
        </p:nvSpPr>
        <p:spPr>
          <a:xfrm>
            <a:off x="571500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方块消除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</a:t>
            </a: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销售额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流程 结算工资&#10;次日发放"/>
          <p:cNvSpPr>
            <a:spLocks noGrp="1"/>
          </p:cNvSpPr>
          <p:nvPr/>
        </p:nvSpPr>
        <p:spPr>
          <a:xfrm>
            <a:off x="3424238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结算工资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次日</a:t>
            </a: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</a:t>
            </a: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发放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流程 装扮购买&#10;外观获取"/>
          <p:cNvSpPr>
            <a:spLocks noGrp="1"/>
          </p:cNvSpPr>
          <p:nvPr/>
        </p:nvSpPr>
        <p:spPr>
          <a:xfrm>
            <a:off x="6276975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装扮购买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外观获取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流程 主播展示&#10;成绩参照"/>
          <p:cNvSpPr>
            <a:spLocks noGrp="1"/>
          </p:cNvSpPr>
          <p:nvPr/>
        </p:nvSpPr>
        <p:spPr>
          <a:xfrm>
            <a:off x="9129713" y="2190750"/>
            <a:ext cx="2490788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主播</a:t>
            </a: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卖货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个性化服装</a:t>
            </a: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</a:t>
            </a:r>
            <a:endParaRPr lang="zh-CN"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道具支持路径"/>
          <p:cNvSpPr>
            <a:spLocks noGrp="1"/>
          </p:cNvSpPr>
          <p:nvPr/>
        </p:nvSpPr>
        <p:spPr>
          <a:xfrm>
            <a:off x="571500" y="370522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765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765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765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道具支持路径</a:t>
            </a:r>
            <a:endParaRPr sz="1725" b="1">
              <a:solidFill>
                <a:srgbClr val="765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流程 分享入口"/>
          <p:cNvSpPr>
            <a:spLocks noGrp="1"/>
          </p:cNvSpPr>
          <p:nvPr/>
        </p:nvSpPr>
        <p:spPr>
          <a:xfrm>
            <a:off x="571500" y="4238625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分享入口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流程 局内道具获取"/>
          <p:cNvSpPr>
            <a:spLocks noGrp="1"/>
          </p:cNvSpPr>
          <p:nvPr/>
        </p:nvSpPr>
        <p:spPr>
          <a:xfrm>
            <a:off x="4375150" y="4238625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局内道具获取</a:t>
            </a:r>
            <a:r>
              <a:rPr 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（每个限</a:t>
            </a:r>
            <a:r>
              <a:rPr lang="en-US" altLang="zh-CN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次）</a:t>
            </a:r>
            <a:endParaRPr lang="zh-CN" altLang="en-US"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流程 支持当前对局"/>
          <p:cNvSpPr>
            <a:spLocks noGrp="1"/>
          </p:cNvSpPr>
          <p:nvPr/>
        </p:nvSpPr>
        <p:spPr>
          <a:xfrm>
            <a:off x="8178800" y="4238625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支持当前对局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流程 视频广告"/>
          <p:cNvSpPr>
            <a:spLocks noGrp="1"/>
          </p:cNvSpPr>
          <p:nvPr/>
        </p:nvSpPr>
        <p:spPr>
          <a:xfrm>
            <a:off x="571500" y="5219700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视频广告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流程 PK 赛前储备"/>
          <p:cNvSpPr>
            <a:spLocks noGrp="1"/>
          </p:cNvSpPr>
          <p:nvPr/>
        </p:nvSpPr>
        <p:spPr>
          <a:xfrm>
            <a:off x="4375150" y="5219700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 赛前储备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流程 支持后续挑战"/>
          <p:cNvSpPr>
            <a:spLocks noGrp="1"/>
          </p:cNvSpPr>
          <p:nvPr/>
        </p:nvSpPr>
        <p:spPr>
          <a:xfrm>
            <a:off x="8178800" y="5219700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支持后续挑战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正文 04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" name="直接箭头连接符 1"/>
          <p:cNvCxnSpPr>
            <a:endCxn id="22" idx="1"/>
          </p:cNvCxnSpPr>
          <p:nvPr/>
        </p:nvCxnSpPr>
        <p:spPr>
          <a:xfrm flipV="1">
            <a:off x="4013200" y="4600575"/>
            <a:ext cx="361950" cy="84582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12407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12407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商业化触达场景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视频广告分别服务对局准备与局外商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视频广告</a:t>
            </a:r>
            <a:r>
              <a:rPr lang="zh-CN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和分享裂变提供</a:t>
            </a:r>
            <a:r>
              <a:rPr lang="en-US" altLang="zh-CN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对局用道具</a:t>
            </a: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457200" y="1450975"/>
          <a:ext cx="6906895" cy="3964940"/>
        </p:xfrm>
        <a:graphic>
          <a:graphicData uri="http://schemas.openxmlformats.org/drawingml/2006/table">
            <a:tbl>
              <a:tblPr/>
              <a:tblGrid>
                <a:gridCol w="1278890"/>
                <a:gridCol w="2493645"/>
                <a:gridCol w="3134360"/>
              </a:tblGrid>
              <a:tr h="99123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玩家当时的需求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交互</a:t>
                      </a:r>
                      <a:endParaRPr lang="zh-CN"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99123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局内零道具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希望改善当前棋盘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35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进行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分享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看广告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algn="l"/>
                      <a:r>
                        <a:rPr lang="zh-CN" sz="135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返回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99123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PK 储备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提前准备挑战道具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选择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想要的道具，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看广告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99123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商店刷新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希望出现喜欢的装扮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看广告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</a:tbl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050" y="1452091"/>
            <a:ext cx="1828800" cy="3963344"/>
          </a:xfrm>
          <a:prstGeom prst="rect">
            <a:avLst/>
          </a:prstGeom>
        </p:spPr>
      </p:pic>
      <p:sp>
        <p:nvSpPr>
          <p:cNvPr id="15" name="正文 PK 视频广告"/>
          <p:cNvSpPr>
            <a:spLocks noGrp="1"/>
          </p:cNvSpPr>
          <p:nvPr/>
        </p:nvSpPr>
        <p:spPr>
          <a:xfrm>
            <a:off x="8020050" y="5524500"/>
            <a:ext cx="1828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 视频广告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0" y="1452091"/>
            <a:ext cx="1828800" cy="3963344"/>
          </a:xfrm>
          <a:prstGeom prst="rect">
            <a:avLst/>
          </a:prstGeom>
        </p:spPr>
      </p:pic>
      <p:sp>
        <p:nvSpPr>
          <p:cNvPr id="17" name="正文 局内分享入口"/>
          <p:cNvSpPr>
            <a:spLocks noGrp="1"/>
          </p:cNvSpPr>
          <p:nvPr/>
        </p:nvSpPr>
        <p:spPr>
          <a:xfrm>
            <a:off x="9944100" y="5524500"/>
            <a:ext cx="1828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局内分享入口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5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19907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19907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活动类型概览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各模式提供不同目标，奖励回到金币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各模式提供不同目标，奖励金币、装扮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457200" y="1476375"/>
          <a:ext cx="11277600" cy="3905251"/>
        </p:xfrm>
        <a:graphic>
          <a:graphicData uri="http://schemas.openxmlformats.org/drawingml/2006/table">
            <a:tbl>
              <a:tblPr/>
              <a:tblGrid>
                <a:gridCol w="1762125"/>
                <a:gridCol w="2714625"/>
                <a:gridCol w="3048000"/>
                <a:gridCol w="3752850"/>
              </a:tblGrid>
              <a:tr h="557893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玩家目标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奖励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与核心玩法的关系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557893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每日关卡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完成指定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卖货</a:t>
                      </a:r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挑战成功 +3000 金币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经典模式</a:t>
                      </a:r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</a:t>
                      </a:r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变体</a:t>
                      </a:r>
                      <a:endParaRPr lang="en-US" alt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557893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每日竞赛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提高今日成绩和排名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榜单、奖金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（每日工资）</a:t>
                      </a:r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直接关联</a:t>
                      </a:r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经典模式成绩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557893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故事模式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推进章节、收集墨水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金币、限定装扮兑换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新目标与活动货币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557893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带货达人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天限时内，挑战经典模式获得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更高分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限定</a:t>
                      </a:r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外观奖励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将成绩转换为阶段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节点</a:t>
                      </a:r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追求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557893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连线 PK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参与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多人</a:t>
                      </a:r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挑战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根据名次获得活动积分，兑换金币、装扮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奖励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竞争和赛前准备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557893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每日 / 每周任务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完成多个模块目标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金币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引导跨模块参与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</a:tbl>
          </a:graphicData>
        </a:graphic>
      </p:graphicFrame>
      <p:sp>
        <p:nvSpPr>
          <p:cNvPr id="15" name="正文 06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12407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12407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主界面入口布局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主入口保留核心玩法，周边入口承载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主入口保留核心玩法，周边入口承载活动和局外目标。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7377" y="1600200"/>
            <a:ext cx="1889896" cy="4095750"/>
          </a:xfrm>
          <a:prstGeom prst="rect">
            <a:avLst/>
          </a:prstGeom>
        </p:spPr>
      </p:pic>
      <p:sp>
        <p:nvSpPr>
          <p:cNvPr id="14" name="正文 主界面"/>
          <p:cNvSpPr>
            <a:spLocks noGrp="1"/>
          </p:cNvSpPr>
          <p:nvPr/>
        </p:nvSpPr>
        <p:spPr>
          <a:xfrm>
            <a:off x="457200" y="5781675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底部中央"/>
          <p:cNvSpPr>
            <a:spLocks noGrp="1"/>
          </p:cNvSpPr>
          <p:nvPr/>
        </p:nvSpPr>
        <p:spPr>
          <a:xfrm>
            <a:off x="6696075" y="1619250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底部中央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正文 经典模式 / 继续游戏，突出主要"/>
          <p:cNvSpPr>
            <a:spLocks noGrp="1"/>
          </p:cNvSpPr>
          <p:nvPr/>
        </p:nvSpPr>
        <p:spPr>
          <a:xfrm>
            <a:off x="6696075" y="1962150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经典模式 / 继续游戏，突出主要行动。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底部两侧与上方"/>
          <p:cNvSpPr>
            <a:spLocks noGrp="1"/>
          </p:cNvSpPr>
          <p:nvPr/>
        </p:nvSpPr>
        <p:spPr>
          <a:xfrm>
            <a:off x="6696075" y="2447925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底部两侧与上方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好友排行、装扮、每日关卡、连线 "/>
          <p:cNvSpPr>
            <a:spLocks noGrp="1"/>
          </p:cNvSpPr>
          <p:nvPr/>
        </p:nvSpPr>
        <p:spPr>
          <a:xfrm>
            <a:off x="6696075" y="2790825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好友排行、装扮、每日关卡、连线 PK。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左侧"/>
          <p:cNvSpPr>
            <a:spLocks noGrp="1"/>
          </p:cNvSpPr>
          <p:nvPr/>
        </p:nvSpPr>
        <p:spPr>
          <a:xfrm>
            <a:off x="6696075" y="3276600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带货达人、故事模式，附剩余时间提"/>
          <p:cNvSpPr>
            <a:spLocks noGrp="1"/>
          </p:cNvSpPr>
          <p:nvPr/>
        </p:nvSpPr>
        <p:spPr>
          <a:xfrm>
            <a:off x="6696075" y="3619500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带货达人、故事模式。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中部"/>
          <p:cNvSpPr>
            <a:spLocks noGrp="1"/>
          </p:cNvSpPr>
          <p:nvPr/>
        </p:nvSpPr>
        <p:spPr>
          <a:xfrm>
            <a:off x="6696075" y="4105275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中部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主播形象与邀请主播位置。"/>
          <p:cNvSpPr>
            <a:spLocks noGrp="1"/>
          </p:cNvSpPr>
          <p:nvPr/>
        </p:nvSpPr>
        <p:spPr>
          <a:xfrm>
            <a:off x="6696075" y="4448175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主播形象与</a:t>
            </a:r>
            <a:r>
              <a:rPr lang="zh-CN"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邀请好友</a:t>
            </a: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顶部"/>
          <p:cNvSpPr>
            <a:spLocks noGrp="1"/>
          </p:cNvSpPr>
          <p:nvPr/>
        </p:nvSpPr>
        <p:spPr>
          <a:xfrm>
            <a:off x="6696075" y="4933950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顶部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账户余额与菜单。"/>
          <p:cNvSpPr>
            <a:spLocks noGrp="1"/>
          </p:cNvSpPr>
          <p:nvPr/>
        </p:nvSpPr>
        <p:spPr>
          <a:xfrm>
            <a:off x="6696075" y="5276850"/>
            <a:ext cx="50387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账户余额与菜单。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07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日常与限时目标节奏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对局、每日目标、每周展示和限时活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对局、每日目标、每周展示和限时活动形成不同时间尺度。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457200" y="1524000"/>
          <a:ext cx="11277600" cy="4048125"/>
        </p:xfrm>
        <a:graphic>
          <a:graphicData uri="http://schemas.openxmlformats.org/drawingml/2006/table">
            <a:tbl>
              <a:tblPr/>
              <a:tblGrid>
                <a:gridCol w="1809750"/>
                <a:gridCol w="4381500"/>
                <a:gridCol w="5086350"/>
              </a:tblGrid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目标尺度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提供的目标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周期</a:t>
                      </a:r>
                      <a:endParaRPr lang="zh-CN"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D72828"/>
                    </a:solidFill>
                  </a:tcPr>
                </a:tc>
              </a:tr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单局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消除、销售额、工资单、战报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即时结果反馈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每日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关卡、竞赛、任务、商店提示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每日</a:t>
                      </a:r>
                      <a:r>
                        <a:rPr lang="en-US" alt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刷新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每周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任务、结算、领奖台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每周</a:t>
                      </a:r>
                      <a:r>
                        <a:rPr lang="zh-CN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刷新</a:t>
                      </a:r>
                      <a:endParaRPr lang="zh-CN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AECEC"/>
                    </a:solidFill>
                  </a:tcPr>
                </a:tc>
              </a:tr>
              <a:tr h="809625"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限时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故事模式、连线 PK、带货达人</a:t>
                      </a:r>
                      <a:endParaRPr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  <a:r>
                        <a:rPr 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13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周刷新</a:t>
                      </a:r>
                      <a:r>
                        <a:rPr lang="zh-CN" altLang="en-US" sz="135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（预估）</a:t>
                      </a:r>
                      <a:endParaRPr lang="zh-CN" altLang="en-US" sz="135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95250" marT="76200" marB="76200" anchor="ctr">
                    <a:solidFill>
                      <a:srgbClr val="F5DADA"/>
                    </a:solidFill>
                  </a:tcPr>
                </a:tc>
              </a:tr>
            </a:tbl>
          </a:graphicData>
        </a:graphic>
      </p:graphicFrame>
      <p:sp>
        <p:nvSpPr>
          <p:cNvPr id="15" name="正文 08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经典玩法与活动目标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一份成绩同时承担个人纪录、排行榜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本局得分扣除部分后，作为</a:t>
            </a:r>
            <a:r>
              <a:rPr lang="en-US" altLang="zh-CN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主播的工资</a:t>
            </a:r>
            <a:r>
              <a:rPr lang="en-US" altLang="zh-CN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，记录</a:t>
            </a: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个人纪录、排行榜</a:t>
            </a:r>
            <a:r>
              <a:rPr lang="zh-CN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</a:t>
            </a: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27" y="1600200"/>
            <a:ext cx="1889896" cy="4095750"/>
          </a:xfrm>
          <a:prstGeom prst="rect">
            <a:avLst/>
          </a:prstGeom>
        </p:spPr>
      </p:pic>
      <p:sp>
        <p:nvSpPr>
          <p:cNvPr id="14" name="正文 经典模式-放置后可消除-提示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经典模式-放置后可消除-提示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627" y="1600200"/>
            <a:ext cx="1889896" cy="4095750"/>
          </a:xfrm>
          <a:prstGeom prst="rect">
            <a:avLst/>
          </a:prstGeom>
        </p:spPr>
      </p:pic>
      <p:sp>
        <p:nvSpPr>
          <p:cNvPr id="16" name="正文 经典模式结算-每日竞赛排名显示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经典模式结算-每日竞赛排名显示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放置与消除获得即时操作反馈。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放置与消除获得即时操作反馈。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销售额和全国超越比例提供成绩参照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销售额和全国超越比例提供成绩参照。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工资单把对局结果转换为直播收入叙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工资单把对局结果转换为直播收入叙事。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4"/>
          <p:cNvSpPr>
            <a:spLocks noGrp="1"/>
          </p:cNvSpPr>
          <p:nvPr/>
        </p:nvSpPr>
        <p:spPr>
          <a:xfrm>
            <a:off x="7839075" y="4726781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每日竞赛和直播战报继续使用成绩展"/>
          <p:cNvSpPr>
            <a:spLocks noGrp="1"/>
          </p:cNvSpPr>
          <p:nvPr/>
        </p:nvSpPr>
        <p:spPr>
          <a:xfrm>
            <a:off x="8296275" y="4726781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每日竞赛和直播战报继续使用成绩展示。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09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每日关卡的目标变体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订单目标把“追高分”转换成“完成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订单目标把“追高分”转换成“完成清单”。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77" y="1600200"/>
            <a:ext cx="1889896" cy="4095750"/>
          </a:xfrm>
          <a:prstGeom prst="rect">
            <a:avLst/>
          </a:prstGeom>
        </p:spPr>
      </p:pic>
      <p:sp>
        <p:nvSpPr>
          <p:cNvPr id="14" name="正文 每日关卡-游玩"/>
          <p:cNvSpPr>
            <a:spLocks noGrp="1"/>
          </p:cNvSpPr>
          <p:nvPr/>
        </p:nvSpPr>
        <p:spPr>
          <a:xfrm>
            <a:off x="457200" y="5781675"/>
            <a:ext cx="212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每日关卡-</a:t>
            </a:r>
            <a:r>
              <a:rPr lang="zh-CN"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吃播</a:t>
            </a: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游玩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877" y="1600200"/>
            <a:ext cx="1889896" cy="4095750"/>
          </a:xfrm>
          <a:prstGeom prst="rect">
            <a:avLst/>
          </a:prstGeom>
        </p:spPr>
      </p:pic>
      <p:sp>
        <p:nvSpPr>
          <p:cNvPr id="16" name="正文 每日关卡-进度可视化"/>
          <p:cNvSpPr>
            <a:spLocks noGrp="1"/>
          </p:cNvSpPr>
          <p:nvPr/>
        </p:nvSpPr>
        <p:spPr>
          <a:xfrm>
            <a:off x="2870200" y="5781675"/>
            <a:ext cx="212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每日关卡-进度可视化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877" y="1600200"/>
            <a:ext cx="1889896" cy="4095750"/>
          </a:xfrm>
          <a:prstGeom prst="rect">
            <a:avLst/>
          </a:prstGeom>
        </p:spPr>
      </p:pic>
      <p:sp>
        <p:nvSpPr>
          <p:cNvPr id="18" name="正文 每日关卡-挑战成功"/>
          <p:cNvSpPr>
            <a:spLocks noGrp="1"/>
          </p:cNvSpPr>
          <p:nvPr/>
        </p:nvSpPr>
        <p:spPr>
          <a:xfrm>
            <a:off x="5283200" y="5781675"/>
            <a:ext cx="212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每日关卡-挑战成功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顶部显示不同食物的剩余数量。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顶部显示不同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货品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的剩余数量。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消除后目标数字变化，完成项出现绿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消除后目标数字变化，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动画、食物余量变化，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完成项出现绿色勾选。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成功界面展示用时和金币奖励。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成功界面展示用时和金币奖励。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正文 04"/>
          <p:cNvSpPr>
            <a:spLocks noGrp="1"/>
          </p:cNvSpPr>
          <p:nvPr/>
        </p:nvSpPr>
        <p:spPr>
          <a:xfrm>
            <a:off x="7839075" y="4726781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主播选择为关卡提供不同主题外壳。"/>
          <p:cNvSpPr>
            <a:spLocks noGrp="1"/>
          </p:cNvSpPr>
          <p:nvPr/>
        </p:nvSpPr>
        <p:spPr>
          <a:xfrm>
            <a:off x="8296275" y="4726781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</a:t>
            </a:r>
            <a:r>
              <a:rPr lang="en-US" alt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个关卡，不同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主播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的类型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选择为关卡提供不同主题外壳。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正文 10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主播形象的展示场景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装扮奖励能进入多种可见场景，获得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装扮奖励能进入多种可见场景，获得后仍有使用价值。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19273"/>
            <a:ext cx="1595438" cy="3457604"/>
          </a:xfrm>
          <a:prstGeom prst="rect">
            <a:avLst/>
          </a:prstGeom>
        </p:spPr>
      </p:pic>
      <p:sp>
        <p:nvSpPr>
          <p:cNvPr id="14" name="正文 经典模式"/>
          <p:cNvSpPr>
            <a:spLocks noGrp="1"/>
          </p:cNvSpPr>
          <p:nvPr/>
        </p:nvSpPr>
        <p:spPr>
          <a:xfrm>
            <a:off x="457200" y="5781675"/>
            <a:ext cx="1595438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经典模式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8" y="1919273"/>
            <a:ext cx="1595438" cy="3457604"/>
          </a:xfrm>
          <a:prstGeom prst="rect">
            <a:avLst/>
          </a:prstGeom>
        </p:spPr>
      </p:pic>
      <p:sp>
        <p:nvSpPr>
          <p:cNvPr id="16" name="正文 经典模式结算弹窗"/>
          <p:cNvSpPr>
            <a:spLocks noGrp="1"/>
          </p:cNvSpPr>
          <p:nvPr/>
        </p:nvSpPr>
        <p:spPr>
          <a:xfrm>
            <a:off x="2243138" y="5781675"/>
            <a:ext cx="1595438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经典模式结算弹窗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075" y="1919273"/>
            <a:ext cx="1595438" cy="3457604"/>
          </a:xfrm>
          <a:prstGeom prst="rect">
            <a:avLst/>
          </a:prstGeom>
        </p:spPr>
      </p:pic>
      <p:sp>
        <p:nvSpPr>
          <p:cNvPr id="18" name="正文 进入游戏后每周结算"/>
          <p:cNvSpPr>
            <a:spLocks noGrp="1"/>
          </p:cNvSpPr>
          <p:nvPr/>
        </p:nvSpPr>
        <p:spPr>
          <a:xfrm>
            <a:off x="4029075" y="5781675"/>
            <a:ext cx="1595438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进入游戏后每周结算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013" y="1919273"/>
            <a:ext cx="1595438" cy="3457604"/>
          </a:xfrm>
          <a:prstGeom prst="rect">
            <a:avLst/>
          </a:prstGeom>
        </p:spPr>
      </p:pic>
      <p:sp>
        <p:nvSpPr>
          <p:cNvPr id="20" name="正文 连线PK"/>
          <p:cNvSpPr>
            <a:spLocks noGrp="1"/>
          </p:cNvSpPr>
          <p:nvPr/>
        </p:nvSpPr>
        <p:spPr>
          <a:xfrm>
            <a:off x="5815013" y="5781675"/>
            <a:ext cx="1595438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连线PK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直播间"/>
          <p:cNvSpPr>
            <a:spLocks noGrp="1"/>
          </p:cNvSpPr>
          <p:nvPr/>
        </p:nvSpPr>
        <p:spPr>
          <a:xfrm>
            <a:off x="7839075" y="1619250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直播间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角色长期陪伴核心操作。"/>
          <p:cNvSpPr>
            <a:spLocks noGrp="1"/>
          </p:cNvSpPr>
          <p:nvPr/>
        </p:nvSpPr>
        <p:spPr>
          <a:xfrm>
            <a:off x="7839075" y="1962150"/>
            <a:ext cx="3895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角色长期陪伴核心操作。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直播战报"/>
          <p:cNvSpPr>
            <a:spLocks noGrp="1"/>
          </p:cNvSpPr>
          <p:nvPr/>
        </p:nvSpPr>
        <p:spPr>
          <a:xfrm>
            <a:off x="7839075" y="2655094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直播战报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角色与成绩一起出现。"/>
          <p:cNvSpPr>
            <a:spLocks noGrp="1"/>
          </p:cNvSpPr>
          <p:nvPr/>
        </p:nvSpPr>
        <p:spPr>
          <a:xfrm>
            <a:off x="7839075" y="2997994"/>
            <a:ext cx="3895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角色与成绩一起出现。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正文 每周结算"/>
          <p:cNvSpPr>
            <a:spLocks noGrp="1"/>
          </p:cNvSpPr>
          <p:nvPr/>
        </p:nvSpPr>
        <p:spPr>
          <a:xfrm>
            <a:off x="7839075" y="3690938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</a:t>
            </a: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结算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角色站上领奖台。"/>
          <p:cNvSpPr>
            <a:spLocks noGrp="1"/>
          </p:cNvSpPr>
          <p:nvPr/>
        </p:nvSpPr>
        <p:spPr>
          <a:xfrm>
            <a:off x="7839075" y="4033838"/>
            <a:ext cx="3895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角色站上领奖台。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正文 连线 PK"/>
          <p:cNvSpPr>
            <a:spLocks noGrp="1"/>
          </p:cNvSpPr>
          <p:nvPr/>
        </p:nvSpPr>
        <p:spPr>
          <a:xfrm>
            <a:off x="7839075" y="4726781"/>
            <a:ext cx="3895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连线 PK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正文 巡游场景展示主播外观。"/>
          <p:cNvSpPr>
            <a:spLocks noGrp="1"/>
          </p:cNvSpPr>
          <p:nvPr/>
        </p:nvSpPr>
        <p:spPr>
          <a:xfrm>
            <a:off x="7839075" y="5069681"/>
            <a:ext cx="3895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巡游场景展示外观。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正文 11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2" name="直接箭头连接符 21"/>
          <p:cNvCxnSpPr>
            <a:stCxn id="19" idx="3"/>
            <a:endCxn id="20" idx="1"/>
          </p:cNvCxnSpPr>
          <p:nvPr/>
        </p:nvCxnSpPr>
        <p:spPr>
          <a:xfrm>
            <a:off x="7816850" y="4267200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21" name="直接箭头连接符 20"/>
          <p:cNvCxnSpPr>
            <a:stCxn id="18" idx="3"/>
            <a:endCxn id="19" idx="1"/>
          </p:cNvCxnSpPr>
          <p:nvPr/>
        </p:nvCxnSpPr>
        <p:spPr>
          <a:xfrm>
            <a:off x="4013200" y="4267200"/>
            <a:ext cx="361950" cy="0"/>
          </a:xfrm>
          <a:prstGeom prst="straightConnector1">
            <a:avLst/>
          </a:prstGeom>
          <a:ln w="19050">
            <a:solidFill>
              <a:srgbClr val="765299"/>
            </a:solidFill>
            <a:tailEnd type="triangle" w="med" len="med"/>
          </a:ln>
        </p:spPr>
      </p:cxnSp>
      <p:cxnSp>
        <p:nvCxnSpPr>
          <p:cNvPr id="17" name="直接箭头连接符 16"/>
          <p:cNvCxnSpPr>
            <a:stCxn id="14" idx="3"/>
            <a:endCxn id="15" idx="1"/>
          </p:cNvCxnSpPr>
          <p:nvPr/>
        </p:nvCxnSpPr>
        <p:spPr>
          <a:xfrm>
            <a:off x="7816850" y="2552700"/>
            <a:ext cx="361950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cxnSp>
        <p:nvCxnSpPr>
          <p:cNvPr id="16" name="直接箭头连接符 15"/>
          <p:cNvCxnSpPr>
            <a:stCxn id="13" idx="3"/>
            <a:endCxn id="14" idx="1"/>
          </p:cNvCxnSpPr>
          <p:nvPr/>
        </p:nvCxnSpPr>
        <p:spPr>
          <a:xfrm>
            <a:off x="4013200" y="2552700"/>
            <a:ext cx="361950" cy="0"/>
          </a:xfrm>
          <a:prstGeom prst="straightConnector1">
            <a:avLst/>
          </a:prstGeom>
          <a:ln w="19050">
            <a:solidFill>
              <a:srgbClr val="D72828"/>
            </a:solidFill>
            <a:tailEnd type="triangle" w="med" len="me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12407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12407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奖励流与消费流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多个奖励渠道汇向金币和装扮，局内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多个奖励</a:t>
            </a:r>
            <a:r>
              <a:rPr lang="zh-CN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</a:t>
            </a: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渠道汇向金币和装扮，局内道具支持挑战</a:t>
            </a:r>
            <a:r>
              <a:rPr lang="zh-CN"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</a:t>
            </a: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流程 关卡 / 任务&#10;金币奖励"/>
          <p:cNvSpPr>
            <a:spLocks noGrp="1"/>
          </p:cNvSpPr>
          <p:nvPr/>
        </p:nvSpPr>
        <p:spPr>
          <a:xfrm>
            <a:off x="571500" y="2190750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关卡 / 任务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金币奖励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流程 装扮商店&#10;金币消费"/>
          <p:cNvSpPr>
            <a:spLocks noGrp="1"/>
          </p:cNvSpPr>
          <p:nvPr/>
        </p:nvSpPr>
        <p:spPr>
          <a:xfrm>
            <a:off x="4375150" y="2190750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装扮商店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金币消费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流程 主播装扮&#10;多场景展示"/>
          <p:cNvSpPr>
            <a:spLocks noGrp="1"/>
          </p:cNvSpPr>
          <p:nvPr/>
        </p:nvSpPr>
        <p:spPr>
          <a:xfrm>
            <a:off x="8178800" y="2190750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D72828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主播装扮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多场景展示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流程 故事模式&#10;收集墨水"/>
          <p:cNvSpPr>
            <a:spLocks noGrp="1"/>
          </p:cNvSpPr>
          <p:nvPr/>
        </p:nvSpPr>
        <p:spPr>
          <a:xfrm>
            <a:off x="571500" y="3905250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故事模式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收集墨水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流程 兑换目标&#10;金币 / 外观"/>
          <p:cNvSpPr>
            <a:spLocks noGrp="1"/>
          </p:cNvSpPr>
          <p:nvPr/>
        </p:nvSpPr>
        <p:spPr>
          <a:xfrm>
            <a:off x="4375150" y="3905250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兑换目标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金币 / 外观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流程 主播展示&#10;外观使用"/>
          <p:cNvSpPr>
            <a:spLocks noGrp="1"/>
          </p:cNvSpPr>
          <p:nvPr/>
        </p:nvSpPr>
        <p:spPr>
          <a:xfrm>
            <a:off x="8178800" y="3905250"/>
            <a:ext cx="3441700" cy="723900"/>
          </a:xfrm>
          <a:prstGeom prst="roundRect">
            <a:avLst>
              <a:gd name="adj" fmla="val 10526"/>
            </a:avLst>
          </a:prstGeom>
          <a:solidFill>
            <a:srgbClr val="765299"/>
          </a:solidFill>
          <a:ln w="0">
            <a:noFill/>
          </a:ln>
        </p:spPr>
        <p:txBody>
          <a:bodyPr lIns="95250" tIns="95250" rIns="95250" bIns="95250" anchor="ctr">
            <a:noAutofit/>
          </a:bodyPr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主播展示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外观使用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带货达人：成绩节点提供外观目标&#10;"/>
          <p:cNvSpPr>
            <a:spLocks noGrp="1"/>
          </p:cNvSpPr>
          <p:nvPr/>
        </p:nvSpPr>
        <p:spPr>
          <a:xfrm>
            <a:off x="571500" y="5286375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带货达人：成绩节点提供外观目标</a:t>
            </a:r>
            <a:endParaRPr sz="16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 道具：视频广告准备道具，带入后续挑战</a:t>
            </a:r>
            <a:endParaRPr sz="16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正文 12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3454400" y="2751455"/>
            <a:ext cx="22078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D72828"/>
                </a:solidFill>
                <a:latin typeface="Segoe UI Black" panose="020B0A02040204020203"/>
                <a:ea typeface="Segoe UI Black" panose="020B0A02040204020203"/>
                <a:cs typeface="Segoe UI Black" panose="020B0A02040204020203"/>
              </a:rPr>
              <a:t>0 2</a:t>
            </a:r>
            <a:endParaRPr sz="9600" b="1">
              <a:solidFill>
                <a:srgbClr val="D72828"/>
              </a:solidFill>
              <a:latin typeface="Segoe UI Black" panose="020B0A02040204020203"/>
              <a:ea typeface="Segoe UI Black" panose="020B0A02040204020203"/>
              <a:cs typeface="Segoe UI Black" panose="020B0A02040204020203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662295" y="2751455"/>
            <a:ext cx="6530000" cy="1283970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6524625" y="2914650"/>
            <a:ext cx="5172075" cy="106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6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活动设计</a:t>
            </a:r>
            <a:endParaRPr sz="60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6524625" y="4191000"/>
            <a:ext cx="5238750" cy="4286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商店、道具、社交与收集</a:t>
            </a:r>
            <a:endParaRPr spc="600">
              <a:solidFill>
                <a:srgbClr val="D72828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装扮商店与广告刷新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金币承担购买成本，视频广告承担更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金币购买，视频广告更换候选商品。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27" y="1600200"/>
            <a:ext cx="1889896" cy="4095750"/>
          </a:xfrm>
          <a:prstGeom prst="rect">
            <a:avLst/>
          </a:prstGeom>
        </p:spPr>
      </p:pic>
      <p:sp>
        <p:nvSpPr>
          <p:cNvPr id="14" name="正文 装扮商店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装扮商店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627" y="1600200"/>
            <a:ext cx="1889896" cy="4095750"/>
          </a:xfrm>
          <a:prstGeom prst="rect">
            <a:avLst/>
          </a:prstGeom>
        </p:spPr>
      </p:pic>
      <p:sp>
        <p:nvSpPr>
          <p:cNvPr id="16" name="正文 装扮商店-点击商品后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装扮商店-点击商品后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商店一次展示 4 件商品，并列展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商店一次展示 4 件商品，并列展示金币价格。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商品点击后进入试穿确认，展示购买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商品点击后进入试穿确认，展示购买价格。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界面提示“今天还可以购买 4 件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界面提示“今天还可以购买 </a:t>
            </a:r>
            <a:r>
              <a:rPr 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件装扮”。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4"/>
          <p:cNvSpPr>
            <a:spLocks noGrp="1"/>
          </p:cNvSpPr>
          <p:nvPr/>
        </p:nvSpPr>
        <p:spPr>
          <a:xfrm>
            <a:off x="7839075" y="4726781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视频广告刷新按钮显示“5/5”，"/>
          <p:cNvSpPr>
            <a:spLocks noGrp="1"/>
          </p:cNvSpPr>
          <p:nvPr/>
        </p:nvSpPr>
        <p:spPr>
          <a:xfrm>
            <a:off x="8296275" y="4726781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视频广告刷新按钮显示“</a:t>
            </a:r>
            <a:r>
              <a:rPr 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/5”，提供主动更换商品的入口。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14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故事模式与兑换目标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章节推进与墨水兑换共同提供活动目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章节推进与墨水兑换共同提供活动目标。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27" y="1600200"/>
            <a:ext cx="1889896" cy="4095750"/>
          </a:xfrm>
          <a:prstGeom prst="rect">
            <a:avLst/>
          </a:prstGeom>
        </p:spPr>
      </p:pic>
      <p:sp>
        <p:nvSpPr>
          <p:cNvPr id="14" name="正文 主界面左侧-故事模式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主界面左侧-故事模式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627" y="1600200"/>
            <a:ext cx="1889896" cy="4095750"/>
          </a:xfrm>
          <a:prstGeom prst="rect">
            <a:avLst/>
          </a:prstGeom>
        </p:spPr>
      </p:pic>
      <p:sp>
        <p:nvSpPr>
          <p:cNvPr id="16" name="正文 主界面左侧-故事模式-奖励兑换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主界面左侧-故事模式-奖励兑换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章节界面展示可挑战章节与锁定章节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章节界面展示可挑战章节与锁定章节。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活动文案明确收集墨水、兑换限定装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活动文案明确收集墨水、兑换限定装扮。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截图兑换节点为 50 / 100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游玩模式</a:t>
            </a:r>
            <a:r>
              <a:rPr lang="zh-CN" alt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：听主播讲故事，限定时间内完成</a:t>
            </a:r>
            <a:r>
              <a:rPr lang="zh-CN" alt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消除。根据消除节点获得</a:t>
            </a:r>
            <a:r>
              <a:rPr lang="zh-CN" alt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墨水。</a:t>
            </a:r>
            <a:endParaRPr lang="zh-CN" altLang="en-US"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4"/>
          <p:cNvSpPr>
            <a:spLocks noGrp="1"/>
          </p:cNvSpPr>
          <p:nvPr/>
        </p:nvSpPr>
        <p:spPr>
          <a:xfrm>
            <a:off x="7839075" y="4726781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金币奖励与最高节点外观让玩家看到"/>
          <p:cNvSpPr>
            <a:spLocks noGrp="1"/>
          </p:cNvSpPr>
          <p:nvPr/>
        </p:nvSpPr>
        <p:spPr>
          <a:xfrm>
            <a:off x="8296275" y="4726781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金币奖励与最高节点外观让玩家看到后续目标。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15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 赛前道具储备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广告观看安排在赛前准备阶段。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广告观看安排在赛前准备阶段。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27" y="1600200"/>
            <a:ext cx="1889896" cy="4095750"/>
          </a:xfrm>
          <a:prstGeom prst="rect">
            <a:avLst/>
          </a:prstGeom>
        </p:spPr>
      </p:pic>
      <p:sp>
        <p:nvSpPr>
          <p:cNvPr id="14" name="正文 连线PK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连线PK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627" y="1600200"/>
            <a:ext cx="1889896" cy="4095750"/>
          </a:xfrm>
          <a:prstGeom prst="rect">
            <a:avLst/>
          </a:prstGeom>
        </p:spPr>
      </p:pic>
      <p:sp>
        <p:nvSpPr>
          <p:cNvPr id="16" name="正文 连线PK-储备道具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连线PK-储备道具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PK 页面提供“储备道具”独立入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 页面提供“储备道具”独立入口。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储备窗列出移出、撤回、提示、随机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储备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道具：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移出、撤回、提示、随机打乱、复活。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16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正文 待验证体验"/>
          <p:cNvSpPr>
            <a:spLocks noGrp="1"/>
          </p:cNvSpPr>
          <p:nvPr/>
        </p:nvSpPr>
        <p:spPr>
          <a:xfrm>
            <a:off x="7839075" y="3639185"/>
            <a:ext cx="126809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</a:t>
            </a:r>
            <a:r>
              <a:rPr sz="187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</a:t>
            </a:r>
            <a:endParaRPr sz="187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正文 获取动机"/>
          <p:cNvSpPr>
            <a:spLocks noGrp="1"/>
          </p:cNvSpPr>
          <p:nvPr/>
        </p:nvSpPr>
        <p:spPr>
          <a:xfrm>
            <a:off x="7839075" y="4137025"/>
            <a:ext cx="248856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获取动机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正文 准备道具，为下一场挑战保留选择。"/>
          <p:cNvSpPr>
            <a:spLocks noGrp="1"/>
          </p:cNvSpPr>
          <p:nvPr/>
        </p:nvSpPr>
        <p:spPr>
          <a:xfrm>
            <a:off x="7839075" y="4479925"/>
            <a:ext cx="2891790" cy="3117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准备道具，为下一场挑战保留选择。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正文 价值预期"/>
          <p:cNvSpPr>
            <a:spLocks noGrp="1"/>
          </p:cNvSpPr>
          <p:nvPr/>
        </p:nvSpPr>
        <p:spPr>
          <a:xfrm>
            <a:off x="7839075" y="4848860"/>
            <a:ext cx="37433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价值预期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正文 玩家可以选择具体道具，奖励用途比"/>
          <p:cNvSpPr>
            <a:spLocks noGrp="1"/>
          </p:cNvSpPr>
          <p:nvPr/>
        </p:nvSpPr>
        <p:spPr>
          <a:xfrm>
            <a:off x="7839075" y="5191760"/>
            <a:ext cx="374332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玩家可以选择具体道具，</a:t>
            </a:r>
            <a:r>
              <a:rPr lang="zh-CN"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</a:t>
            </a: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奖励用途明确。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分享战报与邀请主播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成绩分享和好友邀请分别使用竞争动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成绩分享和好友邀请分别使用竞争动机与题材身份。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27" y="1600200"/>
            <a:ext cx="1889896" cy="4095750"/>
          </a:xfrm>
          <a:prstGeom prst="rect">
            <a:avLst/>
          </a:prstGeom>
        </p:spPr>
      </p:pic>
      <p:sp>
        <p:nvSpPr>
          <p:cNvPr id="14" name="正文 经典模式结算弹窗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经典模式结算弹窗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627" y="1600200"/>
            <a:ext cx="1889896" cy="4095750"/>
          </a:xfrm>
          <a:prstGeom prst="rect">
            <a:avLst/>
          </a:prstGeom>
        </p:spPr>
      </p:pic>
      <p:sp>
        <p:nvSpPr>
          <p:cNvPr id="16" name="正文 主界面-中间-邀请主播弹窗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主界面-中间-邀请主播弹窗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直播战报同时显示主播、销售额、超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直播战报同时显示主播、销售额、超越比例。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“发起擂台赛”提供将个人成绩转为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“发起擂台赛”提供将个人成绩转为好友挑战的入口。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主界面有邀请主播位置，弹窗写“邀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主界面邀请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</a:t>
            </a:r>
            <a:endParaRPr lang="zh-CN"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4"/>
          <p:cNvSpPr>
            <a:spLocks noGrp="1"/>
          </p:cNvSpPr>
          <p:nvPr/>
        </p:nvSpPr>
        <p:spPr>
          <a:xfrm>
            <a:off x="7839075" y="4726781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好友排行提供持续的社交比较入口。"/>
          <p:cNvSpPr>
            <a:spLocks noGrp="1"/>
          </p:cNvSpPr>
          <p:nvPr/>
        </p:nvSpPr>
        <p:spPr>
          <a:xfrm>
            <a:off x="8296275" y="4726781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好友排行提供持续的社交比较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17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895600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895600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装扮收集与新物品提示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图鉴提供缺口，新装扮提示提供查看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图鉴提供缺口，新装扮提示提供查看理由。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77" y="1600200"/>
            <a:ext cx="1889896" cy="4095750"/>
          </a:xfrm>
          <a:prstGeom prst="rect">
            <a:avLst/>
          </a:prstGeom>
        </p:spPr>
      </p:pic>
      <p:sp>
        <p:nvSpPr>
          <p:cNvPr id="14" name="正文 装扮图鉴"/>
          <p:cNvSpPr>
            <a:spLocks noGrp="1"/>
          </p:cNvSpPr>
          <p:nvPr/>
        </p:nvSpPr>
        <p:spPr>
          <a:xfrm>
            <a:off x="457200" y="5781675"/>
            <a:ext cx="212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装扮图鉴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877" y="1600200"/>
            <a:ext cx="1889896" cy="4095750"/>
          </a:xfrm>
          <a:prstGeom prst="rect">
            <a:avLst/>
          </a:prstGeom>
        </p:spPr>
      </p:pic>
      <p:sp>
        <p:nvSpPr>
          <p:cNvPr id="16" name="正文 获得新装版后红点系统"/>
          <p:cNvSpPr>
            <a:spLocks noGrp="1"/>
          </p:cNvSpPr>
          <p:nvPr/>
        </p:nvSpPr>
        <p:spPr>
          <a:xfrm>
            <a:off x="2870200" y="5781675"/>
            <a:ext cx="212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获得新装版后红点系统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877" y="1600200"/>
            <a:ext cx="1889896" cy="4095750"/>
          </a:xfrm>
          <a:prstGeom prst="rect">
            <a:avLst/>
          </a:prstGeom>
        </p:spPr>
      </p:pic>
      <p:sp>
        <p:nvSpPr>
          <p:cNvPr id="18" name="正文 选择装扮"/>
          <p:cNvSpPr>
            <a:spLocks noGrp="1"/>
          </p:cNvSpPr>
          <p:nvPr/>
        </p:nvSpPr>
        <p:spPr>
          <a:xfrm>
            <a:off x="5283200" y="5781675"/>
            <a:ext cx="212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选择装扮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按 6 个部位组织装扮选择。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6 个部位组织装扮选择。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界面显示装扮数量，图鉴区分已有与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界面显示装扮数量，图鉴区分已有与未有物品。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新装扮样本中部位入口出现红点。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新装扮样本中部位入口出现红点。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正文 04"/>
          <p:cNvSpPr>
            <a:spLocks noGrp="1"/>
          </p:cNvSpPr>
          <p:nvPr/>
        </p:nvSpPr>
        <p:spPr>
          <a:xfrm>
            <a:off x="7839075" y="4726781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商店和活动奖励提供不同外观获取渠"/>
          <p:cNvSpPr>
            <a:spLocks noGrp="1"/>
          </p:cNvSpPr>
          <p:nvPr/>
        </p:nvSpPr>
        <p:spPr>
          <a:xfrm>
            <a:off x="8296275" y="4726781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商店和活动奖励提供不同外观获取渠道。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正文 19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每日竞赛与每周展示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排行榜为成绩提供参照，领奖台强化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排行榜为成绩提供参照，领奖台强化排名结果的可见性。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27" y="1600200"/>
            <a:ext cx="1889896" cy="4095750"/>
          </a:xfrm>
          <a:prstGeom prst="rect">
            <a:avLst/>
          </a:prstGeom>
        </p:spPr>
      </p:pic>
      <p:sp>
        <p:nvSpPr>
          <p:cNvPr id="14" name="正文 菜单-每日竞赛"/>
          <p:cNvSpPr>
            <a:spLocks noGrp="1"/>
          </p:cNvSpPr>
          <p:nvPr/>
        </p:nvSpPr>
        <p:spPr>
          <a:xfrm>
            <a:off x="4572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菜单-每日竞赛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627" y="1600200"/>
            <a:ext cx="1889896" cy="4095750"/>
          </a:xfrm>
          <a:prstGeom prst="rect">
            <a:avLst/>
          </a:prstGeom>
        </p:spPr>
      </p:pic>
      <p:sp>
        <p:nvSpPr>
          <p:cNvPr id="16" name="正文 进入游戏后每周结算"/>
          <p:cNvSpPr>
            <a:spLocks noGrp="1"/>
          </p:cNvSpPr>
          <p:nvPr/>
        </p:nvSpPr>
        <p:spPr>
          <a:xfrm>
            <a:off x="4076700" y="5781675"/>
            <a:ext cx="333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进入游戏后每周结算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每日竞赛展示 8 个排名位置和金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每日竞赛展示 8 个排名位置和金币样式的奖金。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玩家可以查看当前排名，再进入挑战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玩家可以查看当前排名，再进入挑战。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每周结算展示主播领奖台、“销冠”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每周结算展示主播领奖台、“销冠”和奖励。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4"/>
          <p:cNvSpPr>
            <a:spLocks noGrp="1"/>
          </p:cNvSpPr>
          <p:nvPr/>
        </p:nvSpPr>
        <p:spPr>
          <a:xfrm>
            <a:off x="7839075" y="4726781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外观与排名同时呈现，为装扮增加展"/>
          <p:cNvSpPr>
            <a:spLocks noGrp="1"/>
          </p:cNvSpPr>
          <p:nvPr/>
        </p:nvSpPr>
        <p:spPr>
          <a:xfrm>
            <a:off x="8296275" y="4726781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外观与排名同时呈现，为装扮增加展示场景。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正文 20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26384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26384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带货达人与任务目标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阶段奖励提供更远目标，任务把目标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阶段奖励提供更远目标，任务把目标分散到多个模块。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77" y="1600200"/>
            <a:ext cx="1889896" cy="4095750"/>
          </a:xfrm>
          <a:prstGeom prst="rect">
            <a:avLst/>
          </a:prstGeom>
        </p:spPr>
      </p:pic>
      <p:sp>
        <p:nvSpPr>
          <p:cNvPr id="14" name="正文 主界面左侧-带货达人"/>
          <p:cNvSpPr>
            <a:spLocks noGrp="1"/>
          </p:cNvSpPr>
          <p:nvPr/>
        </p:nvSpPr>
        <p:spPr>
          <a:xfrm>
            <a:off x="457200" y="5781675"/>
            <a:ext cx="212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主界面左侧-带货达人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877" y="1600200"/>
            <a:ext cx="1889896" cy="4095750"/>
          </a:xfrm>
          <a:prstGeom prst="rect">
            <a:avLst/>
          </a:prstGeom>
        </p:spPr>
      </p:pic>
      <p:sp>
        <p:nvSpPr>
          <p:cNvPr id="16" name="正文 菜单-任务"/>
          <p:cNvSpPr>
            <a:spLocks noGrp="1"/>
          </p:cNvSpPr>
          <p:nvPr/>
        </p:nvSpPr>
        <p:spPr>
          <a:xfrm>
            <a:off x="2870200" y="5781675"/>
            <a:ext cx="212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菜单-任务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877" y="1600200"/>
            <a:ext cx="1889896" cy="4095750"/>
          </a:xfrm>
          <a:prstGeom prst="rect">
            <a:avLst/>
          </a:prstGeom>
        </p:spPr>
      </p:pic>
      <p:sp>
        <p:nvSpPr>
          <p:cNvPr id="18" name="正文 菜单-任务 每周"/>
          <p:cNvSpPr>
            <a:spLocks noGrp="1"/>
          </p:cNvSpPr>
          <p:nvPr/>
        </p:nvSpPr>
        <p:spPr>
          <a:xfrm>
            <a:off x="5283200" y="5781675"/>
            <a:ext cx="212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菜单-任务 每周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01"/>
          <p:cNvSpPr>
            <a:spLocks noGrp="1"/>
          </p:cNvSpPr>
          <p:nvPr/>
        </p:nvSpPr>
        <p:spPr>
          <a:xfrm>
            <a:off x="7839075" y="1619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带货达人在 80% / 85% "/>
          <p:cNvSpPr>
            <a:spLocks noGrp="1"/>
          </p:cNvSpPr>
          <p:nvPr/>
        </p:nvSpPr>
        <p:spPr>
          <a:xfrm>
            <a:off x="8296275" y="1619250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带货达人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激励经典模式游玩，获得更高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endParaRPr lang="zh-CN"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正文 02"/>
          <p:cNvSpPr>
            <a:spLocks noGrp="1"/>
          </p:cNvSpPr>
          <p:nvPr/>
        </p:nvSpPr>
        <p:spPr>
          <a:xfrm>
            <a:off x="7839075" y="2655094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正文 每日任务覆盖关卡、故事模式和每日"/>
          <p:cNvSpPr>
            <a:spLocks noGrp="1"/>
          </p:cNvSpPr>
          <p:nvPr/>
        </p:nvSpPr>
        <p:spPr>
          <a:xfrm>
            <a:off x="8296275" y="2655094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每日任务覆盖关卡、故事模式和每日竞赛，提供全勤目标。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正文 03"/>
          <p:cNvSpPr>
            <a:spLocks noGrp="1"/>
          </p:cNvSpPr>
          <p:nvPr/>
        </p:nvSpPr>
        <p:spPr>
          <a:xfrm>
            <a:off x="7839075" y="3690938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每周任务覆盖商店消费、故事关卡、"/>
          <p:cNvSpPr>
            <a:spLocks noGrp="1"/>
          </p:cNvSpPr>
          <p:nvPr/>
        </p:nvSpPr>
        <p:spPr>
          <a:xfrm>
            <a:off x="8296275" y="3690938"/>
            <a:ext cx="3438525" cy="9596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每周任务覆盖商店消费、故事关卡、超越比例和竞赛名次。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正文 21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210820" y="595630"/>
            <a:ext cx="1990725" cy="80645"/>
          </a:xfrm>
          <a:prstGeom prst="rect">
            <a:avLst/>
          </a:prstGeom>
          <a:solidFill>
            <a:srgbClr val="D7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217170" y="220980"/>
            <a:ext cx="1990725" cy="398780"/>
          </a:xfrm>
          <a:prstGeom prst="rect">
            <a:avLst/>
          </a:prstGeom>
          <a:noFill/>
          <a:ln>
            <a:solidFill>
              <a:srgbClr val="D72828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00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结论与借鉴</a:t>
            </a:r>
            <a:endParaRPr sz="2000" b="1">
              <a:solidFill>
                <a:srgbClr val="D72828"/>
              </a:solidFill>
            </a:endParaRPr>
          </a:p>
        </p:txBody>
      </p:sp>
      <p:sp>
        <p:nvSpPr>
          <p:cNvPr id="12" name="正文 可借鉴的部分是需求与入口的连接方"/>
          <p:cNvSpPr>
            <a:spLocks noGrp="1"/>
          </p:cNvSpPr>
          <p:nvPr/>
        </p:nvSpPr>
        <p:spPr>
          <a:xfrm>
            <a:off x="457200" y="9715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可借鉴的部分是需求与入口的连接方式。</a:t>
            </a:r>
            <a:endParaRPr sz="1725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7377" y="1600200"/>
            <a:ext cx="1889896" cy="4095750"/>
          </a:xfrm>
          <a:prstGeom prst="rect">
            <a:avLst/>
          </a:prstGeom>
        </p:spPr>
      </p:pic>
      <p:sp>
        <p:nvSpPr>
          <p:cNvPr id="14" name="正文 装扮"/>
          <p:cNvSpPr>
            <a:spLocks noGrp="1"/>
          </p:cNvSpPr>
          <p:nvPr/>
        </p:nvSpPr>
        <p:spPr>
          <a:xfrm>
            <a:off x="457200" y="5781675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373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</a:t>
            </a:r>
            <a:endParaRPr sz="1125" b="0">
              <a:solidFill>
                <a:srgbClr val="7373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正文 题材包装"/>
          <p:cNvSpPr>
            <a:spLocks noGrp="1"/>
          </p:cNvSpPr>
          <p:nvPr/>
        </p:nvSpPr>
        <p:spPr>
          <a:xfrm>
            <a:off x="6696075" y="1619250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题材包装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正文 销售额、工资单、销冠使用同一套主"/>
          <p:cNvSpPr>
            <a:spLocks noGrp="1"/>
          </p:cNvSpPr>
          <p:nvPr/>
        </p:nvSpPr>
        <p:spPr>
          <a:xfrm>
            <a:off x="6696075" y="1962150"/>
            <a:ext cx="5038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销售额、工资单、销冠使用同一套主播叙事。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正文 商业化触达"/>
          <p:cNvSpPr>
            <a:spLocks noGrp="1"/>
          </p:cNvSpPr>
          <p:nvPr/>
        </p:nvSpPr>
        <p:spPr>
          <a:xfrm>
            <a:off x="6696075" y="2655094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商业化触达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正文 赛前储备满足道具准备，商店刷新满"/>
          <p:cNvSpPr>
            <a:spLocks noGrp="1"/>
          </p:cNvSpPr>
          <p:nvPr/>
        </p:nvSpPr>
        <p:spPr>
          <a:xfrm>
            <a:off x="6696075" y="2997994"/>
            <a:ext cx="5038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赛前储备满足道具准备，商店刷新满足商品选择。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正文 长期目标"/>
          <p:cNvSpPr>
            <a:spLocks noGrp="1"/>
          </p:cNvSpPr>
          <p:nvPr/>
        </p:nvSpPr>
        <p:spPr>
          <a:xfrm>
            <a:off x="6696075" y="3690938"/>
            <a:ext cx="50387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长期目标</a:t>
            </a:r>
            <a:endParaRPr sz="16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正文 装扮从奖励端进入直播间、战报和领"/>
          <p:cNvSpPr>
            <a:spLocks noGrp="1"/>
          </p:cNvSpPr>
          <p:nvPr/>
        </p:nvSpPr>
        <p:spPr>
          <a:xfrm>
            <a:off x="6696075" y="4033838"/>
            <a:ext cx="5038725" cy="6643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装扮从奖励端进入直播间、战报和领奖台展示。</a:t>
            </a:r>
            <a:endParaRPr sz="1425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正文 22"/>
          <p:cNvSpPr>
            <a:spLocks noGrp="1"/>
          </p:cNvSpPr>
          <p:nvPr/>
        </p:nvSpPr>
        <p:spPr>
          <a:xfrm>
            <a:off x="11525250" y="6429375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7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050" b="1">
              <a:solidFill>
                <a:srgbClr val="D7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TABLE_BEAUTIFY" val="smartTable{337b6436-26d7-405e-8327-10b4226db544}"/>
  <p:tag name="TABLE_ENDDRAG_ORIGIN_RECT" val="543*312"/>
  <p:tag name="TABLE_ENDDRAG_RECT" val="36*114*543*312"/>
</p:tagLst>
</file>

<file path=ppt/tags/tag2.xml><?xml version="1.0" encoding="utf-8"?>
<p:tagLst xmlns:p="http://schemas.openxmlformats.org/presentationml/2006/main">
  <p:tag name="KSO_WM_UNIT_TABLE_BEAUTIFY" val="smartTable{69a091d6-e4fc-45dc-b3d4-eb3e9497a863}"/>
</p:tagLst>
</file>

<file path=ppt/tags/tag3.xml><?xml version="1.0" encoding="utf-8"?>
<p:tagLst xmlns:p="http://schemas.openxmlformats.org/presentationml/2006/main">
  <p:tag name="KSO_WM_UNIT_TABLE_BEAUTIFY" val="smartTable{a13bb0ce-ac00-4404-ac88-5c7c84111197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2559</Words>
  <Application>WPS 演示</Application>
  <PresentationFormat>Converted Presentation</PresentationFormat>
  <Paragraphs>562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Arial</vt:lpstr>
      <vt:lpstr>Wingdings</vt:lpstr>
      <vt:lpstr>微软雅黑</vt:lpstr>
      <vt:lpstr>Segoe UI Black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yufan</cp:lastModifiedBy>
  <cp:revision>25</cp:revision>
  <dcterms:created xsi:type="dcterms:W3CDTF">2026-10-12T08:45:00Z</dcterms:created>
  <dcterms:modified xsi:type="dcterms:W3CDTF">2026-10-13T03:30:21Z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74B906883F734FC487601219C23B36E0</vt:lpwstr>
  </property>
  <property fmtid="{D5CDD505-2E9C-101B-9397-08002B2CF9AE}" pid="3" name="KSOProductBuildVer">
    <vt:lpwstr>2052-11.1.0.10578</vt:lpwstr>
  </property>
</Properties>
</file>