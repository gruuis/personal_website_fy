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7" r:id="rId8"/>
    <p:sldId id="278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6740" autoAdjust="0"/>
  </p:normalViewPr>
  <p:slideViewPr>
    <p:cSldViewPr snapToGrid="0">
      <p:cViewPr varScale="1">
        <p:scale>
          <a:sx n="84" d="100"/>
          <a:sy n="8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3199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演讲稿</a:t>
            </a:r>
            <a:r>
              <a:rPr lang="en-US" altLang="zh-CN" dirty="0"/>
              <a:t>】</a:t>
            </a:r>
          </a:p>
          <a:p>
            <a:r>
              <a:rPr lang="zh-CN" altLang="en-US" dirty="0"/>
              <a:t>这是一个第三人称线性调查与战斗关卡，融合中式微恐氛围，目标体验时长约八到十分钟。接下来我会从世界观、空间、流程、核心玩法和 </a:t>
            </a:r>
            <a:r>
              <a:rPr lang="en-US" altLang="zh-CN" dirty="0"/>
              <a:t>Boss </a:t>
            </a:r>
            <a:r>
              <a:rPr lang="zh-CN" altLang="en-US" dirty="0"/>
              <a:t>战几个方面展开。</a:t>
            </a:r>
          </a:p>
          <a:p>
            <a:endParaRPr lang="zh-CN" altLang="en-US" dirty="0"/>
          </a:p>
          <a:p>
            <a:r>
              <a:rPr dirty="0"/>
              <a:t>[Sources]</a:t>
            </a:r>
          </a:p>
          <a:p>
            <a:r>
              <a:rPr dirty="0"/>
              <a:t>- Docs/Submission_题目2/题目2_主流程故事板.docx（内嵌实机截图 image3）</a:t>
            </a:r>
          </a:p>
          <a:p>
            <a:r>
              <a:rPr dirty="0"/>
              <a:t>- Assets/Scenes/</a:t>
            </a:r>
            <a:r>
              <a:rPr dirty="0" err="1"/>
              <a:t>YizhuangMystery.unity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演讲稿</a:t>
            </a:r>
            <a:r>
              <a:rPr lang="en-US" altLang="zh-CN" dirty="0"/>
              <a:t>】</a:t>
            </a:r>
          </a:p>
          <a:p>
            <a:r>
              <a:rPr lang="zh-CN" altLang="en-US" dirty="0"/>
              <a:t>这套设计的核心，是用查案为目标驱动整个流程。玩家先收集证据建立疑案，再通过修钟学习声音规则，下井后经历追逐、共振谜题与组合战，最后用账册任务道具完成证据闭环。整个过程遵循观察、理解、执行、反转和结算的节奏。</a:t>
            </a:r>
          </a:p>
          <a:p>
            <a:endParaRPr lang="zh-CN" altLang="en-US" dirty="0"/>
          </a:p>
          <a:p>
            <a:r>
              <a:rPr dirty="0"/>
              <a:t>[Sources]</a:t>
            </a:r>
          </a:p>
          <a:p>
            <a:r>
              <a:rPr dirty="0"/>
              <a:t>- Docs/Submission_题目2/题目2_全流程设计文档.docx</a:t>
            </a:r>
          </a:p>
          <a:p>
            <a:r>
              <a:rPr dirty="0"/>
              <a:t>- Assets/Scripts/</a:t>
            </a:r>
            <a:r>
              <a:rPr lang="en-US" dirty="0" err="1"/>
              <a:t>QuestDirector.cs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演讲稿</a:t>
            </a:r>
            <a:r>
              <a:rPr lang="en-US" altLang="zh-CN" dirty="0"/>
              <a:t>】</a:t>
            </a:r>
          </a:p>
          <a:p>
            <a:r>
              <a:rPr lang="zh-CN" altLang="en-US" dirty="0"/>
              <a:t>玩家的身份是县衙巡检，任务是调查十二名押运人员和三辆货车的失踪。表面上，线索指向荒寺、残钟、枯井和祷文；随着调查深入，玩家会发现荒寺地下其实是一个镇压与走私据点，并且案件牵涉县中内应。</a:t>
            </a:r>
          </a:p>
          <a:p>
            <a:endParaRPr lang="zh-CN" altLang="en-US" dirty="0"/>
          </a:p>
          <a:p>
            <a:r>
              <a:rPr dirty="0"/>
              <a:t>[Sources]</a:t>
            </a:r>
          </a:p>
          <a:p>
            <a:r>
              <a:rPr dirty="0"/>
              <a:t>- Assets/Generated/Narrative/</a:t>
            </a:r>
            <a:r>
              <a:rPr dirty="0" err="1"/>
              <a:t>NarrativeDatabase.asset</a:t>
            </a:r>
            <a:endParaRPr dirty="0"/>
          </a:p>
          <a:p>
            <a:r>
              <a:rPr dirty="0"/>
              <a:t>- Assets/Scripts/</a:t>
            </a:r>
            <a:r>
              <a:rPr dirty="0" err="1"/>
              <a:t>NarrativeDatabase.cs</a:t>
            </a:r>
            <a:endParaRPr dirty="0"/>
          </a:p>
          <a:p>
            <a:r>
              <a:rPr dirty="0"/>
              <a:t>- Docs/Submission_题目2/题目2_主流程故事板.docx（内嵌实机截图 image2）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演讲稿</a:t>
            </a:r>
            <a:r>
              <a:rPr lang="en-US" altLang="zh-CN" dirty="0"/>
              <a:t>】</a:t>
            </a:r>
          </a:p>
          <a:p>
            <a:r>
              <a:rPr lang="zh-CN" altLang="en-US" dirty="0"/>
              <a:t>证据链既承担叙事，也是流程条件的一部分。车辙确认货车到场，旗帜和血迹说明押运队遭遇冲突，钟舌、夜记与祷文把注意力引向夜间钟声，最终账册揭示走私网络。关键组合数量被控制得比较少，让短流程始终清晰可达。</a:t>
            </a:r>
          </a:p>
          <a:p>
            <a:endParaRPr lang="zh-CN" altLang="en-US" dirty="0"/>
          </a:p>
          <a:p>
            <a:r>
              <a:rPr dirty="0"/>
              <a:t>[Sources]</a:t>
            </a:r>
          </a:p>
          <a:p>
            <a:r>
              <a:rPr dirty="0"/>
              <a:t>- Assets/Scripts/</a:t>
            </a:r>
            <a:r>
              <a:rPr lang="en-US" dirty="0" err="1"/>
              <a:t>QuestDirector.cs</a:t>
            </a:r>
            <a:endParaRPr dirty="0"/>
          </a:p>
          <a:p>
            <a:r>
              <a:rPr dirty="0"/>
              <a:t>- Assets/Scripts/</a:t>
            </a:r>
            <a:r>
              <a:rPr lang="en-US" dirty="0" err="1"/>
              <a:t>NarrativeDatabase.cs</a:t>
            </a:r>
            <a:endParaRPr dirty="0"/>
          </a:p>
          <a:p>
            <a:r>
              <a:rPr dirty="0"/>
              <a:t>- Docs/Submission_题目2/题目2_全流程设计文档.docx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环境节奏分为地表与地下两种体验。地表以冷色山雾、稀疏光源和破损院落营造开放调查感，并逐步把玩家收束到钟与井。进入地下后，低顶甬道、湿石、折叠路径和回声增强压迫，最终在开阔大厅释放战斗空间。</a:t>
            </a:r>
          </a:p>
          <a:p>
            <a:endParaRPr lang="zh-CN" altLang="en-US"/>
          </a:p>
          <a:p>
            <a:r>
              <a:rPr dirty="0"/>
              <a:t>[Sources]</a:t>
            </a:r>
          </a:p>
          <a:p>
            <a:r>
              <a:rPr dirty="0"/>
              <a:t>- Docs/Submission_题目2/题目2_全流程设计文档.docx</a:t>
            </a:r>
          </a:p>
          <a:p>
            <a:r>
              <a:rPr dirty="0"/>
              <a:t>- Docs/Submission_题目2/题目2_主流程故事板.docx（内嵌实机截图 image3、image8）</a:t>
            </a:r>
          </a:p>
          <a:p>
            <a:r>
              <a:rPr dirty="0"/>
              <a:t>- Assets/Scripts/</a:t>
            </a:r>
            <a:r>
              <a:rPr lang="en-US"/>
              <a:t>GameBootstrap.cs</a:t>
            </a:r>
            <a:endParaRPr dirty="0"/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演讲稿</a:t>
            </a:r>
            <a:r>
              <a:rPr lang="en-US" altLang="zh-CN" dirty="0"/>
              <a:t>】</a:t>
            </a:r>
          </a:p>
          <a:p>
            <a:r>
              <a:rPr lang="zh-CN" altLang="en-US" dirty="0"/>
              <a:t>从总平面看，地下入口是整个关卡的空间翻转点。玩家在地表完成调查和修钟，随后进入地下，依次经历教学、追逐和谜题，再进入镇压大厅完成决战，取得账册并前往崖口撤离。路线线性，但每一段的空间感和玩法职责不同。</a:t>
            </a:r>
          </a:p>
          <a:p>
            <a:endParaRPr lang="zh-CN" altLang="en-US" dirty="0"/>
          </a:p>
          <a:p>
            <a:r>
              <a:rPr dirty="0"/>
              <a:t>[Sources]</a:t>
            </a:r>
          </a:p>
          <a:p>
            <a:r>
              <a:rPr dirty="0"/>
              <a:t>- Docs/Submission_题目2/Diagrams/01_全流程2D俯视图.png</a:t>
            </a:r>
          </a:p>
          <a:p>
            <a:r>
              <a:rPr dirty="0"/>
              <a:t>- Docs/Submission_题目2/题目2_全流程设计文档.docx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3093E-23FC-50AD-DFF1-30D92C28F6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6E85FB-2B6E-8E5A-0A7B-874AA327B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F71C28-0F54-941B-E232-DA99327D4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地表部分承担信息建立和安全教学。玩家先在外院寻找车辙、旗帜与血迹，再进入内殿获取钟舌、夜记和祷文，最后回到钟院修复残钟。路径围绕中心区域展开，让玩家在有限范围内形成清楚的空间记忆。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Docs/Submission_题目2/Diagrams/01_全流程2D俯视图.png</a:t>
            </a:r>
          </a:p>
          <a:p>
            <a:r>
              <a:t>- Docs/Submission_题目2/题目2_全流程设计文档.docx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7ED76-2813-791B-A80F-0A6BC15E3E66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18300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089F-25F5-61A4-F812-AE6815BDA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07E12A-8360-0333-10BC-709FC1672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872174-C95F-6C94-8996-2AAEE15C73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地下部分把路线变得更狭窄、更深入。下井后先安排单职能敌人教学，再用井蠊追逐制造压力峰值，随后通过甬道与共振谜题降速，最后进入镇压大厅。完成 </a:t>
            </a:r>
            <a:r>
              <a:rPr lang="en-US" altLang="zh-CN"/>
              <a:t>Boss </a:t>
            </a:r>
            <a:r>
              <a:rPr lang="zh-CN" altLang="en-US"/>
              <a:t>战后，玩家取得账册并从崖口结束关卡。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Docs/Submission_题目2/Diagrams/01_全流程2D俯视图.png</a:t>
            </a:r>
          </a:p>
          <a:p>
            <a:r>
              <a:t>- Docs/Submission_题目2/题目2_全流程设计文档.docx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B3322-7805-3F3A-34B3-3E796D21C1B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98656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流程节拍采用信息密度与生存压力交替的方式。简报和调查负责建立问题，修钟与单职能敌人负责学习规则，井蠊追逐形成第一次峰值，回声甬道和共振谜题让玩家重新组织信息，最后通过 </a:t>
            </a:r>
            <a:r>
              <a:rPr lang="en-US" altLang="zh-CN"/>
              <a:t>S60 </a:t>
            </a:r>
            <a:r>
              <a:rPr lang="zh-CN" altLang="en-US"/>
              <a:t>决战和账册回收完成高潮与结算。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Docs/Submission_题目2/Diagrams/03_节拍强度曲线.png</a:t>
            </a:r>
          </a:p>
          <a:p>
            <a:r>
              <a:t>- Docs/Submission_题目2/题目2_全流程设计文档.docx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地表流程通过三次确认把玩家自然引向钟与井。外院证据确认押运队来过，内殿材料确认钟声与夜间活动有关，修钟则把推断转化为操作。玩家在相对安全的环境中学会钟声规则，并亲手打开地下入口。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Assets/Scripts/QuestDirector.cs</a:t>
            </a:r>
          </a:p>
          <a:p>
            <a:r>
              <a:t>- Assets/Scripts/WorldInteractions.cs</a:t>
            </a:r>
          </a:p>
          <a:p>
            <a:r>
              <a:t>- Docs/Submission_题目2/题目2_主流程故事板.docx（内嵌实机截图 image2、image3、image5）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修钟玩法分成六个清晰步骤：安装钟舌、恢复配重，然后按照轻击、重击、等待两秒、再次轻击的顺序输入。正确序列会开启井口；错误输入只会重置，不惩罚玩家。这样既能形成记忆点，也能保证首次教学的可理解性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Assets/Scripts/QuestDirector.cs</a:t>
            </a:r>
          </a:p>
          <a:p>
            <a:r>
              <a:t>- Assets/Scripts/WorldInteractions.cs</a:t>
            </a:r>
          </a:p>
          <a:p>
            <a:r>
              <a:t>- Docs/Submission_题目2/题目2_主流程故事板.docx（内嵌实机截图 image5）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下井是一段明确的垂直转场。高度从地表的零米下降到地下约负四到负十二米，同时视野收窄、光源减少、回声增强，敌人正式出现。它不仅改变位置，也是在告诉玩家：从这里开始，调查规则将与生存压力结合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Docs/Submission_题目2/题目2_全流程设计文档.docx</a:t>
            </a:r>
          </a:p>
          <a:p>
            <a:r>
              <a:t>- Docs/Submission_题目2/题目2_主流程故事板.docx（内嵌实机截图 image8）</a:t>
            </a:r>
          </a:p>
          <a:p>
            <a:r>
              <a:t>- Assets/Scripts/GameBootstrap.cs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进入地下后，我用三段单职能遭遇拆解战斗规则。车夫教玩家横向闪避并诱导撞墙，提灯童子训练脚下落圈判断，钟僧则要求识别蓄力和范围脉冲。终局并不再引入陌生机制，而是把已学会的对策叠加成优先级问题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Assets/Scripts/EnemyAI.cs</a:t>
            </a:r>
          </a:p>
          <a:p>
            <a:r>
              <a:t>- Docs/Submission_题目2/题目2_全流程设计文档.docx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井蠊追逐是全流程第一次纯生存峰值。小型虫群和坍塌先做预告，随后追逐体读取玩家稍早的位置，以约六点八到八米每秒的速度持续逼近。玩家必须穿过折叠甬道抵达断桥；关闭生命恢复，让这一段更强调路线和执行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Assets/Scripts/RoachChase.cs</a:t>
            </a:r>
          </a:p>
          <a:p>
            <a:r>
              <a:t>- Assets/Scripts/PlayerController.cs</a:t>
            </a:r>
          </a:p>
          <a:p>
            <a:r>
              <a:t>- Docs/Submission_题目2/题目2_主流程故事板.docx（内嵌实机截图 image9）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封声甬道主要用于降速、导航和证据回收。玩家沿交错隔墙前进，分段触发青灯与空间提示音，同时拾取车辙痕迹和官造断刃。这里的主引导仍由灯光和廊道结构承担，声音负责增强阶段反馈，并为后续共振谜题预热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Docs/Submission_题目2/题目2_全流程设计文档.docx</a:t>
            </a:r>
          </a:p>
          <a:p>
            <a:r>
              <a:t>- Assets/Scripts/AudioRuntime.cs</a:t>
            </a:r>
          </a:p>
          <a:p>
            <a:r>
              <a:t>- Assets/Scripts/AmbientSoundscape.cs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这一组谜题包含四步交互：调整货车配重、控制挡板对齐光路、取下两道封条，再根据约二点四秒的回声循环拉绳共振。玩家也可以使用紧急绞盘直接开门，但会激活两名守卫，把省略谜题的便利转化为战斗成本。</a:t>
            </a:r>
          </a:p>
          <a:p>
            <a:endParaRPr lang="zh-CN" altLang="en-US"/>
          </a:p>
          <a:p>
            <a:r>
              <a:rPr dirty="0"/>
              <a:t>[Sources]</a:t>
            </a:r>
          </a:p>
          <a:p>
            <a:r>
              <a:rPr dirty="0"/>
              <a:t>- Assets/Scripts/</a:t>
            </a:r>
            <a:r>
              <a:rPr lang="en-US"/>
              <a:t>WorldInteractions.cs</a:t>
            </a:r>
            <a:r>
              <a:rPr dirty="0"/>
              <a:t> </a:t>
            </a:r>
            <a:r>
              <a:rPr lang="zh-CN" altLang="en-US"/>
              <a:t>及其</a:t>
            </a:r>
            <a:r>
              <a:rPr dirty="0"/>
              <a:t> partial </a:t>
            </a:r>
            <a:r>
              <a:rPr lang="zh-CN" altLang="en-US"/>
              <a:t>文件</a:t>
            </a:r>
            <a:endParaRPr dirty="0"/>
          </a:p>
          <a:p>
            <a:r>
              <a:rPr dirty="0"/>
              <a:t>- Assets/Scripts/</a:t>
            </a:r>
            <a:r>
              <a:rPr lang="en-US"/>
              <a:t>QuestDirector.cs</a:t>
            </a:r>
            <a:endParaRPr dirty="0"/>
          </a:p>
          <a:p>
            <a:r>
              <a:rPr dirty="0"/>
              <a:t>- Docs/Submission_题目2/题目2_重要玩法片段设计文档.docx</a:t>
            </a:r>
          </a:p>
          <a:p>
            <a:r>
              <a:rPr dirty="0"/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终局大厅约二十四乘二十四米，中央和侧翼都可以绕行。开局最重要的对象是警钟：它有五十八点生命，并启动五点八秒倒计时。若未及时破坏，就会触发一次三人增援，而且警报状态跨死亡保留，因此玩家需要迅速做出路线选择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Docs/Submission_题目2/Diagrams/02_S60重点玩法2D俯视图.png</a:t>
            </a:r>
          </a:p>
          <a:p>
            <a:r>
              <a:t>- Docs/Submission_题目2/题目2_重要玩法片段设计文档.docx</a:t>
            </a:r>
          </a:p>
          <a:p>
            <a:r>
              <a:t>- Assets/Scripts/GameBootstrap.cs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决战由四种职能共同构成。车夫用冲撞迫使横移，提灯童子用落圈迫使离位，钟僧通过脉冲和强化改变击杀优先级，灰衣 </a:t>
            </a:r>
            <a:r>
              <a:rPr lang="en-US" altLang="zh-CN"/>
              <a:t>Boss </a:t>
            </a:r>
            <a:r>
              <a:rPr lang="zh-CN" altLang="en-US"/>
              <a:t>则持续施加正面压力。挑战的重点不是记忆新招式，而是在熟悉机制叠加后正确分配注意力。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Assets/Scripts/EnemyAI.cs</a:t>
            </a:r>
          </a:p>
          <a:p>
            <a:r>
              <a:t>- Docs/Submission_题目2/题目2_重要玩法片段设计文档.docx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开局有两条主要路线。左路先切警钟，可以在倒计时内阻止增援，但会直接暴露在多种攻击下；右路先借掩体击杀钟僧，能够移除脉冲与群体强化，却可能因为耗时触发增援。两条路线没有绝对答案，差异在于玩家愿意承担哪种风险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Docs/Submission_题目2/题目2_重要玩法片段设计文档.docx</a:t>
            </a:r>
          </a:p>
          <a:p>
            <a:r>
              <a:t>- Assets/Scripts/WorldInteractions.cs 及其 partial 文件</a:t>
            </a:r>
          </a:p>
          <a:p>
            <a:r>
              <a:t>- Docs/Submission_题目2/题目2_主流程故事板.docx（内嵌实机截图 image12、image13）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en-US" altLang="zh-CN"/>
              <a:t>Boss </a:t>
            </a:r>
            <a:r>
              <a:rPr lang="zh-CN" altLang="en-US"/>
              <a:t>的压迫感由尺度、色彩、站位和声场共同建立。灰衣 </a:t>
            </a:r>
            <a:r>
              <a:rPr lang="en-US" altLang="zh-CN"/>
              <a:t>Boss </a:t>
            </a:r>
            <a:r>
              <a:rPr lang="zh-CN" altLang="en-US"/>
              <a:t>的整体尺度约为普通角色的一点二八倍，初始位于大厅后部；阴暗环境中，金色和青色高光主要用于区分敌人职能。警钟倒计时先制造节奏压力，再让 </a:t>
            </a:r>
            <a:r>
              <a:rPr lang="en-US" altLang="zh-CN"/>
              <a:t>Boss </a:t>
            </a:r>
            <a:r>
              <a:rPr lang="zh-CN" altLang="en-US"/>
              <a:t>正式接管战场。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Assets/Scripts/GameBootstrap.cs</a:t>
            </a:r>
          </a:p>
          <a:p>
            <a:r>
              <a:t>- Assets/Scripts/EnemyAI.cs</a:t>
            </a:r>
          </a:p>
          <a:p>
            <a:r>
              <a:t>- Assets/Scripts/AmbientSoundscape.cs</a:t>
            </a:r>
          </a:p>
          <a:p>
            <a:r>
              <a:t>- Docs/Submission_题目2/题目2_主流程故事板.docx（内嵌实机截图 image14）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en-US" altLang="zh-CN"/>
              <a:t>Boss </a:t>
            </a:r>
            <a:r>
              <a:rPr lang="zh-CN" altLang="en-US"/>
              <a:t>共有两个主要阶段。第一阶段以二百六十点生命、扇形重击和稳定追击建立基础压力；生命降到百分之六十时，会播放警示音并强化自身及十六米范围内的友军五秒。玩家需要利用零点五六秒预警侧闪，同时优先处理强化来源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Assets/Scripts/EnemyAI.cs</a:t>
            </a:r>
          </a:p>
          <a:p>
            <a:r>
              <a:t>- Assets/Scripts/QuestDirector.cs</a:t>
            </a:r>
          </a:p>
          <a:p>
            <a:r>
              <a:t>- Docs/Submission_题目2/题目2_重要玩法片段设计文档.docx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en-US" altLang="zh-CN"/>
              <a:t>Boss </a:t>
            </a:r>
            <a:r>
              <a:rPr lang="zh-CN" altLang="en-US"/>
              <a:t>被击败后，账册解锁并把任务推进到最终撤离。账册将货车、押运队、夜间活动和地下据点汇总为走私网络与县中内应的真相。失败规则则保留证据、已击败敌人和已触发警报波次，让重试聚焦当前挑战，而不是重复前面的调查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Assets/Scripts/QuestDirector.cs</a:t>
            </a:r>
          </a:p>
          <a:p>
            <a:r>
              <a:t>- Assets/Scripts/EnemyAI.cs</a:t>
            </a:r>
          </a:p>
          <a:p>
            <a:r>
              <a:t>- Docs/Submission_题目2/题目2_主流程故事板.docx（内嵌实机截图 image15）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【</a:t>
            </a:r>
            <a:r>
              <a:rPr lang="zh-CN" altLang="en-US"/>
              <a:t>演讲稿</a:t>
            </a:r>
            <a:r>
              <a:rPr lang="en-US" altLang="zh-CN"/>
              <a:t>】</a:t>
            </a:r>
          </a:p>
          <a:p>
            <a:r>
              <a:rPr lang="zh-CN" altLang="en-US"/>
              <a:t>最后总结这套关卡的设计：用一条案件主线组织流程，用地表到地下的一次空间翻转改变情绪，用三段拆分教学为组合战做准备，再通过警钟与钟僧形成有后果的路线选择。最终，</a:t>
            </a:r>
            <a:r>
              <a:rPr lang="en-US" altLang="zh-CN"/>
              <a:t>Boss</a:t>
            </a:r>
            <a:r>
              <a:rPr lang="zh-CN" altLang="en-US"/>
              <a:t>、账册、内应证据和崖口撤离共同完成闭环。谢谢大家。</a:t>
            </a:r>
          </a:p>
          <a:p>
            <a:endParaRPr lang="zh-CN" altLang="en-US"/>
          </a:p>
          <a:p>
            <a:r>
              <a:t>[Sources]</a:t>
            </a:r>
          </a:p>
          <a:p>
            <a:r>
              <a:t>- Docs/Submission_题目2/题目2_全流程设计文档.docx</a:t>
            </a:r>
          </a:p>
          <a:p>
            <a:r>
              <a:t>- Assets/Scripts/GameBootstrap.cs</a:t>
            </a:r>
          </a:p>
          <a:p>
            <a:r>
              <a:t>- Assets/Scripts/QuestDirector.cs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4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t="1526" b="152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CD8518F-346A-40AD-98DF-1E1CEC3D05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3EA6F8-2F90-44ED-A50A-DB52971BB83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953000" cy="685800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883B60-E7AE-4EB9-B503-A7A056843C1D}"/>
              </a:ext>
            </a:extLst>
          </p:cNvPr>
          <p:cNvSpPr>
            <a:spLocks noGrp="1"/>
          </p:cNvSpPr>
          <p:nvPr/>
        </p:nvSpPr>
        <p:spPr>
          <a:xfrm>
            <a:off x="704850" y="800100"/>
            <a:ext cx="552450" cy="5715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ADC53A7-9B2F-4192-A2EB-FFABD3265AA7}"/>
              </a:ext>
            </a:extLst>
          </p:cNvPr>
          <p:cNvSpPr>
            <a:spLocks noGrp="1"/>
          </p:cNvSpPr>
          <p:nvPr/>
        </p:nvSpPr>
        <p:spPr>
          <a:xfrm>
            <a:off x="704850" y="102870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12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12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LEVEL DESIGN DEMO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5E19974-7959-476D-9B8E-B679CAD9BF5D}"/>
              </a:ext>
            </a:extLst>
          </p:cNvPr>
          <p:cNvSpPr>
            <a:spLocks noGrp="1"/>
          </p:cNvSpPr>
          <p:nvPr/>
        </p:nvSpPr>
        <p:spPr>
          <a:xfrm>
            <a:off x="704850" y="1600200"/>
            <a:ext cx="495300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45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45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荒寺夜钟</a:t>
            </a:r>
          </a:p>
          <a:p>
            <a:pPr>
              <a:defRPr sz="45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45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义庄疑案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387C625-9633-4ADA-B7B0-AEB617385081}"/>
              </a:ext>
            </a:extLst>
          </p:cNvPr>
          <p:cNvSpPr>
            <a:spLocks noGrp="1"/>
          </p:cNvSpPr>
          <p:nvPr/>
        </p:nvSpPr>
        <p:spPr>
          <a:xfrm>
            <a:off x="723900" y="3600450"/>
            <a:ext cx="5334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>
                <a:solidFill>
                  <a:srgbClr val="E5E4DF"/>
                </a:solidFill>
                <a:latin typeface="SimSun"/>
                <a:ea typeface="SimSun"/>
                <a:cs typeface="SimSun"/>
              </a:defRPr>
            </a:pPr>
            <a:r>
              <a:rPr sz="1575">
                <a:solidFill>
                  <a:srgbClr val="E5E4DF"/>
                </a:solidFill>
                <a:latin typeface="SimSun"/>
                <a:ea typeface="SimSun"/>
                <a:cs typeface="SimSun"/>
              </a:rPr>
              <a:t>世界观 · 环境 · 平面图 · 流程 · 玩法 · Boss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929EBA-4DF4-466F-B7CF-8387762388EC}"/>
              </a:ext>
            </a:extLst>
          </p:cNvPr>
          <p:cNvSpPr>
            <a:spLocks noGrp="1"/>
          </p:cNvSpPr>
          <p:nvPr/>
        </p:nvSpPr>
        <p:spPr>
          <a:xfrm>
            <a:off x="723900" y="4667250"/>
            <a:ext cx="4476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C6CBCB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C6CBCB"/>
                </a:solidFill>
                <a:latin typeface="SimSun"/>
                <a:ea typeface="SimSun"/>
                <a:cs typeface="SimSun"/>
              </a:rPr>
              <a:t>第三人称线性调查</a:t>
            </a:r>
            <a:r>
              <a:rPr sz="1275" dirty="0">
                <a:solidFill>
                  <a:srgbClr val="C6CBCB"/>
                </a:solidFill>
                <a:latin typeface="SimSun"/>
                <a:ea typeface="SimSun"/>
                <a:cs typeface="SimSun"/>
              </a:rPr>
              <a:t> / </a:t>
            </a:r>
            <a:r>
              <a:rPr lang="zh-CN" altLang="en-US" sz="1275" dirty="0">
                <a:solidFill>
                  <a:srgbClr val="C6CBCB"/>
                </a:solidFill>
                <a:latin typeface="SimSun"/>
                <a:ea typeface="SimSun"/>
                <a:cs typeface="SimSun"/>
              </a:rPr>
              <a:t>战斗</a:t>
            </a:r>
            <a:r>
              <a:rPr sz="1275" dirty="0">
                <a:solidFill>
                  <a:srgbClr val="C6CBCB"/>
                </a:solidFill>
                <a:latin typeface="SimSun"/>
                <a:ea typeface="SimSun"/>
                <a:cs typeface="SimSun"/>
              </a:rPr>
              <a:t> / </a:t>
            </a:r>
            <a:r>
              <a:rPr sz="1275" dirty="0" err="1">
                <a:solidFill>
                  <a:srgbClr val="C6CBCB"/>
                </a:solidFill>
                <a:latin typeface="SimSun"/>
                <a:ea typeface="SimSun"/>
                <a:cs typeface="SimSun"/>
              </a:rPr>
              <a:t>中式微恐</a:t>
            </a:r>
            <a:endParaRPr sz="1275" dirty="0">
              <a:solidFill>
                <a:srgbClr val="C6CBCB"/>
              </a:solidFill>
              <a:latin typeface="SimSun"/>
              <a:ea typeface="SimSun"/>
              <a:cs typeface="SimSun"/>
            </a:endParaRPr>
          </a:p>
          <a:p>
            <a:pPr>
              <a:defRPr sz="1275">
                <a:solidFill>
                  <a:srgbClr val="C6CBCB"/>
                </a:solidFill>
                <a:latin typeface="SimSun"/>
                <a:ea typeface="SimSun"/>
                <a:cs typeface="SimSun"/>
              </a:defRPr>
            </a:pPr>
            <a:r>
              <a:rPr sz="1275" dirty="0">
                <a:solidFill>
                  <a:srgbClr val="C6CBCB"/>
                </a:solidFill>
                <a:latin typeface="SimSun"/>
                <a:ea typeface="SimSun"/>
                <a:cs typeface="SimSun"/>
              </a:rPr>
              <a:t>目标体验时长：8—10 </a:t>
            </a:r>
            <a:r>
              <a:rPr sz="1275" dirty="0" err="1">
                <a:solidFill>
                  <a:srgbClr val="C6CBCB"/>
                </a:solidFill>
                <a:latin typeface="SimSun"/>
                <a:ea typeface="SimSun"/>
                <a:cs typeface="SimSun"/>
              </a:rPr>
              <a:t>分钟</a:t>
            </a:r>
            <a:endParaRPr sz="1275" dirty="0">
              <a:solidFill>
                <a:srgbClr val="C6CBCB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C84729-0B7D-4BF5-A34B-BA49D15ACA3B}"/>
              </a:ext>
            </a:extLst>
          </p:cNvPr>
          <p:cNvSpPr>
            <a:spLocks noGrp="1"/>
          </p:cNvSpPr>
          <p:nvPr/>
        </p:nvSpPr>
        <p:spPr>
          <a:xfrm>
            <a:off x="723900" y="5953125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UNITY 2022.3.57f1c2</a:t>
            </a:r>
          </a:p>
        </p:txBody>
      </p:sp>
    </p:spTree>
    <p:extLst>
      <p:ext uri="{BB962C8B-B14F-4D97-AF65-F5344CB8AC3E}">
        <p14:creationId xmlns:p14="http://schemas.microsoft.com/office/powerpoint/2010/main" val="1252464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21E91AEC-7192-4699-8154-A611391B72B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3D0DACD-B773-497C-8A58-046AA3C13392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01 / DESIGN THESIS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56CC03B-FE21-4A66-87FD-B7C52671B87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疑案追踪</a:t>
            </a:r>
            <a:endParaRPr sz="300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76F58A-E1E8-4373-A3E5-389ED6722363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8B8F72-9474-42F6-82B0-EC79231BAF91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B30A1F-1054-454A-BEE3-301BA002C7F5}"/>
              </a:ext>
            </a:extLst>
          </p:cNvPr>
          <p:cNvSpPr>
            <a:spLocks noGrp="1"/>
          </p:cNvSpPr>
          <p:nvPr/>
        </p:nvSpPr>
        <p:spPr>
          <a:xfrm>
            <a:off x="609600" y="1543050"/>
            <a:ext cx="8763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25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lang="ja-JP" altLang="en-US" sz="225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以查案推进流程：证据串联疑案，声音提供辅助线索与风险提示。</a:t>
            </a:r>
            <a:endParaRPr sz="2250" b="1" dirty="0">
              <a:solidFill>
                <a:srgbClr val="1F2A2F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6693D9-E94F-4844-AD96-6F07F1BC2E5D}"/>
              </a:ext>
            </a:extLst>
          </p:cNvPr>
          <p:cNvSpPr>
            <a:spLocks noGrp="1"/>
          </p:cNvSpPr>
          <p:nvPr/>
        </p:nvSpPr>
        <p:spPr>
          <a:xfrm>
            <a:off x="1162050" y="3371850"/>
            <a:ext cx="9620250" cy="28575"/>
          </a:xfrm>
          <a:prstGeom prst="rect">
            <a:avLst/>
          </a:prstGeom>
          <a:solidFill>
            <a:srgbClr val="C9CFC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F76A995F-2B4C-4825-A835-E503984E3C3F}"/>
              </a:ext>
            </a:extLst>
          </p:cNvPr>
          <p:cNvSpPr>
            <a:spLocks noGrp="1"/>
          </p:cNvSpPr>
          <p:nvPr/>
        </p:nvSpPr>
        <p:spPr>
          <a:xfrm>
            <a:off x="1200150" y="3086100"/>
            <a:ext cx="514350" cy="514350"/>
          </a:xfrm>
          <a:prstGeom prst="ellipse">
            <a:avLst/>
          </a:prstGeom>
          <a:solidFill>
            <a:srgbClr val="1F6F78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5B9390-9EBC-4344-A9B9-08E6DCFEAA33}"/>
              </a:ext>
            </a:extLst>
          </p:cNvPr>
          <p:cNvSpPr>
            <a:spLocks noGrp="1"/>
          </p:cNvSpPr>
          <p:nvPr/>
        </p:nvSpPr>
        <p:spPr>
          <a:xfrm>
            <a:off x="1295400" y="31718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7C05EC2-ECB1-4890-B371-9CE0D8361B42}"/>
              </a:ext>
            </a:extLst>
          </p:cNvPr>
          <p:cNvSpPr>
            <a:spLocks noGrp="1"/>
          </p:cNvSpPr>
          <p:nvPr/>
        </p:nvSpPr>
        <p:spPr>
          <a:xfrm>
            <a:off x="666750" y="37909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调查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A3B0831-6973-4716-B9FB-EF78DED96237}"/>
              </a:ext>
            </a:extLst>
          </p:cNvPr>
          <p:cNvSpPr>
            <a:spLocks noGrp="1"/>
          </p:cNvSpPr>
          <p:nvPr/>
        </p:nvSpPr>
        <p:spPr>
          <a:xfrm>
            <a:off x="666750" y="4229100"/>
            <a:ext cx="1581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证据组合</a:t>
            </a:r>
          </a:p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建立疑案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82D5C05F-9148-4D38-82FF-6E019F2F41DF}"/>
              </a:ext>
            </a:extLst>
          </p:cNvPr>
          <p:cNvSpPr>
            <a:spLocks noGrp="1"/>
          </p:cNvSpPr>
          <p:nvPr/>
        </p:nvSpPr>
        <p:spPr>
          <a:xfrm>
            <a:off x="3067050" y="3086100"/>
            <a:ext cx="514350" cy="514350"/>
          </a:xfrm>
          <a:prstGeom prst="ellipse">
            <a:avLst/>
          </a:prstGeom>
          <a:solidFill>
            <a:srgbClr val="B58A3B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518CFDD-5CDA-42BF-B56F-D2FD4D5261AF}"/>
              </a:ext>
            </a:extLst>
          </p:cNvPr>
          <p:cNvSpPr>
            <a:spLocks noGrp="1"/>
          </p:cNvSpPr>
          <p:nvPr/>
        </p:nvSpPr>
        <p:spPr>
          <a:xfrm>
            <a:off x="3162300" y="31718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2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92971AE-74E0-49B6-8E55-C68E740A1B67}"/>
              </a:ext>
            </a:extLst>
          </p:cNvPr>
          <p:cNvSpPr>
            <a:spLocks noGrp="1"/>
          </p:cNvSpPr>
          <p:nvPr/>
        </p:nvSpPr>
        <p:spPr>
          <a:xfrm>
            <a:off x="2533650" y="37909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修钟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6603DFF-58A4-4944-AF6C-0FC6DFFF378A}"/>
              </a:ext>
            </a:extLst>
          </p:cNvPr>
          <p:cNvSpPr>
            <a:spLocks noGrp="1"/>
          </p:cNvSpPr>
          <p:nvPr/>
        </p:nvSpPr>
        <p:spPr>
          <a:xfrm>
            <a:off x="2533650" y="4229100"/>
            <a:ext cx="1581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听觉规则</a:t>
            </a:r>
          </a:p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首次教学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81C8129E-342A-4EB0-AAB0-DBFB7E4122B0}"/>
              </a:ext>
            </a:extLst>
          </p:cNvPr>
          <p:cNvSpPr>
            <a:spLocks noGrp="1"/>
          </p:cNvSpPr>
          <p:nvPr/>
        </p:nvSpPr>
        <p:spPr>
          <a:xfrm>
            <a:off x="4933950" y="3086100"/>
            <a:ext cx="514350" cy="514350"/>
          </a:xfrm>
          <a:prstGeom prst="ellipse">
            <a:avLst/>
          </a:prstGeom>
          <a:solidFill>
            <a:srgbClr val="8F3D3D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022315-C359-4C1F-BAAD-D4E9F1D5C74C}"/>
              </a:ext>
            </a:extLst>
          </p:cNvPr>
          <p:cNvSpPr>
            <a:spLocks noGrp="1"/>
          </p:cNvSpPr>
          <p:nvPr/>
        </p:nvSpPr>
        <p:spPr>
          <a:xfrm>
            <a:off x="5029200" y="31718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3AB7B32-7714-4A4A-A6B5-735ECC23A85F}"/>
              </a:ext>
            </a:extLst>
          </p:cNvPr>
          <p:cNvSpPr>
            <a:spLocks noGrp="1"/>
          </p:cNvSpPr>
          <p:nvPr/>
        </p:nvSpPr>
        <p:spPr>
          <a:xfrm>
            <a:off x="4400550" y="37909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下井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CE37D22-6A8B-4EFF-A1BE-A316EB1A24E4}"/>
              </a:ext>
            </a:extLst>
          </p:cNvPr>
          <p:cNvSpPr>
            <a:spLocks noGrp="1"/>
          </p:cNvSpPr>
          <p:nvPr/>
        </p:nvSpPr>
        <p:spPr>
          <a:xfrm>
            <a:off x="4400550" y="4229100"/>
            <a:ext cx="1581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空间翻转</a:t>
            </a:r>
          </a:p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压力升级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16AA4284-2AA8-4BF0-A777-12C24CBF0AF0}"/>
              </a:ext>
            </a:extLst>
          </p:cNvPr>
          <p:cNvSpPr>
            <a:spLocks noGrp="1"/>
          </p:cNvSpPr>
          <p:nvPr/>
        </p:nvSpPr>
        <p:spPr>
          <a:xfrm>
            <a:off x="6800850" y="3086100"/>
            <a:ext cx="514350" cy="514350"/>
          </a:xfrm>
          <a:prstGeom prst="ellipse">
            <a:avLst/>
          </a:prstGeom>
          <a:solidFill>
            <a:srgbClr val="1F6F78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AC345AC-6C34-4492-85AE-16D32BE585F9}"/>
              </a:ext>
            </a:extLst>
          </p:cNvPr>
          <p:cNvSpPr>
            <a:spLocks noGrp="1"/>
          </p:cNvSpPr>
          <p:nvPr/>
        </p:nvSpPr>
        <p:spPr>
          <a:xfrm>
            <a:off x="6896100" y="31718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4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9452602-D2FD-4858-99AE-F0C60CC55DEE}"/>
              </a:ext>
            </a:extLst>
          </p:cNvPr>
          <p:cNvSpPr>
            <a:spLocks noGrp="1"/>
          </p:cNvSpPr>
          <p:nvPr/>
        </p:nvSpPr>
        <p:spPr>
          <a:xfrm>
            <a:off x="6267450" y="37909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共振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F2B853D-E86A-47C9-9CB9-652223EC9024}"/>
              </a:ext>
            </a:extLst>
          </p:cNvPr>
          <p:cNvSpPr>
            <a:spLocks noGrp="1"/>
          </p:cNvSpPr>
          <p:nvPr/>
        </p:nvSpPr>
        <p:spPr>
          <a:xfrm>
            <a:off x="6267450" y="4229100"/>
            <a:ext cx="1581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观察时机</a:t>
            </a:r>
          </a:p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完成门控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6DDD9A65-1567-459B-A6B2-D69396D396F9}"/>
              </a:ext>
            </a:extLst>
          </p:cNvPr>
          <p:cNvSpPr>
            <a:spLocks noGrp="1"/>
          </p:cNvSpPr>
          <p:nvPr/>
        </p:nvSpPr>
        <p:spPr>
          <a:xfrm>
            <a:off x="8667750" y="3086100"/>
            <a:ext cx="514350" cy="514350"/>
          </a:xfrm>
          <a:prstGeom prst="ellipse">
            <a:avLst/>
          </a:prstGeom>
          <a:solidFill>
            <a:srgbClr val="8F3D3D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1822FD9-9769-4C68-AD58-D768170858BC}"/>
              </a:ext>
            </a:extLst>
          </p:cNvPr>
          <p:cNvSpPr>
            <a:spLocks noGrp="1"/>
          </p:cNvSpPr>
          <p:nvPr/>
        </p:nvSpPr>
        <p:spPr>
          <a:xfrm>
            <a:off x="8763000" y="31718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E57C49-8210-4FF0-A76E-E63F563D094A}"/>
              </a:ext>
            </a:extLst>
          </p:cNvPr>
          <p:cNvSpPr>
            <a:spLocks noGrp="1"/>
          </p:cNvSpPr>
          <p:nvPr/>
        </p:nvSpPr>
        <p:spPr>
          <a:xfrm>
            <a:off x="8134350" y="37909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镇压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5CBEA5D-AE78-48FF-A900-DDBB384657DA}"/>
              </a:ext>
            </a:extLst>
          </p:cNvPr>
          <p:cNvSpPr>
            <a:spLocks noGrp="1"/>
          </p:cNvSpPr>
          <p:nvPr/>
        </p:nvSpPr>
        <p:spPr>
          <a:xfrm>
            <a:off x="8134350" y="4229100"/>
            <a:ext cx="1581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多职能组合</a:t>
            </a:r>
          </a:p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形成决战</a:t>
            </a: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3B6CDB7-BB94-4675-AFFA-B7CAFC47771B}"/>
              </a:ext>
            </a:extLst>
          </p:cNvPr>
          <p:cNvSpPr>
            <a:spLocks noGrp="1"/>
          </p:cNvSpPr>
          <p:nvPr/>
        </p:nvSpPr>
        <p:spPr>
          <a:xfrm>
            <a:off x="10534650" y="3086100"/>
            <a:ext cx="514350" cy="514350"/>
          </a:xfrm>
          <a:prstGeom prst="ellipse">
            <a:avLst/>
          </a:prstGeom>
          <a:solidFill>
            <a:srgbClr val="B58A3B"/>
          </a:solidFill>
          <a:ln w="28575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55B539A-0324-4F1E-910F-3F4A0FB7CA23}"/>
              </a:ext>
            </a:extLst>
          </p:cNvPr>
          <p:cNvSpPr>
            <a:spLocks noGrp="1"/>
          </p:cNvSpPr>
          <p:nvPr/>
        </p:nvSpPr>
        <p:spPr>
          <a:xfrm>
            <a:off x="10629900" y="3171825"/>
            <a:ext cx="32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6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CA2BD9F-4D60-42D8-BAB5-D75422672367}"/>
              </a:ext>
            </a:extLst>
          </p:cNvPr>
          <p:cNvSpPr>
            <a:spLocks noGrp="1"/>
          </p:cNvSpPr>
          <p:nvPr/>
        </p:nvSpPr>
        <p:spPr>
          <a:xfrm>
            <a:off x="10001250" y="3790950"/>
            <a:ext cx="15811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账册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8572ED0-B472-492B-822C-AFDBA9884A80}"/>
              </a:ext>
            </a:extLst>
          </p:cNvPr>
          <p:cNvSpPr>
            <a:spLocks noGrp="1"/>
          </p:cNvSpPr>
          <p:nvPr/>
        </p:nvSpPr>
        <p:spPr>
          <a:xfrm>
            <a:off x="10001250" y="4229100"/>
            <a:ext cx="15811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证据回收</a:t>
            </a:r>
          </a:p>
          <a:p>
            <a:pPr algn="ctr"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完成闭环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52E35EE-A1D9-4F77-BC2A-D3FF6461643F}"/>
              </a:ext>
            </a:extLst>
          </p:cNvPr>
          <p:cNvSpPr>
            <a:spLocks noGrp="1"/>
          </p:cNvSpPr>
          <p:nvPr/>
        </p:nvSpPr>
        <p:spPr>
          <a:xfrm>
            <a:off x="1619250" y="5381625"/>
            <a:ext cx="8953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设计目标：在约十分钟内完成观察 → 理解 → 执行 → 反转 → 结算。</a:t>
            </a:r>
          </a:p>
        </p:txBody>
      </p:sp>
    </p:spTree>
    <p:extLst>
      <p:ext uri="{BB962C8B-B14F-4D97-AF65-F5344CB8AC3E}">
        <p14:creationId xmlns:p14="http://schemas.microsoft.com/office/powerpoint/2010/main" val="51010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58ABF20-ED6E-4C91-ACF6-3CA7D0A4D87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F24BFC4-8BA3-4B9C-9A84-846EE3E1B468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02 / WORLD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C0C69F-93A8-4988-AF7D-127A3D12E5D4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主题</a:t>
            </a:r>
            <a:r>
              <a:rPr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：</a:t>
            </a: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荒寺之下，藏着一条走私链</a:t>
            </a:r>
            <a:r>
              <a:rPr lang="zh-CN" altLang="en-US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；世界观：古代</a:t>
            </a:r>
            <a:r>
              <a:rPr lang="en-US" altLang="zh-CN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|</a:t>
            </a:r>
            <a:r>
              <a:rPr lang="zh-CN" altLang="en-US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架空</a:t>
            </a:r>
            <a:r>
              <a:rPr lang="en-US" altLang="zh-CN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|</a:t>
            </a:r>
            <a:r>
              <a:rPr lang="zh-CN" altLang="en-US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灵异</a:t>
            </a:r>
            <a:endParaRPr sz="300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0C4A73-A6EC-45CC-9B7A-68A364A547FB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03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BACC243-CCE3-440B-B8DC-8D64F0082D82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l="13106" r="13106"/>
          <a:stretch>
            <a:fillRect/>
          </a:stretch>
        </p:blipFill>
        <p:spPr>
          <a:xfrm>
            <a:off x="609600" y="1581150"/>
            <a:ext cx="5143500" cy="4000500"/>
          </a:xfrm>
          <a:prstGeom prst="roundRect">
            <a:avLst>
              <a:gd name="adj" fmla="val 2857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AA7F17FB-94DC-406E-8BCE-343E9A9689E7}"/>
              </a:ext>
            </a:extLst>
          </p:cNvPr>
          <p:cNvSpPr>
            <a:spLocks noGrp="1"/>
          </p:cNvSpPr>
          <p:nvPr/>
        </p:nvSpPr>
        <p:spPr>
          <a:xfrm>
            <a:off x="6191250" y="16192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DCE9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A1DD9C-B2B2-4769-9892-A43AABF00BD3}"/>
              </a:ext>
            </a:extLst>
          </p:cNvPr>
          <p:cNvSpPr>
            <a:spLocks noGrp="1"/>
          </p:cNvSpPr>
          <p:nvPr/>
        </p:nvSpPr>
        <p:spPr>
          <a:xfrm>
            <a:off x="6286500" y="16383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身份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E689A1-18EF-4977-8144-430FA6B19618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43815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2175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2175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县衙巡检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539300F-39F6-4C2D-AC4F-8272C580BD30}"/>
              </a:ext>
            </a:extLst>
          </p:cNvPr>
          <p:cNvSpPr>
            <a:spLocks noGrp="1"/>
          </p:cNvSpPr>
          <p:nvPr/>
        </p:nvSpPr>
        <p:spPr>
          <a:xfrm>
            <a:off x="6191250" y="264795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EFE3C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ECF013-099E-4DC9-83B1-75E33FCE6A0D}"/>
              </a:ext>
            </a:extLst>
          </p:cNvPr>
          <p:cNvSpPr>
            <a:spLocks noGrp="1"/>
          </p:cNvSpPr>
          <p:nvPr/>
        </p:nvSpPr>
        <p:spPr>
          <a:xfrm>
            <a:off x="6286500" y="26670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案件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C3B639-14E5-44FF-BB9B-AED66AD9E281}"/>
              </a:ext>
            </a:extLst>
          </p:cNvPr>
          <p:cNvSpPr>
            <a:spLocks noGrp="1"/>
          </p:cNvSpPr>
          <p:nvPr/>
        </p:nvSpPr>
        <p:spPr>
          <a:xfrm>
            <a:off x="6191250" y="3028950"/>
            <a:ext cx="48577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十二名押运人员、三辆货车失踪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C24F7182-D42D-42D0-9A47-721031D42055}"/>
              </a:ext>
            </a:extLst>
          </p:cNvPr>
          <p:cNvSpPr>
            <a:spLocks noGrp="1"/>
          </p:cNvSpPr>
          <p:nvPr/>
        </p:nvSpPr>
        <p:spPr>
          <a:xfrm>
            <a:off x="6191250" y="373380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EBD6D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473A31-7AFC-44D1-924F-6518D51A46B5}"/>
              </a:ext>
            </a:extLst>
          </p:cNvPr>
          <p:cNvSpPr>
            <a:spLocks noGrp="1"/>
          </p:cNvSpPr>
          <p:nvPr/>
        </p:nvSpPr>
        <p:spPr>
          <a:xfrm>
            <a:off x="6286500" y="37528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表象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837104D-EAEA-4464-B827-EB4FE86186B0}"/>
              </a:ext>
            </a:extLst>
          </p:cNvPr>
          <p:cNvSpPr>
            <a:spLocks noGrp="1"/>
          </p:cNvSpPr>
          <p:nvPr/>
        </p:nvSpPr>
        <p:spPr>
          <a:xfrm>
            <a:off x="6191250" y="4114800"/>
            <a:ext cx="4762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75" dirty="0" err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荒寺、残钟</a:t>
            </a:r>
            <a:r>
              <a:rPr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、</a:t>
            </a:r>
            <a:r>
              <a:rPr lang="zh-CN" altLang="en-US"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枯</a:t>
            </a:r>
            <a:r>
              <a:rPr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井、</a:t>
            </a:r>
            <a:r>
              <a:rPr lang="zh-CN" altLang="en-US"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祷文</a:t>
            </a:r>
            <a:endParaRPr sz="1575" dirty="0">
              <a:solidFill>
                <a:srgbClr val="1F2A2F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16697329-F281-4328-86CD-A96773C45FBA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952500" cy="285750"/>
          </a:xfrm>
          <a:prstGeom prst="roundRect">
            <a:avLst>
              <a:gd name="adj" fmla="val 50000"/>
            </a:avLst>
          </a:prstGeom>
          <a:solidFill>
            <a:srgbClr val="DCE9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6FA37D8-BE91-4B7D-A534-B2E51881A5F9}"/>
              </a:ext>
            </a:extLst>
          </p:cNvPr>
          <p:cNvSpPr>
            <a:spLocks noGrp="1"/>
          </p:cNvSpPr>
          <p:nvPr/>
        </p:nvSpPr>
        <p:spPr>
          <a:xfrm>
            <a:off x="6286500" y="478155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真相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B0E6EEB-57AA-41CF-A84C-58EC2FE8121E}"/>
              </a:ext>
            </a:extLst>
          </p:cNvPr>
          <p:cNvSpPr>
            <a:spLocks noGrp="1"/>
          </p:cNvSpPr>
          <p:nvPr/>
        </p:nvSpPr>
        <p:spPr>
          <a:xfrm>
            <a:off x="6191250" y="514350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72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地下镇压据点与县中内应</a:t>
            </a:r>
          </a:p>
        </p:txBody>
      </p:sp>
    </p:spTree>
    <p:extLst>
      <p:ext uri="{BB962C8B-B14F-4D97-AF65-F5344CB8AC3E}">
        <p14:creationId xmlns:p14="http://schemas.microsoft.com/office/powerpoint/2010/main" val="1747448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982C4E05-C319-4F26-A6E2-B59739B6A80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1AFDA0-33F2-4177-B514-26D662E19394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03 / NARRATIVE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D8F684-ECC9-4113-A95F-B97DEA65A26F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证据链把探索转化为确定性的推进条件</a:t>
            </a:r>
            <a:endParaRPr sz="300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654620C-DA05-4A9F-9465-7E4396D36E10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31D461-20CB-4998-B832-EA143EF5013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6621B36-E3CA-41C3-9524-324C09D6278B}"/>
              </a:ext>
            </a:extLst>
          </p:cNvPr>
          <p:cNvSpPr>
            <a:spLocks noGrp="1"/>
          </p:cNvSpPr>
          <p:nvPr/>
        </p:nvSpPr>
        <p:spPr>
          <a:xfrm>
            <a:off x="1447800" y="3095625"/>
            <a:ext cx="9048750" cy="38100"/>
          </a:xfrm>
          <a:prstGeom prst="rect">
            <a:avLst/>
          </a:prstGeom>
          <a:solidFill>
            <a:srgbClr val="C6CEC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5EC52F49-4686-4ADC-BC62-DE6F3B0177C7}"/>
              </a:ext>
            </a:extLst>
          </p:cNvPr>
          <p:cNvSpPr>
            <a:spLocks noGrp="1"/>
          </p:cNvSpPr>
          <p:nvPr/>
        </p:nvSpPr>
        <p:spPr>
          <a:xfrm>
            <a:off x="1524000" y="2714625"/>
            <a:ext cx="762000" cy="762000"/>
          </a:xfrm>
          <a:prstGeom prst="ellipse">
            <a:avLst/>
          </a:prstGeom>
          <a:solidFill>
            <a:srgbClr val="F5F1E8"/>
          </a:solidFill>
          <a:ln w="381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653785F-0163-4FBF-BFF5-7E01365C2416}"/>
              </a:ext>
            </a:extLst>
          </p:cNvPr>
          <p:cNvSpPr>
            <a:spLocks noGrp="1"/>
          </p:cNvSpPr>
          <p:nvPr/>
        </p:nvSpPr>
        <p:spPr>
          <a:xfrm>
            <a:off x="1695450" y="28860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DDBF48-42D6-4287-9ADE-1B7E8A58E975}"/>
              </a:ext>
            </a:extLst>
          </p:cNvPr>
          <p:cNvSpPr>
            <a:spLocks noGrp="1"/>
          </p:cNvSpPr>
          <p:nvPr/>
        </p:nvSpPr>
        <p:spPr>
          <a:xfrm>
            <a:off x="723900" y="37147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车辙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63002EC-07EE-4C52-94EB-2FB44565F732}"/>
              </a:ext>
            </a:extLst>
          </p:cNvPr>
          <p:cNvSpPr>
            <a:spLocks noGrp="1"/>
          </p:cNvSpPr>
          <p:nvPr/>
        </p:nvSpPr>
        <p:spPr>
          <a:xfrm>
            <a:off x="723900" y="4219575"/>
            <a:ext cx="2362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三辆货车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确实到场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F7A1D472-6BEB-435F-8CC9-A1C6FB3646A1}"/>
              </a:ext>
            </a:extLst>
          </p:cNvPr>
          <p:cNvSpPr>
            <a:spLocks noGrp="1"/>
          </p:cNvSpPr>
          <p:nvPr/>
        </p:nvSpPr>
        <p:spPr>
          <a:xfrm>
            <a:off x="4343400" y="2714625"/>
            <a:ext cx="762000" cy="762000"/>
          </a:xfrm>
          <a:prstGeom prst="ellipse">
            <a:avLst/>
          </a:prstGeom>
          <a:solidFill>
            <a:srgbClr val="F5F1E8"/>
          </a:solidFill>
          <a:ln w="38100">
            <a:solidFill>
              <a:srgbClr val="8F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C1A8257-DFA5-476B-81E5-67740807641E}"/>
              </a:ext>
            </a:extLst>
          </p:cNvPr>
          <p:cNvSpPr>
            <a:spLocks noGrp="1"/>
          </p:cNvSpPr>
          <p:nvPr/>
        </p:nvSpPr>
        <p:spPr>
          <a:xfrm>
            <a:off x="4514850" y="28860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E3EF96-DE08-4C05-8D12-EE893AD6AD2A}"/>
              </a:ext>
            </a:extLst>
          </p:cNvPr>
          <p:cNvSpPr>
            <a:spLocks noGrp="1"/>
          </p:cNvSpPr>
          <p:nvPr/>
        </p:nvSpPr>
        <p:spPr>
          <a:xfrm>
            <a:off x="3543300" y="37147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押运旗 / 血迹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76E706-66D4-4F9A-A35D-16D577EF129B}"/>
              </a:ext>
            </a:extLst>
          </p:cNvPr>
          <p:cNvSpPr>
            <a:spLocks noGrp="1"/>
          </p:cNvSpPr>
          <p:nvPr/>
        </p:nvSpPr>
        <p:spPr>
          <a:xfrm>
            <a:off x="3543300" y="4219575"/>
            <a:ext cx="2362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失踪队伍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卷入冲突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F26177F-027D-4E14-9064-E1C6EA8CAC8D}"/>
              </a:ext>
            </a:extLst>
          </p:cNvPr>
          <p:cNvSpPr>
            <a:spLocks noGrp="1"/>
          </p:cNvSpPr>
          <p:nvPr/>
        </p:nvSpPr>
        <p:spPr>
          <a:xfrm>
            <a:off x="7162800" y="2714625"/>
            <a:ext cx="762000" cy="762000"/>
          </a:xfrm>
          <a:prstGeom prst="ellipse">
            <a:avLst/>
          </a:prstGeom>
          <a:solidFill>
            <a:srgbClr val="F5F1E8"/>
          </a:solidFill>
          <a:ln w="38100">
            <a:solidFill>
              <a:srgbClr val="B58A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513A7EE-C2BA-4303-8BCD-7953B566F446}"/>
              </a:ext>
            </a:extLst>
          </p:cNvPr>
          <p:cNvSpPr>
            <a:spLocks noGrp="1"/>
          </p:cNvSpPr>
          <p:nvPr/>
        </p:nvSpPr>
        <p:spPr>
          <a:xfrm>
            <a:off x="7334250" y="28860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859241-7E47-4B9D-922A-55078720F990}"/>
              </a:ext>
            </a:extLst>
          </p:cNvPr>
          <p:cNvSpPr>
            <a:spLocks noGrp="1"/>
          </p:cNvSpPr>
          <p:nvPr/>
        </p:nvSpPr>
        <p:spPr>
          <a:xfrm>
            <a:off x="6362700" y="37147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575" b="1" dirty="0" err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钟舌</a:t>
            </a:r>
            <a:r>
              <a:rPr sz="1575" b="1" dirty="0">
                <a:solidFill>
                  <a:srgbClr val="B58A3B"/>
                </a:solidFill>
                <a:latin typeface="SimSun"/>
                <a:ea typeface="SimSun"/>
                <a:cs typeface="SimSun"/>
              </a:rPr>
              <a:t> / </a:t>
            </a:r>
            <a:r>
              <a:rPr sz="1575" b="1" dirty="0" err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夜记</a:t>
            </a:r>
            <a:r>
              <a:rPr sz="1575" b="1" dirty="0">
                <a:solidFill>
                  <a:srgbClr val="B58A3B"/>
                </a:solidFill>
                <a:latin typeface="SimSun"/>
                <a:ea typeface="SimSun"/>
                <a:cs typeface="SimSun"/>
              </a:rPr>
              <a:t> / </a:t>
            </a:r>
            <a:r>
              <a:rPr sz="1575" b="1" dirty="0" err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祷文</a:t>
            </a:r>
            <a:endParaRPr sz="1575" b="1" dirty="0">
              <a:solidFill>
                <a:srgbClr val="B58A3B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65FEE5-086A-49B2-BD9A-DE96C8FD9F4B}"/>
              </a:ext>
            </a:extLst>
          </p:cNvPr>
          <p:cNvSpPr>
            <a:spLocks noGrp="1"/>
          </p:cNvSpPr>
          <p:nvPr/>
        </p:nvSpPr>
        <p:spPr>
          <a:xfrm>
            <a:off x="6362700" y="4219575"/>
            <a:ext cx="2362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钟声与夜间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活动相连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5BCCED8-2235-4756-8F87-222D5DB003DB}"/>
              </a:ext>
            </a:extLst>
          </p:cNvPr>
          <p:cNvSpPr>
            <a:spLocks noGrp="1"/>
          </p:cNvSpPr>
          <p:nvPr/>
        </p:nvSpPr>
        <p:spPr>
          <a:xfrm>
            <a:off x="9982200" y="2714625"/>
            <a:ext cx="762000" cy="762000"/>
          </a:xfrm>
          <a:prstGeom prst="ellipse">
            <a:avLst/>
          </a:prstGeom>
          <a:solidFill>
            <a:srgbClr val="F5F1E8"/>
          </a:solidFill>
          <a:ln w="38100">
            <a:solidFill>
              <a:srgbClr val="174D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D52F6AA-2E6A-43A8-AB19-ED528F0CA623}"/>
              </a:ext>
            </a:extLst>
          </p:cNvPr>
          <p:cNvSpPr>
            <a:spLocks noGrp="1"/>
          </p:cNvSpPr>
          <p:nvPr/>
        </p:nvSpPr>
        <p:spPr>
          <a:xfrm>
            <a:off x="10153650" y="28860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95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09C6915-664F-4D43-9047-B8717AA867BF}"/>
              </a:ext>
            </a:extLst>
          </p:cNvPr>
          <p:cNvSpPr>
            <a:spLocks noGrp="1"/>
          </p:cNvSpPr>
          <p:nvPr/>
        </p:nvSpPr>
        <p:spPr>
          <a:xfrm>
            <a:off x="9182100" y="3714750"/>
            <a:ext cx="23622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57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账册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054C722B-CF19-437C-8895-0D83E1A9EFF3}"/>
              </a:ext>
            </a:extLst>
          </p:cNvPr>
          <p:cNvSpPr>
            <a:spLocks noGrp="1"/>
          </p:cNvSpPr>
          <p:nvPr/>
        </p:nvSpPr>
        <p:spPr>
          <a:xfrm>
            <a:off x="9182100" y="4219575"/>
            <a:ext cx="23622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走私网络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与县中内应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960A2F19-6FEB-498B-AB70-FC72BA562320}"/>
              </a:ext>
            </a:extLst>
          </p:cNvPr>
          <p:cNvSpPr>
            <a:spLocks noGrp="1"/>
          </p:cNvSpPr>
          <p:nvPr/>
        </p:nvSpPr>
        <p:spPr>
          <a:xfrm>
            <a:off x="1752600" y="5257800"/>
            <a:ext cx="8686800" cy="552450"/>
          </a:xfrm>
          <a:prstGeom prst="roundRect">
            <a:avLst>
              <a:gd name="adj" fmla="val 20690"/>
            </a:avLst>
          </a:prstGeom>
          <a:solidFill>
            <a:srgbClr val="DCE9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B21A238-295E-4BE9-BEAC-778DDD5D6BE5}"/>
              </a:ext>
            </a:extLst>
          </p:cNvPr>
          <p:cNvSpPr>
            <a:spLocks noGrp="1"/>
          </p:cNvSpPr>
          <p:nvPr/>
        </p:nvSpPr>
        <p:spPr>
          <a:xfrm>
            <a:off x="2000250" y="5353050"/>
            <a:ext cx="8191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门控只要求少量关键组合，日志持续给出当前推断，保证短流程清晰可达。</a:t>
            </a:r>
          </a:p>
        </p:txBody>
      </p:sp>
    </p:spTree>
    <p:extLst>
      <p:ext uri="{BB962C8B-B14F-4D97-AF65-F5344CB8AC3E}">
        <p14:creationId xmlns:p14="http://schemas.microsoft.com/office/powerpoint/2010/main" val="1272512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FFB62A1-5366-4859-A537-2CFC0828D18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ED934E3-7B3E-45AD-AB3D-27CA60676413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04 / ENVIRONMENT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AF987F2-27B2-4019-A434-0AF11BED7548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环境设定：地表调查，地下压迫，决战开阔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21186C-80CA-4B16-8FE4-D1F1100ACD3A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05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428B5F3-37E7-4CDA-B4EF-98C63DDAB9B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125" b="2125"/>
          <a:stretch>
            <a:fillRect/>
          </a:stretch>
        </p:blipFill>
        <p:spPr>
          <a:xfrm>
            <a:off x="609600" y="1543050"/>
            <a:ext cx="5143500" cy="2857500"/>
          </a:xfrm>
          <a:prstGeom prst="roundRect">
            <a:avLst>
              <a:gd name="adj" fmla="val 4000"/>
            </a:avLst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rcRect t="1680" b="1680"/>
          <a:stretch>
            <a:fillRect/>
          </a:stretch>
        </p:blipFill>
        <p:spPr>
          <a:xfrm>
            <a:off x="6019800" y="1543050"/>
            <a:ext cx="5143500" cy="2857500"/>
          </a:xfrm>
          <a:prstGeom prst="roundRect">
            <a:avLst>
              <a:gd name="adj" fmla="val 4000"/>
            </a:avLst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FC024F02-8284-4E30-94B0-0D5D7BECA740}"/>
              </a:ext>
            </a:extLst>
          </p:cNvPr>
          <p:cNvSpPr>
            <a:spLocks noGrp="1"/>
          </p:cNvSpPr>
          <p:nvPr/>
        </p:nvSpPr>
        <p:spPr>
          <a:xfrm>
            <a:off x="781050" y="1714500"/>
            <a:ext cx="876300" cy="285750"/>
          </a:xfrm>
          <a:prstGeom prst="roundRect">
            <a:avLst>
              <a:gd name="adj" fmla="val 50000"/>
            </a:avLst>
          </a:prstGeom>
          <a:solidFill>
            <a:srgbClr val="EFE3C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12FE437-E61C-458B-95C5-6D610ED0A707}"/>
              </a:ext>
            </a:extLst>
          </p:cNvPr>
          <p:cNvSpPr>
            <a:spLocks noGrp="1"/>
          </p:cNvSpPr>
          <p:nvPr/>
        </p:nvSpPr>
        <p:spPr>
          <a:xfrm>
            <a:off x="876300" y="1733550"/>
            <a:ext cx="685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Y = 0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71B5436-7746-4B5A-BA36-2FB4B27B1BB1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BD6D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BCA50A0-401D-4310-97CD-95F0A9470AF0}"/>
              </a:ext>
            </a:extLst>
          </p:cNvPr>
          <p:cNvSpPr>
            <a:spLocks noGrp="1"/>
          </p:cNvSpPr>
          <p:nvPr/>
        </p:nvSpPr>
        <p:spPr>
          <a:xfrm>
            <a:off x="6286500" y="173355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Y = -4 ～ -12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FF7E9615-8226-480C-AFA3-61D379E0D4F4}"/>
              </a:ext>
            </a:extLst>
          </p:cNvPr>
          <p:cNvSpPr>
            <a:spLocks noGrp="1"/>
          </p:cNvSpPr>
          <p:nvPr/>
        </p:nvSpPr>
        <p:spPr>
          <a:xfrm>
            <a:off x="609600" y="4591050"/>
            <a:ext cx="5143500" cy="13525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F145121-7CE3-4D57-A656-C66701407306}"/>
              </a:ext>
            </a:extLst>
          </p:cNvPr>
          <p:cNvSpPr>
            <a:spLocks noGrp="1"/>
          </p:cNvSpPr>
          <p:nvPr/>
        </p:nvSpPr>
        <p:spPr>
          <a:xfrm>
            <a:off x="781050" y="4762500"/>
            <a:ext cx="323850" cy="3810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767B277-3E89-4F45-8416-27611EA2CE1C}"/>
              </a:ext>
            </a:extLst>
          </p:cNvPr>
          <p:cNvSpPr>
            <a:spLocks noGrp="1"/>
          </p:cNvSpPr>
          <p:nvPr/>
        </p:nvSpPr>
        <p:spPr>
          <a:xfrm>
            <a:off x="781050" y="4876800"/>
            <a:ext cx="480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地表｜荒寺与钟院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11DAE5-98A8-448E-8C22-3056681CCEC3}"/>
              </a:ext>
            </a:extLst>
          </p:cNvPr>
          <p:cNvSpPr>
            <a:spLocks noGrp="1"/>
          </p:cNvSpPr>
          <p:nvPr/>
        </p:nvSpPr>
        <p:spPr>
          <a:xfrm>
            <a:off x="781050" y="5257800"/>
            <a:ext cx="480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冷色山雾、稀疏光源、破损院落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；</a:t>
            </a:r>
            <a:endParaRPr lang="en-US"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空间由开放调查逐步收束到钟与井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8D128E7-967E-41F3-8A27-E2B33FE35692}"/>
              </a:ext>
            </a:extLst>
          </p:cNvPr>
          <p:cNvSpPr>
            <a:spLocks noGrp="1"/>
          </p:cNvSpPr>
          <p:nvPr/>
        </p:nvSpPr>
        <p:spPr>
          <a:xfrm>
            <a:off x="6019800" y="4591050"/>
            <a:ext cx="5143500" cy="13525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F00130-2507-471F-A792-336EB29C52A7}"/>
              </a:ext>
            </a:extLst>
          </p:cNvPr>
          <p:cNvSpPr>
            <a:spLocks noGrp="1"/>
          </p:cNvSpPr>
          <p:nvPr/>
        </p:nvSpPr>
        <p:spPr>
          <a:xfrm>
            <a:off x="6191250" y="4762500"/>
            <a:ext cx="323850" cy="38100"/>
          </a:xfrm>
          <a:prstGeom prst="rect">
            <a:avLst/>
          </a:prstGeom>
          <a:solidFill>
            <a:srgbClr val="8F3D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381457D-FA87-417F-9545-4D4F11640B7F}"/>
              </a:ext>
            </a:extLst>
          </p:cNvPr>
          <p:cNvSpPr>
            <a:spLocks noGrp="1"/>
          </p:cNvSpPr>
          <p:nvPr/>
        </p:nvSpPr>
        <p:spPr>
          <a:xfrm>
            <a:off x="6191250" y="4876800"/>
            <a:ext cx="48006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地下｜甬道与镇压设施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B138A85-F02D-4145-A98D-4C44E75EE6D3}"/>
              </a:ext>
            </a:extLst>
          </p:cNvPr>
          <p:cNvSpPr>
            <a:spLocks noGrp="1"/>
          </p:cNvSpPr>
          <p:nvPr/>
        </p:nvSpPr>
        <p:spPr>
          <a:xfrm>
            <a:off x="6191250" y="5257800"/>
            <a:ext cx="4800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低顶、湿石、折叠路径、回声与痕迹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；</a:t>
            </a:r>
            <a:endParaRPr lang="en-US"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最终进入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 24×24 </a:t>
            </a: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米大厅释放战斗空间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18116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6281D1BB-0391-4328-A8FB-CAF40FD8C04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A65034C-F3F7-47D9-BD81-D2B60DEADF27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05 / PLAN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B34173E-EE5F-4448-8249-30CD46FA1979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平面图：地表与地下通过干井完成空间翻转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C057B5F-F694-4CF8-B8DF-B25599DA3FD8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06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FDF7D65-B795-473D-AA8A-FE38C6B13F8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514600" y="1428750"/>
            <a:ext cx="7162800" cy="4476750"/>
          </a:xfrm>
          <a:prstGeom prst="roundRect">
            <a:avLst>
              <a:gd name="adj" fmla="val 2553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21CF70D-E2C7-49B0-8D19-DAC35145281A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FE3C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9B0B3A-D419-44F0-844B-2BB6D7ABD192}"/>
              </a:ext>
            </a:extLst>
          </p:cNvPr>
          <p:cNvSpPr>
            <a:spLocks noGrp="1"/>
          </p:cNvSpPr>
          <p:nvPr/>
        </p:nvSpPr>
        <p:spPr>
          <a:xfrm>
            <a:off x="838200" y="54483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地表：调查 → 修钟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E9E8C6B-833D-42B9-9FEA-2C020D31B6A5}"/>
              </a:ext>
            </a:extLst>
          </p:cNvPr>
          <p:cNvSpPr>
            <a:spLocks noGrp="1"/>
          </p:cNvSpPr>
          <p:nvPr/>
        </p:nvSpPr>
        <p:spPr>
          <a:xfrm>
            <a:off x="2686050" y="5429250"/>
            <a:ext cx="2286000" cy="285750"/>
          </a:xfrm>
          <a:prstGeom prst="roundRect">
            <a:avLst>
              <a:gd name="adj" fmla="val 50000"/>
            </a:avLst>
          </a:prstGeom>
          <a:solidFill>
            <a:srgbClr val="DCE9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857997-0AF7-454E-A874-5B89DA2CC076}"/>
              </a:ext>
            </a:extLst>
          </p:cNvPr>
          <p:cNvSpPr>
            <a:spLocks noGrp="1"/>
          </p:cNvSpPr>
          <p:nvPr/>
        </p:nvSpPr>
        <p:spPr>
          <a:xfrm>
            <a:off x="2781300" y="54483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井下：教学 → 追逐 → 谜题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7DC45FE2-C721-46FC-986E-7FB521555EFD}"/>
              </a:ext>
            </a:extLst>
          </p:cNvPr>
          <p:cNvSpPr>
            <a:spLocks noGrp="1"/>
          </p:cNvSpPr>
          <p:nvPr/>
        </p:nvSpPr>
        <p:spPr>
          <a:xfrm>
            <a:off x="5105400" y="5429250"/>
            <a:ext cx="2667000" cy="285750"/>
          </a:xfrm>
          <a:prstGeom prst="roundRect">
            <a:avLst>
              <a:gd name="adj" fmla="val 50000"/>
            </a:avLst>
          </a:prstGeom>
          <a:solidFill>
            <a:srgbClr val="EBD6D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E1564F5-FDFA-4392-808A-C8C13A7239BE}"/>
              </a:ext>
            </a:extLst>
          </p:cNvPr>
          <p:cNvSpPr>
            <a:spLocks noGrp="1"/>
          </p:cNvSpPr>
          <p:nvPr/>
        </p:nvSpPr>
        <p:spPr>
          <a:xfrm>
            <a:off x="5200650" y="54483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终局：镇压大厅 → 账册 → 崖口</a:t>
            </a:r>
          </a:p>
        </p:txBody>
      </p:sp>
    </p:spTree>
    <p:extLst>
      <p:ext uri="{BB962C8B-B14F-4D97-AF65-F5344CB8AC3E}">
        <p14:creationId xmlns:p14="http://schemas.microsoft.com/office/powerpoint/2010/main" val="575435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8BA2FC-E53E-0FA4-EAAE-609E8DB19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E68EEFB-3059-70FD-BE3C-1C40DE82F6D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6EF6D7-BB19-2EB9-3C26-1C21418BBA28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05 / PLAN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1D99A56-3FCF-FE58-7793-EFE657F2637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平面图：地表</a:t>
            </a:r>
            <a:endParaRPr sz="300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131DF31-8205-666B-1035-8F6A5634234B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0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7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874CAF7-6E78-ED9B-1052-5CAFF6017A7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C262FFDF-0083-C763-EB5E-08179551D4C5}"/>
              </a:ext>
            </a:extLst>
          </p:cNvPr>
          <p:cNvSpPr>
            <a:spLocks noGrp="1"/>
          </p:cNvSpPr>
          <p:nvPr/>
        </p:nvSpPr>
        <p:spPr>
          <a:xfrm>
            <a:off x="742950" y="54292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FE3C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804C31-5F2B-83E8-6C89-644B8CCF22F4}"/>
              </a:ext>
            </a:extLst>
          </p:cNvPr>
          <p:cNvSpPr>
            <a:spLocks noGrp="1"/>
          </p:cNvSpPr>
          <p:nvPr/>
        </p:nvSpPr>
        <p:spPr>
          <a:xfrm>
            <a:off x="838200" y="54483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地表：调查 → 修钟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E32A733-2A37-49BD-6259-F6EE470C47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2556" y="0"/>
            <a:ext cx="4896047" cy="6858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5C26AC6-49E5-478C-73B8-6B3A5789D9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" y="1609724"/>
            <a:ext cx="3555449" cy="360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301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52C6BC-90A3-4D17-70B9-BF20C9FE1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38CD6511-0446-6007-6C86-D4E526265514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7710D8-9DB9-1086-CCAF-984D71A606B8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05 / PLAN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CA88B7-FD58-E659-8020-F73D16EF8484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平面图：地下</a:t>
            </a:r>
            <a:endParaRPr sz="300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4B835CB-1FE6-B541-F14B-ACDED1CA9639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0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8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CD34E63-E70A-E3AF-462B-A0BB17508C3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5AFA543-D007-5FD5-37DF-410C0F761F9D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2286000" cy="285750"/>
          </a:xfrm>
          <a:prstGeom prst="roundRect">
            <a:avLst>
              <a:gd name="adj" fmla="val 50000"/>
            </a:avLst>
          </a:prstGeom>
          <a:solidFill>
            <a:srgbClr val="DCE9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91A63D6-50BB-5852-D7CE-559CEFE67372}"/>
              </a:ext>
            </a:extLst>
          </p:cNvPr>
          <p:cNvSpPr>
            <a:spLocks noGrp="1"/>
          </p:cNvSpPr>
          <p:nvPr/>
        </p:nvSpPr>
        <p:spPr>
          <a:xfrm>
            <a:off x="704850" y="54483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975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井下：教学</a:t>
            </a:r>
            <a:r>
              <a:rPr sz="975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 → </a:t>
            </a:r>
            <a:r>
              <a:rPr sz="975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追逐</a:t>
            </a:r>
            <a:r>
              <a:rPr sz="975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 → </a:t>
            </a:r>
            <a:r>
              <a:rPr sz="975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谜题</a:t>
            </a:r>
            <a:endParaRPr sz="975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680CBD03-EB5B-C576-D999-E4616DEB20AB}"/>
              </a:ext>
            </a:extLst>
          </p:cNvPr>
          <p:cNvSpPr>
            <a:spLocks noGrp="1"/>
          </p:cNvSpPr>
          <p:nvPr/>
        </p:nvSpPr>
        <p:spPr>
          <a:xfrm>
            <a:off x="3028950" y="5429250"/>
            <a:ext cx="2667000" cy="285750"/>
          </a:xfrm>
          <a:prstGeom prst="roundRect">
            <a:avLst>
              <a:gd name="adj" fmla="val 50000"/>
            </a:avLst>
          </a:prstGeom>
          <a:solidFill>
            <a:srgbClr val="EBD6D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B55ECEC-6EAF-E39B-2759-F2BCD2D10F84}"/>
              </a:ext>
            </a:extLst>
          </p:cNvPr>
          <p:cNvSpPr>
            <a:spLocks noGrp="1"/>
          </p:cNvSpPr>
          <p:nvPr/>
        </p:nvSpPr>
        <p:spPr>
          <a:xfrm>
            <a:off x="3124200" y="544830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975" b="1" dirty="0" err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终局：镇压大厅</a:t>
            </a:r>
            <a:r>
              <a:rPr sz="975" b="1" dirty="0">
                <a:solidFill>
                  <a:srgbClr val="8F3D3D"/>
                </a:solidFill>
                <a:latin typeface="SimSun"/>
                <a:ea typeface="SimSun"/>
                <a:cs typeface="SimSun"/>
              </a:rPr>
              <a:t> → </a:t>
            </a:r>
            <a:r>
              <a:rPr sz="975" b="1" dirty="0" err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账册</a:t>
            </a:r>
            <a:r>
              <a:rPr sz="975" b="1" dirty="0">
                <a:solidFill>
                  <a:srgbClr val="8F3D3D"/>
                </a:solidFill>
                <a:latin typeface="SimSun"/>
                <a:ea typeface="SimSun"/>
                <a:cs typeface="SimSun"/>
              </a:rPr>
              <a:t> → </a:t>
            </a:r>
            <a:r>
              <a:rPr sz="975" b="1" dirty="0" err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崖口</a:t>
            </a:r>
            <a:endParaRPr sz="975" b="1" dirty="0">
              <a:solidFill>
                <a:srgbClr val="8F3D3D"/>
              </a:solidFill>
              <a:latin typeface="SimSun"/>
              <a:ea typeface="SimSun"/>
              <a:cs typeface="SimSun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E4A087D-4E94-148B-B7C1-46A590E5F9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9522" y="0"/>
            <a:ext cx="3541426" cy="6858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596957C-2939-856C-C700-08AFB0A086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22848" y="0"/>
            <a:ext cx="2766675" cy="6858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24C15D93-985D-7298-C764-936E36AF30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" y="1609724"/>
            <a:ext cx="3555449" cy="360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959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009D2FB-86DF-40AB-AF79-9355C3C619B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26F65F-BC24-41E0-A66A-DBE99FD1C080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06 / PACING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0B52258-DE05-4EA1-9B3D-87A66E475056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流程节拍：交替使用信息密度与生存压力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260E6C3-7D59-479B-9988-D9477E08F0F1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0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9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A9565B-9E60-4861-9839-1F70189A2364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81125" y="1428750"/>
            <a:ext cx="9429750" cy="3857625"/>
          </a:xfrm>
          <a:prstGeom prst="roundRect">
            <a:avLst>
              <a:gd name="adj" fmla="val 2963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4942AA15-E315-45FF-90DA-D3FFF5918E03}"/>
              </a:ext>
            </a:extLst>
          </p:cNvPr>
          <p:cNvSpPr>
            <a:spLocks noGrp="1"/>
          </p:cNvSpPr>
          <p:nvPr/>
        </p:nvSpPr>
        <p:spPr>
          <a:xfrm>
            <a:off x="876300" y="5334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建立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B01EF2-4A14-4FC6-A63F-1D3EA34EA742}"/>
              </a:ext>
            </a:extLst>
          </p:cNvPr>
          <p:cNvSpPr>
            <a:spLocks noGrp="1"/>
          </p:cNvSpPr>
          <p:nvPr/>
        </p:nvSpPr>
        <p:spPr>
          <a:xfrm>
            <a:off x="876300" y="5619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05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简报 / 调查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873A17-7742-4261-892E-04DE841926E9}"/>
              </a:ext>
            </a:extLst>
          </p:cNvPr>
          <p:cNvSpPr>
            <a:spLocks noGrp="1"/>
          </p:cNvSpPr>
          <p:nvPr/>
        </p:nvSpPr>
        <p:spPr>
          <a:xfrm>
            <a:off x="3009900" y="5334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学习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38650D0-C20A-423E-A2EF-C4E25D3F768F}"/>
              </a:ext>
            </a:extLst>
          </p:cNvPr>
          <p:cNvSpPr>
            <a:spLocks noGrp="1"/>
          </p:cNvSpPr>
          <p:nvPr/>
        </p:nvSpPr>
        <p:spPr>
          <a:xfrm>
            <a:off x="3009900" y="5619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05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修钟 / 单职能敌人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2AAFC03-A5D0-448E-A964-396E8A174B3B}"/>
              </a:ext>
            </a:extLst>
          </p:cNvPr>
          <p:cNvSpPr>
            <a:spLocks noGrp="1"/>
          </p:cNvSpPr>
          <p:nvPr/>
        </p:nvSpPr>
        <p:spPr>
          <a:xfrm>
            <a:off x="5143500" y="5334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峰值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D20DABE-A2F2-47F6-9B84-9EC4DD1011F2}"/>
              </a:ext>
            </a:extLst>
          </p:cNvPr>
          <p:cNvSpPr>
            <a:spLocks noGrp="1"/>
          </p:cNvSpPr>
          <p:nvPr/>
        </p:nvSpPr>
        <p:spPr>
          <a:xfrm>
            <a:off x="5143500" y="5619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05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井蠊</a:t>
            </a:r>
            <a:r>
              <a:rPr sz="105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追逐</a:t>
            </a:r>
            <a:endParaRPr sz="1050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B954A34-B563-40DD-A245-F15B202B48D8}"/>
              </a:ext>
            </a:extLst>
          </p:cNvPr>
          <p:cNvSpPr>
            <a:spLocks noGrp="1"/>
          </p:cNvSpPr>
          <p:nvPr/>
        </p:nvSpPr>
        <p:spPr>
          <a:xfrm>
            <a:off x="7277100" y="5334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重组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1724025-07F3-4CFD-8EC4-AC40778A7025}"/>
              </a:ext>
            </a:extLst>
          </p:cNvPr>
          <p:cNvSpPr>
            <a:spLocks noGrp="1"/>
          </p:cNvSpPr>
          <p:nvPr/>
        </p:nvSpPr>
        <p:spPr>
          <a:xfrm>
            <a:off x="7277100" y="5619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05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回声 / 共振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786E650-D899-441C-8DC4-14EF48DC648F}"/>
              </a:ext>
            </a:extLst>
          </p:cNvPr>
          <p:cNvSpPr>
            <a:spLocks noGrp="1"/>
          </p:cNvSpPr>
          <p:nvPr/>
        </p:nvSpPr>
        <p:spPr>
          <a:xfrm>
            <a:off x="9410700" y="533400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决战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6BD761B-BC47-49F9-AB47-9B00F6B9C00C}"/>
              </a:ext>
            </a:extLst>
          </p:cNvPr>
          <p:cNvSpPr>
            <a:spLocks noGrp="1"/>
          </p:cNvSpPr>
          <p:nvPr/>
        </p:nvSpPr>
        <p:spPr>
          <a:xfrm>
            <a:off x="9410700" y="5619750"/>
            <a:ext cx="1428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05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S60 / 账册</a:t>
            </a:r>
          </a:p>
        </p:txBody>
      </p:sp>
    </p:spTree>
    <p:extLst>
      <p:ext uri="{BB962C8B-B14F-4D97-AF65-F5344CB8AC3E}">
        <p14:creationId xmlns:p14="http://schemas.microsoft.com/office/powerpoint/2010/main" val="414996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6CC489E0-64D8-4289-ADE5-8C3B22A8F18E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6065D75-365D-4ACC-86FD-6B218F221906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07 / FLOW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E459CF0-E552-4354-B7F1-4B94B7BEE751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地表流程：三次确认，把玩家引向钟与井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37A28D-257C-4E3D-9583-6983F921282A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6F87BE9-69E0-4D95-803B-1CFEEE7E52CD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l="5349" r="5349"/>
          <a:stretch>
            <a:fillRect/>
          </a:stretch>
        </p:blipFill>
        <p:spPr>
          <a:xfrm>
            <a:off x="609600" y="1619250"/>
            <a:ext cx="3371850" cy="2190750"/>
          </a:xfrm>
          <a:prstGeom prst="roundRect">
            <a:avLst>
              <a:gd name="adj" fmla="val 5217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D00616B-627D-4BF6-BEE1-D3795B3BE45E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3371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lang="en-US" altLang="zh-CN" sz="1575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1.</a:t>
            </a:r>
            <a:r>
              <a:rPr lang="zh-CN" altLang="en-US" sz="1575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 </a:t>
            </a:r>
            <a:r>
              <a:rPr sz="1575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外院</a:t>
            </a:r>
            <a:endParaRPr sz="1575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7E29CFC-3930-474F-AF31-7E2DD1BD7AF2}"/>
              </a:ext>
            </a:extLst>
          </p:cNvPr>
          <p:cNvSpPr>
            <a:spLocks noGrp="1"/>
          </p:cNvSpPr>
          <p:nvPr/>
        </p:nvSpPr>
        <p:spPr>
          <a:xfrm>
            <a:off x="609600" y="4410075"/>
            <a:ext cx="3371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车辙 + 旗帜/血迹</a:t>
            </a:r>
          </a:p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确认押运队到场</a:t>
            </a:r>
          </a:p>
        </p:txBody>
      </p:sp>
      <p:sp>
        <p:nvSpPr>
          <p:cNvPr id="9" name="箭头: V 形 8">
            <a:extLst>
              <a:ext uri="{FF2B5EF4-FFF2-40B4-BE49-F238E27FC236}">
                <a16:creationId xmlns:a16="http://schemas.microsoft.com/office/drawing/2014/main" id="{B29936C1-1A41-4780-919F-370AA3CFD8D5}"/>
              </a:ext>
            </a:extLst>
          </p:cNvPr>
          <p:cNvSpPr>
            <a:spLocks noGrp="1"/>
          </p:cNvSpPr>
          <p:nvPr/>
        </p:nvSpPr>
        <p:spPr>
          <a:xfrm>
            <a:off x="3886200" y="5238750"/>
            <a:ext cx="514350" cy="323850"/>
          </a:xfrm>
          <a:prstGeom prst="chevron">
            <a:avLst/>
          </a:prstGeom>
          <a:solidFill>
            <a:srgbClr val="DCE9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4"/>
          <a:srcRect l="5835" r="5835"/>
          <a:stretch>
            <a:fillRect/>
          </a:stretch>
        </p:blipFill>
        <p:spPr>
          <a:xfrm>
            <a:off x="4286250" y="1619250"/>
            <a:ext cx="3371850" cy="2190750"/>
          </a:xfrm>
          <a:prstGeom prst="roundRect">
            <a:avLst>
              <a:gd name="adj" fmla="val 5217"/>
            </a:avLst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26A783F-E957-4A99-AFC8-0441BB013E87}"/>
              </a:ext>
            </a:extLst>
          </p:cNvPr>
          <p:cNvSpPr>
            <a:spLocks noGrp="1"/>
          </p:cNvSpPr>
          <p:nvPr/>
        </p:nvSpPr>
        <p:spPr>
          <a:xfrm>
            <a:off x="4286250" y="4000500"/>
            <a:ext cx="3371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lang="en-US" sz="1575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2.</a:t>
            </a:r>
            <a:r>
              <a:rPr sz="1575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 </a:t>
            </a:r>
            <a:r>
              <a:rPr lang="zh-CN" altLang="en-US" sz="1575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内</a:t>
            </a:r>
            <a:r>
              <a:rPr sz="1575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殿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29BA48B-FFBF-4E92-92EB-B7764A043C5D}"/>
              </a:ext>
            </a:extLst>
          </p:cNvPr>
          <p:cNvSpPr>
            <a:spLocks noGrp="1"/>
          </p:cNvSpPr>
          <p:nvPr/>
        </p:nvSpPr>
        <p:spPr>
          <a:xfrm>
            <a:off x="4286250" y="4410075"/>
            <a:ext cx="3371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钟舌 + 夜记 + 祷文</a:t>
            </a:r>
          </a:p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确认夜间活动</a:t>
            </a:r>
          </a:p>
        </p:txBody>
      </p:sp>
      <p:sp>
        <p:nvSpPr>
          <p:cNvPr id="13" name="箭头: V 形 12">
            <a:extLst>
              <a:ext uri="{FF2B5EF4-FFF2-40B4-BE49-F238E27FC236}">
                <a16:creationId xmlns:a16="http://schemas.microsoft.com/office/drawing/2014/main" id="{09EAA310-8391-4026-AC7D-6A7A11437648}"/>
              </a:ext>
            </a:extLst>
          </p:cNvPr>
          <p:cNvSpPr>
            <a:spLocks noGrp="1"/>
          </p:cNvSpPr>
          <p:nvPr/>
        </p:nvSpPr>
        <p:spPr>
          <a:xfrm>
            <a:off x="7562850" y="5238750"/>
            <a:ext cx="514350" cy="323850"/>
          </a:xfrm>
          <a:prstGeom prst="chevron">
            <a:avLst/>
          </a:prstGeom>
          <a:solidFill>
            <a:srgbClr val="DCE9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rcRect l="5653" r="5653"/>
          <a:stretch>
            <a:fillRect/>
          </a:stretch>
        </p:blipFill>
        <p:spPr>
          <a:xfrm>
            <a:off x="7962900" y="1619250"/>
            <a:ext cx="3371850" cy="2190750"/>
          </a:xfrm>
          <a:prstGeom prst="roundRect">
            <a:avLst>
              <a:gd name="adj" fmla="val 5217"/>
            </a:avLst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8C3348B-25A4-4534-BF21-1177C6A10F7D}"/>
              </a:ext>
            </a:extLst>
          </p:cNvPr>
          <p:cNvSpPr>
            <a:spLocks noGrp="1"/>
          </p:cNvSpPr>
          <p:nvPr/>
        </p:nvSpPr>
        <p:spPr>
          <a:xfrm>
            <a:off x="7962900" y="4000500"/>
            <a:ext cx="33718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lang="en-US" sz="1575" b="1" dirty="0">
                <a:solidFill>
                  <a:srgbClr val="B58A3B"/>
                </a:solidFill>
                <a:latin typeface="SimSun"/>
                <a:ea typeface="SimSun"/>
                <a:cs typeface="SimSun"/>
              </a:rPr>
              <a:t>3.</a:t>
            </a:r>
            <a:r>
              <a:rPr sz="1575" b="1" dirty="0">
                <a:solidFill>
                  <a:srgbClr val="B58A3B"/>
                </a:solidFill>
                <a:latin typeface="SimSun"/>
                <a:ea typeface="SimSun"/>
                <a:cs typeface="SimSun"/>
              </a:rPr>
              <a:t> 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B39EAE7-B43C-4203-AE7B-81C597FF550A}"/>
              </a:ext>
            </a:extLst>
          </p:cNvPr>
          <p:cNvSpPr>
            <a:spLocks noGrp="1"/>
          </p:cNvSpPr>
          <p:nvPr/>
        </p:nvSpPr>
        <p:spPr>
          <a:xfrm>
            <a:off x="7962900" y="4410075"/>
            <a:ext cx="33718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安装钟舌与配重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完成轻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—重—</a:t>
            </a: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回声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—轻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25C1410-3661-44B1-A817-4E09DDD3998A}"/>
              </a:ext>
            </a:extLst>
          </p:cNvPr>
          <p:cNvSpPr>
            <a:spLocks noGrp="1"/>
          </p:cNvSpPr>
          <p:nvPr/>
        </p:nvSpPr>
        <p:spPr>
          <a:xfrm>
            <a:off x="2000250" y="5429250"/>
            <a:ext cx="8191500" cy="457200"/>
          </a:xfrm>
          <a:prstGeom prst="roundRect">
            <a:avLst>
              <a:gd name="adj" fmla="val 25000"/>
            </a:avLst>
          </a:prstGeom>
          <a:solidFill>
            <a:srgbClr val="EFE3C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CC6E9AA-42FD-4FFD-AB9B-2B24F17DD075}"/>
              </a:ext>
            </a:extLst>
          </p:cNvPr>
          <p:cNvSpPr>
            <a:spLocks noGrp="1"/>
          </p:cNvSpPr>
          <p:nvPr/>
        </p:nvSpPr>
        <p:spPr>
          <a:xfrm>
            <a:off x="2190750" y="5486400"/>
            <a:ext cx="781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425" b="1">
                <a:solidFill>
                  <a:srgbClr val="7D642F"/>
                </a:solidFill>
                <a:latin typeface="SimSun"/>
                <a:ea typeface="SimSun"/>
                <a:cs typeface="SimSun"/>
              </a:defRPr>
            </a:pPr>
            <a:r>
              <a:rPr sz="1425" b="1">
                <a:solidFill>
                  <a:srgbClr val="7D642F"/>
                </a:solidFill>
                <a:latin typeface="SimSun"/>
                <a:ea typeface="SimSun"/>
                <a:cs typeface="SimSun"/>
              </a:rPr>
              <a:t>钟声规则在安全区完成第一次学习，并直接打开地下入口。</a:t>
            </a:r>
          </a:p>
        </p:txBody>
      </p:sp>
    </p:spTree>
    <p:extLst>
      <p:ext uri="{BB962C8B-B14F-4D97-AF65-F5344CB8AC3E}">
        <p14:creationId xmlns:p14="http://schemas.microsoft.com/office/powerpoint/2010/main" val="716317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>
            <a:extLst>
              <a:ext uri="{FF2B5EF4-FFF2-40B4-BE49-F238E27FC236}">
                <a16:creationId xmlns:a16="http://schemas.microsoft.com/office/drawing/2014/main" id="{87C9E76C-566C-49D9-B82E-9D595F9F0191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E37D30D-A981-484F-8544-FE6E72D53D28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08 / GAMEPLAY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F40014-C3EF-47C8-8DC7-532B56C42575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玩法一：修钟与钟序</a:t>
            </a:r>
            <a:endParaRPr sz="300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D13421A-925C-4B9B-BD6C-7B8EDCADFE2C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11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6DC77C1-4656-4251-A760-485720ED15D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l="13816" r="13816"/>
          <a:stretch>
            <a:fillRect/>
          </a:stretch>
        </p:blipFill>
        <p:spPr>
          <a:xfrm>
            <a:off x="609600" y="1504950"/>
            <a:ext cx="514350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B4EFB3D-B48C-4BFF-89F2-44635CDEE2FB}"/>
              </a:ext>
            </a:extLst>
          </p:cNvPr>
          <p:cNvSpPr>
            <a:spLocks noGrp="1"/>
          </p:cNvSpPr>
          <p:nvPr/>
        </p:nvSpPr>
        <p:spPr>
          <a:xfrm>
            <a:off x="6496050" y="2286000"/>
            <a:ext cx="3924300" cy="28575"/>
          </a:xfrm>
          <a:prstGeom prst="rect">
            <a:avLst/>
          </a:prstGeom>
          <a:solidFill>
            <a:srgbClr val="C5CDC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19703A6-831D-488D-8559-54C2572CFFFD}"/>
              </a:ext>
            </a:extLst>
          </p:cNvPr>
          <p:cNvSpPr>
            <a:spLocks noGrp="1"/>
          </p:cNvSpPr>
          <p:nvPr/>
        </p:nvSpPr>
        <p:spPr>
          <a:xfrm>
            <a:off x="6191250" y="1790700"/>
            <a:ext cx="438150" cy="438150"/>
          </a:xfrm>
          <a:prstGeom prst="ellipse">
            <a:avLst/>
          </a:prstGeom>
          <a:solidFill>
            <a:srgbClr val="1F6F7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34C3DA1-AA25-4914-850B-C893110D729D}"/>
              </a:ext>
            </a:extLst>
          </p:cNvPr>
          <p:cNvSpPr>
            <a:spLocks noGrp="1"/>
          </p:cNvSpPr>
          <p:nvPr/>
        </p:nvSpPr>
        <p:spPr>
          <a:xfrm>
            <a:off x="6267450" y="184785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2C33663-2FBB-4286-B47D-B6CCEEA48D90}"/>
              </a:ext>
            </a:extLst>
          </p:cNvPr>
          <p:cNvSpPr>
            <a:spLocks noGrp="1"/>
          </p:cNvSpPr>
          <p:nvPr/>
        </p:nvSpPr>
        <p:spPr>
          <a:xfrm>
            <a:off x="6858000" y="18097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安装钟舌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CB26A967-A252-4653-9AA2-7C767F9DDC07}"/>
              </a:ext>
            </a:extLst>
          </p:cNvPr>
          <p:cNvSpPr>
            <a:spLocks noGrp="1"/>
          </p:cNvSpPr>
          <p:nvPr/>
        </p:nvSpPr>
        <p:spPr>
          <a:xfrm>
            <a:off x="6191250" y="2419350"/>
            <a:ext cx="438150" cy="438150"/>
          </a:xfrm>
          <a:prstGeom prst="ellipse">
            <a:avLst/>
          </a:prstGeom>
          <a:solidFill>
            <a:srgbClr val="1F6F7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76E14E-72A0-4C3C-97AD-917AB651A0F4}"/>
              </a:ext>
            </a:extLst>
          </p:cNvPr>
          <p:cNvSpPr>
            <a:spLocks noGrp="1"/>
          </p:cNvSpPr>
          <p:nvPr/>
        </p:nvSpPr>
        <p:spPr>
          <a:xfrm>
            <a:off x="6267450" y="247650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74245AE-8568-49C9-9BD4-CBCA61D92FA4}"/>
              </a:ext>
            </a:extLst>
          </p:cNvPr>
          <p:cNvSpPr>
            <a:spLocks noGrp="1"/>
          </p:cNvSpPr>
          <p:nvPr/>
        </p:nvSpPr>
        <p:spPr>
          <a:xfrm>
            <a:off x="6858000" y="24384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恢复配重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AFC4E8E6-BF28-488F-83FB-CD3CE1F07B96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438150" cy="438150"/>
          </a:xfrm>
          <a:prstGeom prst="ellipse">
            <a:avLst/>
          </a:prstGeom>
          <a:solidFill>
            <a:srgbClr val="B58A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5A811F-F499-4005-B880-5EB57E76BFFB}"/>
              </a:ext>
            </a:extLst>
          </p:cNvPr>
          <p:cNvSpPr>
            <a:spLocks noGrp="1"/>
          </p:cNvSpPr>
          <p:nvPr/>
        </p:nvSpPr>
        <p:spPr>
          <a:xfrm>
            <a:off x="6267450" y="310515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F385534-F531-4B90-BE5F-881CCB86F589}"/>
              </a:ext>
            </a:extLst>
          </p:cNvPr>
          <p:cNvSpPr>
            <a:spLocks noGrp="1"/>
          </p:cNvSpPr>
          <p:nvPr/>
        </p:nvSpPr>
        <p:spPr>
          <a:xfrm>
            <a:off x="6858000" y="30670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轻击</a:t>
            </a: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200934E-A51D-42D5-9192-EF45860C4E8D}"/>
              </a:ext>
            </a:extLst>
          </p:cNvPr>
          <p:cNvSpPr>
            <a:spLocks noGrp="1"/>
          </p:cNvSpPr>
          <p:nvPr/>
        </p:nvSpPr>
        <p:spPr>
          <a:xfrm>
            <a:off x="6191250" y="3676650"/>
            <a:ext cx="438150" cy="438150"/>
          </a:xfrm>
          <a:prstGeom prst="ellipse">
            <a:avLst/>
          </a:prstGeom>
          <a:solidFill>
            <a:srgbClr val="B58A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3C57B4-1661-4C00-9681-CF448D155321}"/>
              </a:ext>
            </a:extLst>
          </p:cNvPr>
          <p:cNvSpPr>
            <a:spLocks noGrp="1"/>
          </p:cNvSpPr>
          <p:nvPr/>
        </p:nvSpPr>
        <p:spPr>
          <a:xfrm>
            <a:off x="6267450" y="373380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0E9413F-3A34-4B46-9897-672AF7CA0B3C}"/>
              </a:ext>
            </a:extLst>
          </p:cNvPr>
          <p:cNvSpPr>
            <a:spLocks noGrp="1"/>
          </p:cNvSpPr>
          <p:nvPr/>
        </p:nvSpPr>
        <p:spPr>
          <a:xfrm>
            <a:off x="6858000" y="36957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重击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8202597E-5571-4424-BF23-C7CC7EB8AC9F}"/>
              </a:ext>
            </a:extLst>
          </p:cNvPr>
          <p:cNvSpPr>
            <a:spLocks noGrp="1"/>
          </p:cNvSpPr>
          <p:nvPr/>
        </p:nvSpPr>
        <p:spPr>
          <a:xfrm>
            <a:off x="6191250" y="4305300"/>
            <a:ext cx="438150" cy="438150"/>
          </a:xfrm>
          <a:prstGeom prst="ellipse">
            <a:avLst/>
          </a:prstGeom>
          <a:solidFill>
            <a:srgbClr val="B58A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4778EC8-61F7-4D1B-9E33-D62306EA4540}"/>
              </a:ext>
            </a:extLst>
          </p:cNvPr>
          <p:cNvSpPr>
            <a:spLocks noGrp="1"/>
          </p:cNvSpPr>
          <p:nvPr/>
        </p:nvSpPr>
        <p:spPr>
          <a:xfrm>
            <a:off x="6267450" y="436245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5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23058BD-4A94-4346-9D6D-1BAED3BF44BA}"/>
              </a:ext>
            </a:extLst>
          </p:cNvPr>
          <p:cNvSpPr>
            <a:spLocks noGrp="1"/>
          </p:cNvSpPr>
          <p:nvPr/>
        </p:nvSpPr>
        <p:spPr>
          <a:xfrm>
            <a:off x="6858000" y="43243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 dirty="0" err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等待</a:t>
            </a:r>
            <a:r>
              <a:rPr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 2</a:t>
            </a:r>
            <a:r>
              <a:rPr lang="en-US"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秒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EB7AE8EF-0000-4474-9277-18FFD35EE691}"/>
              </a:ext>
            </a:extLst>
          </p:cNvPr>
          <p:cNvSpPr>
            <a:spLocks noGrp="1"/>
          </p:cNvSpPr>
          <p:nvPr/>
        </p:nvSpPr>
        <p:spPr>
          <a:xfrm>
            <a:off x="6191250" y="4933950"/>
            <a:ext cx="438150" cy="438150"/>
          </a:xfrm>
          <a:prstGeom prst="ellipse">
            <a:avLst/>
          </a:prstGeom>
          <a:solidFill>
            <a:srgbClr val="B58A3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CC9846-31AB-45B9-BA13-240D2F2D8907}"/>
              </a:ext>
            </a:extLst>
          </p:cNvPr>
          <p:cNvSpPr>
            <a:spLocks noGrp="1"/>
          </p:cNvSpPr>
          <p:nvPr/>
        </p:nvSpPr>
        <p:spPr>
          <a:xfrm>
            <a:off x="6267450" y="4991100"/>
            <a:ext cx="28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275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6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BD947EEF-4148-4F1D-B55D-C7423F81AE32}"/>
              </a:ext>
            </a:extLst>
          </p:cNvPr>
          <p:cNvSpPr>
            <a:spLocks noGrp="1"/>
          </p:cNvSpPr>
          <p:nvPr/>
        </p:nvSpPr>
        <p:spPr>
          <a:xfrm>
            <a:off x="6858000" y="495300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轻击开启井口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4E2BC20-F419-464B-8888-25E72858C444}"/>
              </a:ext>
            </a:extLst>
          </p:cNvPr>
          <p:cNvSpPr>
            <a:spLocks noGrp="1"/>
          </p:cNvSpPr>
          <p:nvPr/>
        </p:nvSpPr>
        <p:spPr>
          <a:xfrm>
            <a:off x="6858000" y="5676900"/>
            <a:ext cx="3238500" cy="285750"/>
          </a:xfrm>
          <a:prstGeom prst="roundRect">
            <a:avLst>
              <a:gd name="adj" fmla="val 50000"/>
            </a:avLst>
          </a:prstGeom>
          <a:solidFill>
            <a:srgbClr val="EBD6D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0B8831E-CEE5-4A08-A62C-40BFBEAD0580}"/>
              </a:ext>
            </a:extLst>
          </p:cNvPr>
          <p:cNvSpPr>
            <a:spLocks noGrp="1"/>
          </p:cNvSpPr>
          <p:nvPr/>
        </p:nvSpPr>
        <p:spPr>
          <a:xfrm>
            <a:off x="6953250" y="5695950"/>
            <a:ext cx="3048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错误输入：序列重置，可继续尝试</a:t>
            </a:r>
          </a:p>
        </p:txBody>
      </p:sp>
    </p:spTree>
    <p:extLst>
      <p:ext uri="{BB962C8B-B14F-4D97-AF65-F5344CB8AC3E}">
        <p14:creationId xmlns:p14="http://schemas.microsoft.com/office/powerpoint/2010/main" val="1490030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956AA2FF-139B-4DA1-8B23-F3254BB0071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8739A77-D273-48F2-94D6-DCCB2BDDDE59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09 / TRANSITION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2520E6-F0E8-47EC-B458-00CB2F78E921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下井：一次明确的垂直转场，切换规则与情绪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93097F-C1AC-42B5-92B8-3BAF3CF7EC1B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2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1D2045-0E8A-4E88-B80C-883135E6F99C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 l="352" r="352"/>
          <a:stretch>
            <a:fillRect/>
          </a:stretch>
        </p:blipFill>
        <p:spPr>
          <a:xfrm>
            <a:off x="609600" y="1524000"/>
            <a:ext cx="7239000" cy="4191000"/>
          </a:xfrm>
          <a:prstGeom prst="roundRect">
            <a:avLst>
              <a:gd name="adj" fmla="val 2727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317B862E-DCE6-4C32-920E-E89222BB0D05}"/>
              </a:ext>
            </a:extLst>
          </p:cNvPr>
          <p:cNvSpPr>
            <a:spLocks noGrp="1"/>
          </p:cNvSpPr>
          <p:nvPr/>
        </p:nvSpPr>
        <p:spPr>
          <a:xfrm>
            <a:off x="8096250" y="1524000"/>
            <a:ext cx="3143250" cy="4191000"/>
          </a:xfrm>
          <a:prstGeom prst="roundRect">
            <a:avLst>
              <a:gd name="adj" fmla="val 3636"/>
            </a:avLst>
          </a:prstGeom>
          <a:solidFill>
            <a:srgbClr val="174D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8FE14B-D297-4B83-92A3-C460AC763303}"/>
              </a:ext>
            </a:extLst>
          </p:cNvPr>
          <p:cNvSpPr>
            <a:spLocks noGrp="1"/>
          </p:cNvSpPr>
          <p:nvPr/>
        </p:nvSpPr>
        <p:spPr>
          <a:xfrm>
            <a:off x="8382000" y="1905000"/>
            <a:ext cx="257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875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875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空间变化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009EA4C-C288-4734-A6EE-38C3DE2836B6}"/>
              </a:ext>
            </a:extLst>
          </p:cNvPr>
          <p:cNvSpPr>
            <a:spLocks noGrp="1"/>
          </p:cNvSpPr>
          <p:nvPr/>
        </p:nvSpPr>
        <p:spPr>
          <a:xfrm>
            <a:off x="8420100" y="2476500"/>
            <a:ext cx="24765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40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Y = 0</a:t>
            </a:r>
          </a:p>
          <a:p>
            <a:pPr algn="ctr">
              <a:defRPr sz="240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↓</a:t>
            </a:r>
          </a:p>
          <a:p>
            <a:pPr algn="ctr">
              <a:defRPr sz="240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240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Y = -4 ～ -12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C567223-F5A8-4802-9467-950AB0EB602F}"/>
              </a:ext>
            </a:extLst>
          </p:cNvPr>
          <p:cNvSpPr>
            <a:spLocks noGrp="1"/>
          </p:cNvSpPr>
          <p:nvPr/>
        </p:nvSpPr>
        <p:spPr>
          <a:xfrm>
            <a:off x="8591550" y="4000500"/>
            <a:ext cx="219075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500">
                <a:solidFill>
                  <a:srgbClr val="E5EEEE"/>
                </a:solidFill>
                <a:latin typeface="SimSun"/>
                <a:ea typeface="SimSun"/>
                <a:cs typeface="SimSun"/>
              </a:defRPr>
            </a:pPr>
            <a:r>
              <a:rPr sz="1500">
                <a:solidFill>
                  <a:srgbClr val="E5EEEE"/>
                </a:solidFill>
                <a:latin typeface="SimSun"/>
                <a:ea typeface="SimSun"/>
                <a:cs typeface="SimSun"/>
              </a:rPr>
              <a:t>视野收窄</a:t>
            </a:r>
          </a:p>
          <a:p>
            <a:pPr algn="ctr">
              <a:defRPr sz="1500">
                <a:solidFill>
                  <a:srgbClr val="E5EEEE"/>
                </a:solidFill>
                <a:latin typeface="SimSun"/>
                <a:ea typeface="SimSun"/>
                <a:cs typeface="SimSun"/>
              </a:defRPr>
            </a:pPr>
            <a:r>
              <a:rPr sz="1500">
                <a:solidFill>
                  <a:srgbClr val="E5EEEE"/>
                </a:solidFill>
                <a:latin typeface="SimSun"/>
                <a:ea typeface="SimSun"/>
                <a:cs typeface="SimSun"/>
              </a:rPr>
              <a:t>光源减少</a:t>
            </a:r>
          </a:p>
          <a:p>
            <a:pPr algn="ctr">
              <a:defRPr sz="1500">
                <a:solidFill>
                  <a:srgbClr val="E5EEEE"/>
                </a:solidFill>
                <a:latin typeface="SimSun"/>
                <a:ea typeface="SimSun"/>
                <a:cs typeface="SimSun"/>
              </a:defRPr>
            </a:pPr>
            <a:r>
              <a:rPr sz="1500">
                <a:solidFill>
                  <a:srgbClr val="E5EEEE"/>
                </a:solidFill>
                <a:latin typeface="SimSun"/>
                <a:ea typeface="SimSun"/>
                <a:cs typeface="SimSun"/>
              </a:rPr>
              <a:t>回声增强</a:t>
            </a:r>
          </a:p>
          <a:p>
            <a:pPr algn="ctr">
              <a:defRPr sz="1500">
                <a:solidFill>
                  <a:srgbClr val="E5EEEE"/>
                </a:solidFill>
                <a:latin typeface="SimSun"/>
                <a:ea typeface="SimSun"/>
                <a:cs typeface="SimSun"/>
              </a:defRPr>
            </a:pPr>
            <a:r>
              <a:rPr sz="1500">
                <a:solidFill>
                  <a:srgbClr val="E5EEEE"/>
                </a:solidFill>
                <a:latin typeface="SimSun"/>
                <a:ea typeface="SimSun"/>
                <a:cs typeface="SimSun"/>
              </a:rPr>
              <a:t>敌人出现</a:t>
            </a:r>
          </a:p>
        </p:txBody>
      </p:sp>
    </p:spTree>
    <p:extLst>
      <p:ext uri="{BB962C8B-B14F-4D97-AF65-F5344CB8AC3E}">
        <p14:creationId xmlns:p14="http://schemas.microsoft.com/office/powerpoint/2010/main" val="2495851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FEDA0758-5A0C-4B86-B916-CB5CFBFB5C4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DA31BD-16A5-4576-BFEF-ADC81B40064C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10 / ENCOUNTER TEACHING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20044A5-F4B8-4D38-9211-4BA64AAF41E4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三段单职能教学，为终局组合战储备对策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89FA16-E0DF-480A-9EF9-0B19FBF5430D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13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B40FE0-6B1B-4A13-9BA8-E573F7413D7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D900CF8-49BD-4F13-9EBE-AC956BD38465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3371850" cy="371475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554F74C-F283-4539-82F9-6965D520D2E3}"/>
              </a:ext>
            </a:extLst>
          </p:cNvPr>
          <p:cNvSpPr>
            <a:spLocks noGrp="1"/>
          </p:cNvSpPr>
          <p:nvPr/>
        </p:nvSpPr>
        <p:spPr>
          <a:xfrm>
            <a:off x="781050" y="1838325"/>
            <a:ext cx="323850" cy="38100"/>
          </a:xfrm>
          <a:prstGeom prst="rect">
            <a:avLst/>
          </a:prstGeom>
          <a:solidFill>
            <a:srgbClr val="8F3D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1405245-31CA-4971-8824-764559C8C349}"/>
              </a:ext>
            </a:extLst>
          </p:cNvPr>
          <p:cNvSpPr>
            <a:spLocks noGrp="1"/>
          </p:cNvSpPr>
          <p:nvPr/>
        </p:nvSpPr>
        <p:spPr>
          <a:xfrm>
            <a:off x="781050" y="1952625"/>
            <a:ext cx="3028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敌怪</a:t>
            </a:r>
            <a:r>
              <a:rPr lang="en-US" altLang="zh-CN"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1</a:t>
            </a:r>
            <a:r>
              <a:rPr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 </a:t>
            </a:r>
            <a:r>
              <a:rPr lang="zh-CN" altLang="en-US"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车夫</a:t>
            </a:r>
            <a:endParaRPr sz="1500" b="1" dirty="0">
              <a:solidFill>
                <a:srgbClr val="1F2A2F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19134A2-1265-461E-8D77-7E77F2353D52}"/>
              </a:ext>
            </a:extLst>
          </p:cNvPr>
          <p:cNvSpPr>
            <a:spLocks noGrp="1"/>
          </p:cNvSpPr>
          <p:nvPr/>
        </p:nvSpPr>
        <p:spPr>
          <a:xfrm>
            <a:off x="781050" y="2333625"/>
            <a:ext cx="302895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0A9B40B3-76A3-4F5F-86CF-B16BCBFC834E}"/>
              </a:ext>
            </a:extLst>
          </p:cNvPr>
          <p:cNvSpPr>
            <a:spLocks noGrp="1"/>
          </p:cNvSpPr>
          <p:nvPr/>
        </p:nvSpPr>
        <p:spPr>
          <a:xfrm>
            <a:off x="1666875" y="2428875"/>
            <a:ext cx="1257300" cy="1257300"/>
          </a:xfrm>
          <a:prstGeom prst="ellipse">
            <a:avLst/>
          </a:prstGeom>
          <a:solidFill>
            <a:srgbClr val="F5F1E8"/>
          </a:solidFill>
          <a:ln w="66675">
            <a:solidFill>
              <a:srgbClr val="8F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9FD6444-B2F6-4F56-948A-DAE072B2A251}"/>
              </a:ext>
            </a:extLst>
          </p:cNvPr>
          <p:cNvSpPr>
            <a:spLocks noGrp="1"/>
          </p:cNvSpPr>
          <p:nvPr/>
        </p:nvSpPr>
        <p:spPr>
          <a:xfrm>
            <a:off x="1990725" y="2752725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700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1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05EB4E-38AA-4C6B-842A-02D8E93F2C82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冲撞通道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4A12205-F615-4C66-99E4-2ECF32C70630}"/>
              </a:ext>
            </a:extLst>
          </p:cNvPr>
          <p:cNvSpPr>
            <a:spLocks noGrp="1"/>
          </p:cNvSpPr>
          <p:nvPr/>
        </p:nvSpPr>
        <p:spPr>
          <a:xfrm>
            <a:off x="1085850" y="4438650"/>
            <a:ext cx="2419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横向闪避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引导撞墙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眩晕反击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EFD8F2A3-6F0D-409E-B26C-88C63727D452}"/>
              </a:ext>
            </a:extLst>
          </p:cNvPr>
          <p:cNvSpPr>
            <a:spLocks noGrp="1"/>
          </p:cNvSpPr>
          <p:nvPr/>
        </p:nvSpPr>
        <p:spPr>
          <a:xfrm>
            <a:off x="4286250" y="1666875"/>
            <a:ext cx="3371850" cy="371475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415DC-7F5D-4370-93D2-782DF6FD2602}"/>
              </a:ext>
            </a:extLst>
          </p:cNvPr>
          <p:cNvSpPr>
            <a:spLocks noGrp="1"/>
          </p:cNvSpPr>
          <p:nvPr/>
        </p:nvSpPr>
        <p:spPr>
          <a:xfrm>
            <a:off x="4457700" y="1838325"/>
            <a:ext cx="323850" cy="3810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54AB712-860A-4486-A2F3-F9C42B40F090}"/>
              </a:ext>
            </a:extLst>
          </p:cNvPr>
          <p:cNvSpPr>
            <a:spLocks noGrp="1"/>
          </p:cNvSpPr>
          <p:nvPr/>
        </p:nvSpPr>
        <p:spPr>
          <a:xfrm>
            <a:off x="4457700" y="1952625"/>
            <a:ext cx="3028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敌怪</a:t>
            </a:r>
            <a:r>
              <a:rPr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2 </a:t>
            </a:r>
            <a:r>
              <a:rPr sz="1500" b="1" dirty="0" err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提灯童子</a:t>
            </a:r>
            <a:endParaRPr sz="1500" b="1" dirty="0">
              <a:solidFill>
                <a:srgbClr val="1F2A2F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1F4F82-D07F-4CA9-8AC9-E7D855369FF2}"/>
              </a:ext>
            </a:extLst>
          </p:cNvPr>
          <p:cNvSpPr>
            <a:spLocks noGrp="1"/>
          </p:cNvSpPr>
          <p:nvPr/>
        </p:nvSpPr>
        <p:spPr>
          <a:xfrm>
            <a:off x="4457700" y="2333625"/>
            <a:ext cx="302895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3FE67BB9-DBC9-48B9-B97E-17CD6A21E7B3}"/>
              </a:ext>
            </a:extLst>
          </p:cNvPr>
          <p:cNvSpPr>
            <a:spLocks noGrp="1"/>
          </p:cNvSpPr>
          <p:nvPr/>
        </p:nvSpPr>
        <p:spPr>
          <a:xfrm>
            <a:off x="5343525" y="2428875"/>
            <a:ext cx="1257300" cy="1257300"/>
          </a:xfrm>
          <a:prstGeom prst="ellipse">
            <a:avLst/>
          </a:prstGeom>
          <a:solidFill>
            <a:srgbClr val="F5F1E8"/>
          </a:solidFill>
          <a:ln w="66675">
            <a:solidFill>
              <a:srgbClr val="B58A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DAC1A37-10EC-49F3-956B-D72BF954C4B8}"/>
              </a:ext>
            </a:extLst>
          </p:cNvPr>
          <p:cNvSpPr>
            <a:spLocks noGrp="1"/>
          </p:cNvSpPr>
          <p:nvPr/>
        </p:nvSpPr>
        <p:spPr>
          <a:xfrm>
            <a:off x="5667375" y="2752725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70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80A42AF-7F78-42EE-95BE-9D674839C459}"/>
              </a:ext>
            </a:extLst>
          </p:cNvPr>
          <p:cNvSpPr>
            <a:spLocks noGrp="1"/>
          </p:cNvSpPr>
          <p:nvPr/>
        </p:nvSpPr>
        <p:spPr>
          <a:xfrm>
            <a:off x="4572000" y="3943350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定点落圈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ED0FB37-72AE-4F59-B952-EF3B99BB75E8}"/>
              </a:ext>
            </a:extLst>
          </p:cNvPr>
          <p:cNvSpPr>
            <a:spLocks noGrp="1"/>
          </p:cNvSpPr>
          <p:nvPr/>
        </p:nvSpPr>
        <p:spPr>
          <a:xfrm>
            <a:off x="4762500" y="4438650"/>
            <a:ext cx="2419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观察脚下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等待结算前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完成闪避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08863772-C1FA-4DF7-B415-EDD370F36A22}"/>
              </a:ext>
            </a:extLst>
          </p:cNvPr>
          <p:cNvSpPr>
            <a:spLocks noGrp="1"/>
          </p:cNvSpPr>
          <p:nvPr/>
        </p:nvSpPr>
        <p:spPr>
          <a:xfrm>
            <a:off x="7962900" y="1666875"/>
            <a:ext cx="3371850" cy="371475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CF627FB-6203-4687-8322-DC9A7E1601E3}"/>
              </a:ext>
            </a:extLst>
          </p:cNvPr>
          <p:cNvSpPr>
            <a:spLocks noGrp="1"/>
          </p:cNvSpPr>
          <p:nvPr/>
        </p:nvSpPr>
        <p:spPr>
          <a:xfrm>
            <a:off x="8134350" y="1838325"/>
            <a:ext cx="323850" cy="38100"/>
          </a:xfrm>
          <a:prstGeom prst="rect">
            <a:avLst/>
          </a:prstGeom>
          <a:solidFill>
            <a:srgbClr val="1F6F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1FA9C23-48C0-41FC-A0AC-8055A2DDEE40}"/>
              </a:ext>
            </a:extLst>
          </p:cNvPr>
          <p:cNvSpPr>
            <a:spLocks noGrp="1"/>
          </p:cNvSpPr>
          <p:nvPr/>
        </p:nvSpPr>
        <p:spPr>
          <a:xfrm>
            <a:off x="8134350" y="1952625"/>
            <a:ext cx="3028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敌怪</a:t>
            </a:r>
            <a:r>
              <a:rPr lang="en-US" altLang="zh-CN"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3</a:t>
            </a:r>
            <a:r>
              <a:rPr sz="1500" b="1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 </a:t>
            </a:r>
            <a:r>
              <a:rPr sz="1500" b="1" dirty="0" err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钟僧</a:t>
            </a:r>
            <a:endParaRPr sz="1500" b="1" dirty="0">
              <a:solidFill>
                <a:srgbClr val="1F2A2F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03A4533-2136-4283-87B7-612378301DA5}"/>
              </a:ext>
            </a:extLst>
          </p:cNvPr>
          <p:cNvSpPr>
            <a:spLocks noGrp="1"/>
          </p:cNvSpPr>
          <p:nvPr/>
        </p:nvSpPr>
        <p:spPr>
          <a:xfrm>
            <a:off x="8134350" y="2333625"/>
            <a:ext cx="3028950" cy="2876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endParaRPr/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82F4A47A-4357-43E6-AB30-C389EA37B6BD}"/>
              </a:ext>
            </a:extLst>
          </p:cNvPr>
          <p:cNvSpPr>
            <a:spLocks noGrp="1"/>
          </p:cNvSpPr>
          <p:nvPr/>
        </p:nvSpPr>
        <p:spPr>
          <a:xfrm>
            <a:off x="9020175" y="2428875"/>
            <a:ext cx="1257300" cy="1257300"/>
          </a:xfrm>
          <a:prstGeom prst="ellipse">
            <a:avLst/>
          </a:prstGeom>
          <a:solidFill>
            <a:srgbClr val="F5F1E8"/>
          </a:solidFill>
          <a:ln w="66675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09D80C36-1F61-4BAC-AD93-98EBAD3098A1}"/>
              </a:ext>
            </a:extLst>
          </p:cNvPr>
          <p:cNvSpPr>
            <a:spLocks noGrp="1"/>
          </p:cNvSpPr>
          <p:nvPr/>
        </p:nvSpPr>
        <p:spPr>
          <a:xfrm>
            <a:off x="9344025" y="2752725"/>
            <a:ext cx="6096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700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2700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3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F2639BC-9132-4498-B77D-3F31694CBBAE}"/>
              </a:ext>
            </a:extLst>
          </p:cNvPr>
          <p:cNvSpPr>
            <a:spLocks noGrp="1"/>
          </p:cNvSpPr>
          <p:nvPr/>
        </p:nvSpPr>
        <p:spPr>
          <a:xfrm>
            <a:off x="8248650" y="3943350"/>
            <a:ext cx="2800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范围脉冲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7D21534-5B0F-41D7-8237-777D40A78518}"/>
              </a:ext>
            </a:extLst>
          </p:cNvPr>
          <p:cNvSpPr>
            <a:spLocks noGrp="1"/>
          </p:cNvSpPr>
          <p:nvPr/>
        </p:nvSpPr>
        <p:spPr>
          <a:xfrm>
            <a:off x="8439150" y="4438650"/>
            <a:ext cx="24193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识别蓄力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闪避范围伤害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削弱强化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75540D-B6AC-449A-A920-FDD24A4A991E}"/>
              </a:ext>
            </a:extLst>
          </p:cNvPr>
          <p:cNvSpPr>
            <a:spLocks noGrp="1"/>
          </p:cNvSpPr>
          <p:nvPr/>
        </p:nvSpPr>
        <p:spPr>
          <a:xfrm>
            <a:off x="1524000" y="5572125"/>
            <a:ext cx="9144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S60 难度来自职能叠加与目标优先级，玩家已具备每一项基础解法。</a:t>
            </a:r>
          </a:p>
        </p:txBody>
      </p:sp>
    </p:spTree>
    <p:extLst>
      <p:ext uri="{BB962C8B-B14F-4D97-AF65-F5344CB8AC3E}">
        <p14:creationId xmlns:p14="http://schemas.microsoft.com/office/powerpoint/2010/main" val="879983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8D1FA7B-71A3-47E0-8CA3-0EC40D612D6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E917AF-AA2D-461E-8672-AA1181098FA3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11 / CHASE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3BC74B-A526-44EF-BF9D-4DC49B0BE4FB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玩法二：甬道</a:t>
            </a:r>
            <a:r>
              <a:rPr lang="zh-CN" altLang="en-US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井蠊</a:t>
            </a: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追逐</a:t>
            </a:r>
            <a:r>
              <a:rPr lang="en-US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 </a:t>
            </a: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制造全流程第一次生存峰值</a:t>
            </a:r>
            <a:endParaRPr sz="300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AE1F8A-0D69-4824-AF63-BB1DED6379F0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4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09890D0-F44C-4582-9676-672264057B9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l="2438" r="2438"/>
          <a:stretch>
            <a:fillRect/>
          </a:stretch>
        </p:blipFill>
        <p:spPr>
          <a:xfrm>
            <a:off x="609600" y="1504950"/>
            <a:ext cx="6858000" cy="4171950"/>
          </a:xfrm>
          <a:prstGeom prst="roundRect">
            <a:avLst>
              <a:gd name="adj" fmla="val 2740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51EBCD9-7E73-487A-828B-B9DF267F38F9}"/>
              </a:ext>
            </a:extLst>
          </p:cNvPr>
          <p:cNvSpPr>
            <a:spLocks noGrp="1"/>
          </p:cNvSpPr>
          <p:nvPr/>
        </p:nvSpPr>
        <p:spPr>
          <a:xfrm>
            <a:off x="7753350" y="1504950"/>
            <a:ext cx="348615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533EFED-8C6D-4521-B005-29860CAE0D7C}"/>
              </a:ext>
            </a:extLst>
          </p:cNvPr>
          <p:cNvSpPr>
            <a:spLocks noGrp="1"/>
          </p:cNvSpPr>
          <p:nvPr/>
        </p:nvSpPr>
        <p:spPr>
          <a:xfrm>
            <a:off x="7924800" y="1676400"/>
            <a:ext cx="323850" cy="3810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BDE9E7-4C76-462C-88F6-33AA32B4DFA3}"/>
              </a:ext>
            </a:extLst>
          </p:cNvPr>
          <p:cNvSpPr>
            <a:spLocks noGrp="1"/>
          </p:cNvSpPr>
          <p:nvPr/>
        </p:nvSpPr>
        <p:spPr>
          <a:xfrm>
            <a:off x="7924800" y="17907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预备段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D0D8E9-8039-4468-AB99-C4A4DAD01193}"/>
              </a:ext>
            </a:extLst>
          </p:cNvPr>
          <p:cNvSpPr>
            <a:spLocks noGrp="1"/>
          </p:cNvSpPr>
          <p:nvPr/>
        </p:nvSpPr>
        <p:spPr>
          <a:xfrm>
            <a:off x="7924800" y="21717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钟声组合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 → </a:t>
            </a: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小型虫群</a:t>
            </a:r>
            <a:r>
              <a:rPr lang="zh-CN" altLang="en-US"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出现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 → </a:t>
            </a: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障碍坍塌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543FA57-8AC9-4A68-BE04-9EFA3ED332F2}"/>
              </a:ext>
            </a:extLst>
          </p:cNvPr>
          <p:cNvSpPr>
            <a:spLocks noGrp="1"/>
          </p:cNvSpPr>
          <p:nvPr/>
        </p:nvSpPr>
        <p:spPr>
          <a:xfrm>
            <a:off x="7753350" y="2914650"/>
            <a:ext cx="348615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2A1D66-DE18-4697-BF4B-C38AC0FFAF19}"/>
              </a:ext>
            </a:extLst>
          </p:cNvPr>
          <p:cNvSpPr>
            <a:spLocks noGrp="1"/>
          </p:cNvSpPr>
          <p:nvPr/>
        </p:nvSpPr>
        <p:spPr>
          <a:xfrm>
            <a:off x="7924800" y="3086100"/>
            <a:ext cx="323850" cy="38100"/>
          </a:xfrm>
          <a:prstGeom prst="rect">
            <a:avLst/>
          </a:prstGeom>
          <a:solidFill>
            <a:srgbClr val="8F3D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8E10A73-4FB0-4336-98F8-1F3A42097B0C}"/>
              </a:ext>
            </a:extLst>
          </p:cNvPr>
          <p:cNvSpPr>
            <a:spLocks noGrp="1"/>
          </p:cNvSpPr>
          <p:nvPr/>
        </p:nvSpPr>
        <p:spPr>
          <a:xfrm>
            <a:off x="7924800" y="32004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追逐规则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D943D5F-93FB-4447-81FC-EFA3A34580B3}"/>
              </a:ext>
            </a:extLst>
          </p:cNvPr>
          <p:cNvSpPr>
            <a:spLocks noGrp="1"/>
          </p:cNvSpPr>
          <p:nvPr/>
        </p:nvSpPr>
        <p:spPr>
          <a:xfrm>
            <a:off x="7924800" y="3581400"/>
            <a:ext cx="314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读取玩家约 18 帧延迟位置；速度约 6.8—8.0 m/s；折叠路径内持续投射。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31D06D16-7B1C-4A99-B00A-F19ED2987F44}"/>
              </a:ext>
            </a:extLst>
          </p:cNvPr>
          <p:cNvSpPr>
            <a:spLocks noGrp="1"/>
          </p:cNvSpPr>
          <p:nvPr/>
        </p:nvSpPr>
        <p:spPr>
          <a:xfrm>
            <a:off x="7753350" y="4324350"/>
            <a:ext cx="348615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97299D8-A279-42E7-B9CD-E85A5E323AA3}"/>
              </a:ext>
            </a:extLst>
          </p:cNvPr>
          <p:cNvSpPr>
            <a:spLocks noGrp="1"/>
          </p:cNvSpPr>
          <p:nvPr/>
        </p:nvSpPr>
        <p:spPr>
          <a:xfrm>
            <a:off x="7924800" y="4495800"/>
            <a:ext cx="323850" cy="38100"/>
          </a:xfrm>
          <a:prstGeom prst="rect">
            <a:avLst/>
          </a:prstGeom>
          <a:solidFill>
            <a:srgbClr val="1F6F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852F1CB-704D-4857-AA5F-6DBBB4E0C7A8}"/>
              </a:ext>
            </a:extLst>
          </p:cNvPr>
          <p:cNvSpPr>
            <a:spLocks noGrp="1"/>
          </p:cNvSpPr>
          <p:nvPr/>
        </p:nvSpPr>
        <p:spPr>
          <a:xfrm>
            <a:off x="7924800" y="4610100"/>
            <a:ext cx="3143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结束条件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756BAA-11EB-4750-B9F0-DCA5C5BB35AD}"/>
              </a:ext>
            </a:extLst>
          </p:cNvPr>
          <p:cNvSpPr>
            <a:spLocks noGrp="1"/>
          </p:cNvSpPr>
          <p:nvPr/>
        </p:nvSpPr>
        <p:spPr>
          <a:xfrm>
            <a:off x="7924800" y="4991100"/>
            <a:ext cx="3143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距离约</a:t>
            </a:r>
            <a:r>
              <a:rPr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 1.2 m </a:t>
            </a:r>
            <a:r>
              <a:rPr sz="120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且视线清晰时</a:t>
            </a:r>
            <a:r>
              <a:rPr lang="zh-CN" altLang="en-US"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玩家被</a:t>
            </a:r>
            <a:r>
              <a:rPr sz="120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抓获</a:t>
            </a:r>
            <a:r>
              <a:rPr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；</a:t>
            </a:r>
            <a:br>
              <a:rPr lang="en-US"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</a:br>
            <a:r>
              <a:rPr sz="120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抵达断桥脱险；追逐期间关闭生命恢复</a:t>
            </a:r>
            <a:r>
              <a:rPr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876023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308C0B96-D16B-42AC-90A4-D90FA3F212C2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4606101-5319-44DE-BC38-DBA18CC0FC62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12 / SOUND NAVIGATION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50EF2DB-F9FA-41CD-8C35-815D24DA9FA5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lang="zh-CN" altLang="zh-CN" sz="3000" b="1" dirty="0">
                <a:solidFill>
                  <a:srgbClr val="174D54"/>
                </a:solidFill>
                <a:latin typeface="SimSun"/>
              </a:rPr>
              <a:t>封声甬道：灯光序列、空间音效与证据回收</a:t>
            </a:r>
            <a:endParaRPr sz="300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8585B18-2DB9-4E4B-8FC5-6C8B4F88D013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5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6DD9975-A2CF-4627-82B0-505C996CCE86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916F90-98C1-4A3B-95B1-10EF5937C3F4}"/>
              </a:ext>
            </a:extLst>
          </p:cNvPr>
          <p:cNvSpPr>
            <a:spLocks noGrp="1"/>
          </p:cNvSpPr>
          <p:nvPr/>
        </p:nvSpPr>
        <p:spPr>
          <a:xfrm>
            <a:off x="1143000" y="3429000"/>
            <a:ext cx="9810750" cy="76200"/>
          </a:xfrm>
          <a:prstGeom prst="rect">
            <a:avLst/>
          </a:prstGeom>
          <a:solidFill>
            <a:srgbClr val="174D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D59A1A47-B7D4-40AD-8776-3C8C17298DDB}"/>
              </a:ext>
            </a:extLst>
          </p:cNvPr>
          <p:cNvSpPr>
            <a:spLocks noGrp="1"/>
          </p:cNvSpPr>
          <p:nvPr/>
        </p:nvSpPr>
        <p:spPr>
          <a:xfrm>
            <a:off x="933450" y="3238500"/>
            <a:ext cx="495300" cy="495300"/>
          </a:xfrm>
          <a:prstGeom prst="ellipse">
            <a:avLst/>
          </a:prstGeom>
          <a:solidFill>
            <a:srgbClr val="1F6F78"/>
          </a:solidFill>
          <a:ln w="47625">
            <a:solidFill>
              <a:srgbClr val="F5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6DAEAD7-5CE1-413E-9696-52A8538891B3}"/>
              </a:ext>
            </a:extLst>
          </p:cNvPr>
          <p:cNvSpPr>
            <a:spLocks noGrp="1"/>
          </p:cNvSpPr>
          <p:nvPr/>
        </p:nvSpPr>
        <p:spPr>
          <a:xfrm>
            <a:off x="419100" y="39052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350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入口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C2A3A355-FA0E-429B-B700-D75270B3A588}"/>
              </a:ext>
            </a:extLst>
          </p:cNvPr>
          <p:cNvSpPr>
            <a:spLocks noGrp="1"/>
          </p:cNvSpPr>
          <p:nvPr/>
        </p:nvSpPr>
        <p:spPr>
          <a:xfrm>
            <a:off x="3790950" y="3238500"/>
            <a:ext cx="495300" cy="495300"/>
          </a:xfrm>
          <a:prstGeom prst="ellipse">
            <a:avLst/>
          </a:prstGeom>
          <a:solidFill>
            <a:srgbClr val="B58A3B"/>
          </a:solidFill>
          <a:ln w="47625">
            <a:solidFill>
              <a:srgbClr val="F5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DEF3B9C-BFED-4066-8104-83CB801BBDE3}"/>
              </a:ext>
            </a:extLst>
          </p:cNvPr>
          <p:cNvSpPr>
            <a:spLocks noGrp="1"/>
          </p:cNvSpPr>
          <p:nvPr/>
        </p:nvSpPr>
        <p:spPr>
          <a:xfrm>
            <a:off x="3276600" y="39052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350" b="1" dirty="0">
                <a:solidFill>
                  <a:srgbClr val="B58A3B"/>
                </a:solidFill>
                <a:latin typeface="SimSun"/>
                <a:ea typeface="SimSun"/>
                <a:cs typeface="SimSun"/>
              </a:rPr>
              <a:t>随灯光指引向前</a:t>
            </a:r>
            <a:endParaRPr sz="1350" b="1" dirty="0">
              <a:solidFill>
                <a:srgbClr val="B58A3B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9A5F539-78E3-4560-88A6-C8E450D91F27}"/>
              </a:ext>
            </a:extLst>
          </p:cNvPr>
          <p:cNvSpPr>
            <a:spLocks noGrp="1"/>
          </p:cNvSpPr>
          <p:nvPr/>
        </p:nvSpPr>
        <p:spPr>
          <a:xfrm>
            <a:off x="6648450" y="3238500"/>
            <a:ext cx="495300" cy="495300"/>
          </a:xfrm>
          <a:prstGeom prst="ellipse">
            <a:avLst/>
          </a:prstGeom>
          <a:solidFill>
            <a:srgbClr val="B58A3B"/>
          </a:solidFill>
          <a:ln w="47625">
            <a:solidFill>
              <a:srgbClr val="F5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54E59FD-614D-4C11-92E8-68D905BE2F7C}"/>
              </a:ext>
            </a:extLst>
          </p:cNvPr>
          <p:cNvSpPr>
            <a:spLocks noGrp="1"/>
          </p:cNvSpPr>
          <p:nvPr/>
        </p:nvSpPr>
        <p:spPr>
          <a:xfrm>
            <a:off x="6134100" y="39052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350" b="1" dirty="0">
                <a:solidFill>
                  <a:srgbClr val="B58A3B"/>
                </a:solidFill>
                <a:latin typeface="SimSun"/>
                <a:ea typeface="SimSun"/>
                <a:cs typeface="SimSun"/>
              </a:rPr>
              <a:t>查看路途信息</a:t>
            </a:r>
            <a:endParaRPr sz="1350" b="1" dirty="0">
              <a:solidFill>
                <a:srgbClr val="B58A3B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F7989DD5-79EF-4D2E-BAE2-634E89311EFF}"/>
              </a:ext>
            </a:extLst>
          </p:cNvPr>
          <p:cNvSpPr>
            <a:spLocks noGrp="1"/>
          </p:cNvSpPr>
          <p:nvPr/>
        </p:nvSpPr>
        <p:spPr>
          <a:xfrm>
            <a:off x="10267950" y="3238500"/>
            <a:ext cx="495300" cy="495300"/>
          </a:xfrm>
          <a:prstGeom prst="ellipse">
            <a:avLst/>
          </a:prstGeom>
          <a:solidFill>
            <a:srgbClr val="8F3D3D"/>
          </a:solidFill>
          <a:ln w="47625">
            <a:solidFill>
              <a:srgbClr val="F5F1E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5694B9-4ACC-4615-BB2D-B260829046A0}"/>
              </a:ext>
            </a:extLst>
          </p:cNvPr>
          <p:cNvSpPr>
            <a:spLocks noGrp="1"/>
          </p:cNvSpPr>
          <p:nvPr/>
        </p:nvSpPr>
        <p:spPr>
          <a:xfrm>
            <a:off x="9753600" y="3905250"/>
            <a:ext cx="152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350" b="1" dirty="0">
                <a:solidFill>
                  <a:srgbClr val="8F3D3D"/>
                </a:solidFill>
                <a:latin typeface="SimSun"/>
                <a:ea typeface="SimSun"/>
                <a:cs typeface="SimSun"/>
              </a:rPr>
              <a:t>出口</a:t>
            </a:r>
            <a:endParaRPr sz="1350" b="1" dirty="0">
              <a:solidFill>
                <a:srgbClr val="8F3D3D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79C621E-D2AE-4286-82FF-D8AD6CD3BF85}"/>
              </a:ext>
            </a:extLst>
          </p:cNvPr>
          <p:cNvSpPr>
            <a:spLocks noGrp="1"/>
          </p:cNvSpPr>
          <p:nvPr/>
        </p:nvSpPr>
        <p:spPr>
          <a:xfrm>
            <a:off x="4524375" y="2333625"/>
            <a:ext cx="3143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405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405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67 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EB756C-9E62-4663-8F76-E575E947A235}"/>
              </a:ext>
            </a:extLst>
          </p:cNvPr>
          <p:cNvSpPr>
            <a:spLocks noGrp="1"/>
          </p:cNvSpPr>
          <p:nvPr/>
        </p:nvSpPr>
        <p:spPr>
          <a:xfrm>
            <a:off x="2000250" y="4514850"/>
            <a:ext cx="8191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lang="ja-JP" altLang="en-US"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玩家沿交错隔墙构成的线性甬道前进。经过分段触发点时，下一组青灯亮起，并播放对应的空间提示音；途中回收</a:t>
            </a:r>
            <a:r>
              <a:rPr lang="zh-CN" altLang="en-US"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车辙痕迹</a:t>
            </a:r>
            <a:r>
              <a:rPr lang="ja-JP" altLang="en-US"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与官造断刃证据，最终进入</a:t>
            </a:r>
            <a:r>
              <a:rPr lang="zh-CN" altLang="en-US"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下一部分</a:t>
            </a:r>
            <a:r>
              <a:rPr lang="ja-JP" altLang="en-US"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。</a:t>
            </a:r>
            <a:br>
              <a:rPr lang="en-US" altLang="ja-JP"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</a:br>
            <a:r>
              <a:rPr lang="ja-JP" altLang="en-US" sz="1575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音效用于增强空间氛围和阶段反馈，主要路线引导由灯光与廊道结构承担。</a:t>
            </a:r>
            <a:endParaRPr sz="1575" dirty="0">
              <a:solidFill>
                <a:srgbClr val="1F2A2F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7FEBC658-985C-4948-BEFE-7C02B2EA55A3}"/>
              </a:ext>
            </a:extLst>
          </p:cNvPr>
          <p:cNvSpPr>
            <a:spLocks noGrp="1"/>
          </p:cNvSpPr>
          <p:nvPr/>
        </p:nvSpPr>
        <p:spPr>
          <a:xfrm>
            <a:off x="2000250" y="5553075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EFE3C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C2BDDF-272C-4777-9985-8317E6BE0210}"/>
              </a:ext>
            </a:extLst>
          </p:cNvPr>
          <p:cNvSpPr>
            <a:spLocks noGrp="1"/>
          </p:cNvSpPr>
          <p:nvPr/>
        </p:nvSpPr>
        <p:spPr>
          <a:xfrm>
            <a:off x="2095500" y="5572125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975" b="1" dirty="0" err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为共振谜题预热</a:t>
            </a:r>
            <a:endParaRPr sz="975" b="1" dirty="0">
              <a:solidFill>
                <a:srgbClr val="B58A3B"/>
              </a:solidFill>
              <a:latin typeface="SimSun"/>
              <a:ea typeface="SimSun"/>
              <a:cs typeface="SimSun"/>
            </a:endParaRPr>
          </a:p>
        </p:txBody>
      </p:sp>
    </p:spTree>
    <p:extLst>
      <p:ext uri="{BB962C8B-B14F-4D97-AF65-F5344CB8AC3E}">
        <p14:creationId xmlns:p14="http://schemas.microsoft.com/office/powerpoint/2010/main" val="982089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859DA28C-C592-4D0D-976D-2ABA52CC26EB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2197F47-7E5A-467C-93BD-19A365C76886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13 / PUZZLE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F2768A-5AB2-4966-9DD6-AF0261DA85AF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玩法三：四步</a:t>
            </a:r>
            <a:r>
              <a:rPr lang="zh-CN" altLang="en-US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交互</a:t>
            </a:r>
            <a:r>
              <a:rPr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，</a:t>
            </a: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观察</a:t>
            </a:r>
            <a:r>
              <a:rPr lang="zh-CN" altLang="en-US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和理解剧情内容</a:t>
            </a:r>
            <a:endParaRPr sz="300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36C35B6-6518-4B8A-8826-B645ECB04FB2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16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1352885-FB5F-48BC-821B-75C0DFDBD2C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93D7A4-C92E-4F9A-B643-80CE52A048A5}"/>
              </a:ext>
            </a:extLst>
          </p:cNvPr>
          <p:cNvSpPr>
            <a:spLocks noGrp="1"/>
          </p:cNvSpPr>
          <p:nvPr/>
        </p:nvSpPr>
        <p:spPr>
          <a:xfrm>
            <a:off x="1619250" y="3181350"/>
            <a:ext cx="8858250" cy="38100"/>
          </a:xfrm>
          <a:prstGeom prst="rect">
            <a:avLst/>
          </a:prstGeom>
          <a:solidFill>
            <a:srgbClr val="C5CDC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EDD4AE88-F6C5-419F-9DD6-5E10066F3679}"/>
              </a:ext>
            </a:extLst>
          </p:cNvPr>
          <p:cNvSpPr>
            <a:spLocks noGrp="1"/>
          </p:cNvSpPr>
          <p:nvPr/>
        </p:nvSpPr>
        <p:spPr>
          <a:xfrm>
            <a:off x="1476375" y="2667000"/>
            <a:ext cx="990600" cy="990600"/>
          </a:xfrm>
          <a:prstGeom prst="ellipse">
            <a:avLst/>
          </a:prstGeom>
          <a:solidFill>
            <a:srgbClr val="F5F1E8"/>
          </a:solidFill>
          <a:ln w="66675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004072-FDF6-41BB-991D-2F0720E1F70E}"/>
              </a:ext>
            </a:extLst>
          </p:cNvPr>
          <p:cNvSpPr>
            <a:spLocks noGrp="1"/>
          </p:cNvSpPr>
          <p:nvPr/>
        </p:nvSpPr>
        <p:spPr>
          <a:xfrm>
            <a:off x="1771650" y="29622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8EF029F-335F-4044-B166-1859FD335270}"/>
              </a:ext>
            </a:extLst>
          </p:cNvPr>
          <p:cNvSpPr>
            <a:spLocks noGrp="1"/>
          </p:cNvSpPr>
          <p:nvPr/>
        </p:nvSpPr>
        <p:spPr>
          <a:xfrm>
            <a:off x="762000" y="3981450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650" b="1" dirty="0" err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货车平衡</a:t>
            </a:r>
            <a:endParaRPr sz="1650" b="1" dirty="0">
              <a:solidFill>
                <a:srgbClr val="1F6F78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F6E7EA-13B9-4E44-8C62-83C9BA01A2AE}"/>
              </a:ext>
            </a:extLst>
          </p:cNvPr>
          <p:cNvSpPr>
            <a:spLocks noGrp="1"/>
          </p:cNvSpPr>
          <p:nvPr/>
        </p:nvSpPr>
        <p:spPr>
          <a:xfrm>
            <a:off x="762000" y="4438650"/>
            <a:ext cx="2419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调整配重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9E736BCB-8A13-49E9-83D6-8E352F2272FE}"/>
              </a:ext>
            </a:extLst>
          </p:cNvPr>
          <p:cNvSpPr>
            <a:spLocks noGrp="1"/>
          </p:cNvSpPr>
          <p:nvPr/>
        </p:nvSpPr>
        <p:spPr>
          <a:xfrm>
            <a:off x="4276725" y="2667000"/>
            <a:ext cx="990600" cy="990600"/>
          </a:xfrm>
          <a:prstGeom prst="ellipse">
            <a:avLst/>
          </a:prstGeom>
          <a:solidFill>
            <a:srgbClr val="F5F1E8"/>
          </a:solidFill>
          <a:ln w="66675">
            <a:solidFill>
              <a:srgbClr val="B58A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7CDF272-49D8-42B2-AD43-AA044AD7F764}"/>
              </a:ext>
            </a:extLst>
          </p:cNvPr>
          <p:cNvSpPr>
            <a:spLocks noGrp="1"/>
          </p:cNvSpPr>
          <p:nvPr/>
        </p:nvSpPr>
        <p:spPr>
          <a:xfrm>
            <a:off x="4572000" y="29622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750F2DC-65DF-4D47-AE98-CFC58D4E25AF}"/>
              </a:ext>
            </a:extLst>
          </p:cNvPr>
          <p:cNvSpPr>
            <a:spLocks noGrp="1"/>
          </p:cNvSpPr>
          <p:nvPr/>
        </p:nvSpPr>
        <p:spPr>
          <a:xfrm>
            <a:off x="3562350" y="3981450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光路对齐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83BEAE9-788A-4A75-905D-0E5CB09533DA}"/>
              </a:ext>
            </a:extLst>
          </p:cNvPr>
          <p:cNvSpPr>
            <a:spLocks noGrp="1"/>
          </p:cNvSpPr>
          <p:nvPr/>
        </p:nvSpPr>
        <p:spPr>
          <a:xfrm>
            <a:off x="3562350" y="4438650"/>
            <a:ext cx="2419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关井挡板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开粮仓挡板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21F01B6-C946-4FAE-82EB-B04123451FC0}"/>
              </a:ext>
            </a:extLst>
          </p:cNvPr>
          <p:cNvSpPr>
            <a:spLocks noGrp="1"/>
          </p:cNvSpPr>
          <p:nvPr/>
        </p:nvSpPr>
        <p:spPr>
          <a:xfrm>
            <a:off x="7077075" y="2667000"/>
            <a:ext cx="990600" cy="990600"/>
          </a:xfrm>
          <a:prstGeom prst="ellipse">
            <a:avLst/>
          </a:prstGeom>
          <a:solidFill>
            <a:srgbClr val="F5F1E8"/>
          </a:solidFill>
          <a:ln w="66675">
            <a:solidFill>
              <a:srgbClr val="8F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055011D-2D19-4950-82BC-6E1F17645C9F}"/>
              </a:ext>
            </a:extLst>
          </p:cNvPr>
          <p:cNvSpPr>
            <a:spLocks noGrp="1"/>
          </p:cNvSpPr>
          <p:nvPr/>
        </p:nvSpPr>
        <p:spPr>
          <a:xfrm>
            <a:off x="7372350" y="29622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D81CFE6-6CD9-4B4E-9999-65C2ED0716CC}"/>
              </a:ext>
            </a:extLst>
          </p:cNvPr>
          <p:cNvSpPr>
            <a:spLocks noGrp="1"/>
          </p:cNvSpPr>
          <p:nvPr/>
        </p:nvSpPr>
        <p:spPr>
          <a:xfrm>
            <a:off x="6362700" y="3981450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650" b="1" dirty="0">
                <a:solidFill>
                  <a:srgbClr val="8F3D3D"/>
                </a:solidFill>
                <a:latin typeface="SimSun"/>
                <a:ea typeface="SimSun"/>
                <a:cs typeface="SimSun"/>
              </a:rPr>
              <a:t>取下封条</a:t>
            </a:r>
            <a:endParaRPr sz="1650" b="1" dirty="0">
              <a:solidFill>
                <a:srgbClr val="8F3D3D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8813C0-B451-43B5-B49D-909EAAE8B7BD}"/>
              </a:ext>
            </a:extLst>
          </p:cNvPr>
          <p:cNvSpPr>
            <a:spLocks noGrp="1"/>
          </p:cNvSpPr>
          <p:nvPr/>
        </p:nvSpPr>
        <p:spPr>
          <a:xfrm>
            <a:off x="6362700" y="4438650"/>
            <a:ext cx="2419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左右两道</a:t>
            </a: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8329641-B20A-4C04-A8C9-FBA769554B9A}"/>
              </a:ext>
            </a:extLst>
          </p:cNvPr>
          <p:cNvSpPr>
            <a:spLocks noGrp="1"/>
          </p:cNvSpPr>
          <p:nvPr/>
        </p:nvSpPr>
        <p:spPr>
          <a:xfrm>
            <a:off x="9877425" y="2667000"/>
            <a:ext cx="990600" cy="990600"/>
          </a:xfrm>
          <a:prstGeom prst="ellipse">
            <a:avLst/>
          </a:prstGeom>
          <a:solidFill>
            <a:srgbClr val="F5F1E8"/>
          </a:solidFill>
          <a:ln w="66675">
            <a:solidFill>
              <a:srgbClr val="174D5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BF56664-5713-4763-AC24-25A978674797}"/>
              </a:ext>
            </a:extLst>
          </p:cNvPr>
          <p:cNvSpPr>
            <a:spLocks noGrp="1"/>
          </p:cNvSpPr>
          <p:nvPr/>
        </p:nvSpPr>
        <p:spPr>
          <a:xfrm>
            <a:off x="10172700" y="2962275"/>
            <a:ext cx="4000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21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29FBBE1-4E60-4F49-81EB-AAA7E0ECFECE}"/>
              </a:ext>
            </a:extLst>
          </p:cNvPr>
          <p:cNvSpPr>
            <a:spLocks noGrp="1"/>
          </p:cNvSpPr>
          <p:nvPr/>
        </p:nvSpPr>
        <p:spPr>
          <a:xfrm>
            <a:off x="9163050" y="3981450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65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65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回声拉绳</a:t>
            </a:r>
            <a:endParaRPr sz="165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0B28A2-4237-4DDF-88A6-65AA269EE66E}"/>
              </a:ext>
            </a:extLst>
          </p:cNvPr>
          <p:cNvSpPr>
            <a:spLocks noGrp="1"/>
          </p:cNvSpPr>
          <p:nvPr/>
        </p:nvSpPr>
        <p:spPr>
          <a:xfrm>
            <a:off x="9163050" y="4438650"/>
            <a:ext cx="24193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约 2.4 </a:t>
            </a: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秒循环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卡点共振，打开门扉</a:t>
            </a:r>
            <a:endParaRPr sz="12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4CDF1F77-A5E1-4568-B0E3-D27DBA876125}"/>
              </a:ext>
            </a:extLst>
          </p:cNvPr>
          <p:cNvSpPr>
            <a:spLocks noGrp="1"/>
          </p:cNvSpPr>
          <p:nvPr/>
        </p:nvSpPr>
        <p:spPr>
          <a:xfrm>
            <a:off x="1714500" y="5381625"/>
            <a:ext cx="8763000" cy="514350"/>
          </a:xfrm>
          <a:prstGeom prst="roundRect">
            <a:avLst>
              <a:gd name="adj" fmla="val 22222"/>
            </a:avLst>
          </a:prstGeom>
          <a:solidFill>
            <a:srgbClr val="EBD6D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DB3BD91-5C76-41F5-8313-D537FA346DCB}"/>
              </a:ext>
            </a:extLst>
          </p:cNvPr>
          <p:cNvSpPr>
            <a:spLocks noGrp="1"/>
          </p:cNvSpPr>
          <p:nvPr/>
        </p:nvSpPr>
        <p:spPr>
          <a:xfrm>
            <a:off x="1943100" y="5467350"/>
            <a:ext cx="83058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350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350" b="1" dirty="0" err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紧急绞盘可直接开门，同时激活</a:t>
            </a:r>
            <a:r>
              <a:rPr sz="1350" b="1" dirty="0">
                <a:solidFill>
                  <a:srgbClr val="8F3D3D"/>
                </a:solidFill>
                <a:latin typeface="SimSun"/>
                <a:ea typeface="SimSun"/>
                <a:cs typeface="SimSun"/>
              </a:rPr>
              <a:t> 2 名 </a:t>
            </a:r>
            <a:r>
              <a:rPr sz="1350" b="1" dirty="0" err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Guard；省略谜题会转化为战斗压力</a:t>
            </a:r>
            <a:r>
              <a:rPr sz="1350" b="1" dirty="0">
                <a:solidFill>
                  <a:srgbClr val="8F3D3D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529587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FA73BF51-459A-4AE8-9D36-6C28717B826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704110-4111-4B8F-B997-1FC6A1DF6E46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14 / BOSS ARENA PLAN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8458212-1A4E-4A8A-8BA0-79E7B7DAC007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30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决战</a:t>
            </a:r>
            <a:r>
              <a:rPr sz="30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平面图：警钟决定开局，掩体决定路线</a:t>
            </a:r>
            <a:endParaRPr sz="3000" b="1" dirty="0">
              <a:solidFill>
                <a:srgbClr val="174D54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570568-EE0B-4D39-9FFD-9298EF45CBB3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7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261C6E-FBE1-4ACB-AD3A-DAE036FF465F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91854" y="1428750"/>
            <a:ext cx="6931742" cy="4476750"/>
          </a:xfrm>
          <a:prstGeom prst="roundRect">
            <a:avLst>
              <a:gd name="adj" fmla="val 2553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F3127A73-B5D5-4C27-857A-A5D49927E03D}"/>
              </a:ext>
            </a:extLst>
          </p:cNvPr>
          <p:cNvSpPr>
            <a:spLocks noGrp="1"/>
          </p:cNvSpPr>
          <p:nvPr/>
        </p:nvSpPr>
        <p:spPr>
          <a:xfrm>
            <a:off x="8972550" y="154305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39C47D2-A8C8-43B4-BF1D-849D5AE3FC20}"/>
              </a:ext>
            </a:extLst>
          </p:cNvPr>
          <p:cNvSpPr>
            <a:spLocks noGrp="1"/>
          </p:cNvSpPr>
          <p:nvPr/>
        </p:nvSpPr>
        <p:spPr>
          <a:xfrm>
            <a:off x="9144000" y="1714500"/>
            <a:ext cx="323850" cy="38100"/>
          </a:xfrm>
          <a:prstGeom prst="rect">
            <a:avLst/>
          </a:prstGeom>
          <a:solidFill>
            <a:srgbClr val="1F6F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7119DF5-B7EE-44FD-A4D7-BBCB74F6C25C}"/>
              </a:ext>
            </a:extLst>
          </p:cNvPr>
          <p:cNvSpPr>
            <a:spLocks noGrp="1"/>
          </p:cNvSpPr>
          <p:nvPr/>
        </p:nvSpPr>
        <p:spPr>
          <a:xfrm>
            <a:off x="9144000" y="1828800"/>
            <a:ext cx="2228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场地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B0177D9-C613-4924-9938-0B2C58531699}"/>
              </a:ext>
            </a:extLst>
          </p:cNvPr>
          <p:cNvSpPr>
            <a:spLocks noGrp="1"/>
          </p:cNvSpPr>
          <p:nvPr/>
        </p:nvSpPr>
        <p:spPr>
          <a:xfrm>
            <a:off x="9144000" y="2209800"/>
            <a:ext cx="222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约 24×24 m</a:t>
            </a:r>
          </a:p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中央与侧翼均可绕行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A1110D9-3BD8-47DF-843C-6071DB09DEDB}"/>
              </a:ext>
            </a:extLst>
          </p:cNvPr>
          <p:cNvSpPr>
            <a:spLocks noGrp="1"/>
          </p:cNvSpPr>
          <p:nvPr/>
        </p:nvSpPr>
        <p:spPr>
          <a:xfrm>
            <a:off x="8972550" y="2857500"/>
            <a:ext cx="2571750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380DCCD-6CB2-428F-B45F-958D9BE83B9A}"/>
              </a:ext>
            </a:extLst>
          </p:cNvPr>
          <p:cNvSpPr>
            <a:spLocks noGrp="1"/>
          </p:cNvSpPr>
          <p:nvPr/>
        </p:nvSpPr>
        <p:spPr>
          <a:xfrm>
            <a:off x="9144000" y="3028950"/>
            <a:ext cx="323850" cy="3810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C5C71D-51AF-401F-A6C4-B1A96416E9CE}"/>
              </a:ext>
            </a:extLst>
          </p:cNvPr>
          <p:cNvSpPr>
            <a:spLocks noGrp="1"/>
          </p:cNvSpPr>
          <p:nvPr/>
        </p:nvSpPr>
        <p:spPr>
          <a:xfrm>
            <a:off x="9144000" y="3143250"/>
            <a:ext cx="2228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警钟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19ADC7-B58A-405E-8D6A-F4E4EDF465C3}"/>
              </a:ext>
            </a:extLst>
          </p:cNvPr>
          <p:cNvSpPr>
            <a:spLocks noGrp="1"/>
          </p:cNvSpPr>
          <p:nvPr/>
        </p:nvSpPr>
        <p:spPr>
          <a:xfrm>
            <a:off x="9144000" y="3524250"/>
            <a:ext cx="22288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58 生命 / 两次命中</a:t>
            </a:r>
          </a:p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5.8 秒倒计时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183A88C-945E-43B5-A9DA-8759027338F6}"/>
              </a:ext>
            </a:extLst>
          </p:cNvPr>
          <p:cNvSpPr>
            <a:spLocks noGrp="1"/>
          </p:cNvSpPr>
          <p:nvPr/>
        </p:nvSpPr>
        <p:spPr>
          <a:xfrm>
            <a:off x="8972550" y="4171950"/>
            <a:ext cx="2571750" cy="123825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C19B3E-71A5-401E-8303-6A0F27152029}"/>
              </a:ext>
            </a:extLst>
          </p:cNvPr>
          <p:cNvSpPr>
            <a:spLocks noGrp="1"/>
          </p:cNvSpPr>
          <p:nvPr/>
        </p:nvSpPr>
        <p:spPr>
          <a:xfrm>
            <a:off x="9144000" y="4343400"/>
            <a:ext cx="323850" cy="38100"/>
          </a:xfrm>
          <a:prstGeom prst="rect">
            <a:avLst/>
          </a:prstGeom>
          <a:solidFill>
            <a:srgbClr val="8F3D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FC11276-E6C9-4616-846D-6FC344992F1D}"/>
              </a:ext>
            </a:extLst>
          </p:cNvPr>
          <p:cNvSpPr>
            <a:spLocks noGrp="1"/>
          </p:cNvSpPr>
          <p:nvPr/>
        </p:nvSpPr>
        <p:spPr>
          <a:xfrm>
            <a:off x="9144000" y="4457700"/>
            <a:ext cx="2228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后果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0D8BEF3-3B1E-40DB-83C2-3F3FF0659494}"/>
              </a:ext>
            </a:extLst>
          </p:cNvPr>
          <p:cNvSpPr>
            <a:spLocks noGrp="1"/>
          </p:cNvSpPr>
          <p:nvPr/>
        </p:nvSpPr>
        <p:spPr>
          <a:xfrm>
            <a:off x="9144000" y="4838700"/>
            <a:ext cx="22288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超时触发单次</a:t>
            </a:r>
          </a:p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3 人增援；状态跨死亡保留</a:t>
            </a:r>
          </a:p>
        </p:txBody>
      </p:sp>
    </p:spTree>
    <p:extLst>
      <p:ext uri="{BB962C8B-B14F-4D97-AF65-F5344CB8AC3E}">
        <p14:creationId xmlns:p14="http://schemas.microsoft.com/office/powerpoint/2010/main" val="2067829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6994B7F-C4F0-40C2-BE28-B4093A916836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DD53D2-CC9D-41D3-882E-28A3C128AB31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15 / COMBAT SYSTEM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4CF2C8-AC67-42E3-A0FC-F74FB1C841D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四种核心职能叠加，形成可读的目标优先级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F17CCD9-E6CB-4EC8-9C18-82566FC96568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8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D63B1FB-80DB-4347-B0E2-A7ED674F14F5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9C5E29B1-C2A0-4B5A-8BF7-3D833EAC6E33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2495550" cy="37147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048235-4E70-4F61-AC38-340E0A83FD4D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2495550" cy="781050"/>
          </a:xfrm>
          <a:prstGeom prst="rect">
            <a:avLst/>
          </a:prstGeom>
          <a:solidFill>
            <a:srgbClr val="8F3D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AF172B2-3850-435A-8BDA-693F783AB71C}"/>
              </a:ext>
            </a:extLst>
          </p:cNvPr>
          <p:cNvSpPr>
            <a:spLocks noGrp="1"/>
          </p:cNvSpPr>
          <p:nvPr/>
        </p:nvSpPr>
        <p:spPr>
          <a:xfrm>
            <a:off x="781050" y="1847850"/>
            <a:ext cx="2152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lang="zh-CN" altLang="en-US" b="1" dirty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车夫</a:t>
            </a:r>
            <a:endParaRPr sz="1800" b="1" dirty="0">
              <a:solidFill>
                <a:srgbClr val="FFFFFF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78FC4B8-615A-4B5F-9CF4-181D6F122C24}"/>
              </a:ext>
            </a:extLst>
          </p:cNvPr>
          <p:cNvSpPr>
            <a:spLocks noGrp="1"/>
          </p:cNvSpPr>
          <p:nvPr/>
        </p:nvSpPr>
        <p:spPr>
          <a:xfrm>
            <a:off x="838200" y="2857500"/>
            <a:ext cx="2038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冲撞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550BFB-CD89-4805-B086-1AFBF7D7E6BB}"/>
              </a:ext>
            </a:extLst>
          </p:cNvPr>
          <p:cNvSpPr>
            <a:spLocks noGrp="1"/>
          </p:cNvSpPr>
          <p:nvPr/>
        </p:nvSpPr>
        <p:spPr>
          <a:xfrm>
            <a:off x="1371600" y="3476625"/>
            <a:ext cx="971550" cy="28575"/>
          </a:xfrm>
          <a:prstGeom prst="rect">
            <a:avLst/>
          </a:prstGeom>
          <a:solidFill>
            <a:srgbClr val="8F3D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6A6DA8F-5256-4A10-837E-74DEF4FBBCCD}"/>
              </a:ext>
            </a:extLst>
          </p:cNvPr>
          <p:cNvSpPr>
            <a:spLocks noGrp="1"/>
          </p:cNvSpPr>
          <p:nvPr/>
        </p:nvSpPr>
        <p:spPr>
          <a:xfrm>
            <a:off x="895350" y="3790950"/>
            <a:ext cx="19240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425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迫使横移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09E4C07-F7BF-4F7A-9593-0AAFD770CD3C}"/>
              </a:ext>
            </a:extLst>
          </p:cNvPr>
          <p:cNvSpPr>
            <a:spLocks noGrp="1"/>
          </p:cNvSpPr>
          <p:nvPr/>
        </p:nvSpPr>
        <p:spPr>
          <a:xfrm>
            <a:off x="933450" y="4686300"/>
            <a:ext cx="1847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横向闪避</a:t>
            </a:r>
          </a:p>
          <a:p>
            <a:pPr algn="ctr">
              <a:defRPr sz="112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撞墙反击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520BA28-F33D-4CCB-8CE9-E8868476D21E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2495550" cy="37147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29AACD-579F-4DA5-83AA-AF9E458548F3}"/>
              </a:ext>
            </a:extLst>
          </p:cNvPr>
          <p:cNvSpPr>
            <a:spLocks noGrp="1"/>
          </p:cNvSpPr>
          <p:nvPr/>
        </p:nvSpPr>
        <p:spPr>
          <a:xfrm>
            <a:off x="3371850" y="1676400"/>
            <a:ext cx="2495550" cy="78105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45C0BBC-0DF0-44E2-8722-5377DBB00EF8}"/>
              </a:ext>
            </a:extLst>
          </p:cNvPr>
          <p:cNvSpPr>
            <a:spLocks noGrp="1"/>
          </p:cNvSpPr>
          <p:nvPr/>
        </p:nvSpPr>
        <p:spPr>
          <a:xfrm>
            <a:off x="3543300" y="1847850"/>
            <a:ext cx="2152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提灯童子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310D79-21A5-416A-AC10-3A3301BDFEB3}"/>
              </a:ext>
            </a:extLst>
          </p:cNvPr>
          <p:cNvSpPr>
            <a:spLocks noGrp="1"/>
          </p:cNvSpPr>
          <p:nvPr/>
        </p:nvSpPr>
        <p:spPr>
          <a:xfrm>
            <a:off x="3600450" y="2857500"/>
            <a:ext cx="2038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定点落圈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4AFFB5F-327C-4500-822C-65543B289ED2}"/>
              </a:ext>
            </a:extLst>
          </p:cNvPr>
          <p:cNvSpPr>
            <a:spLocks noGrp="1"/>
          </p:cNvSpPr>
          <p:nvPr/>
        </p:nvSpPr>
        <p:spPr>
          <a:xfrm>
            <a:off x="4133850" y="3476625"/>
            <a:ext cx="971550" cy="2857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252D456-2B1C-4F01-A1F0-FBC4A540C2DE}"/>
              </a:ext>
            </a:extLst>
          </p:cNvPr>
          <p:cNvSpPr>
            <a:spLocks noGrp="1"/>
          </p:cNvSpPr>
          <p:nvPr/>
        </p:nvSpPr>
        <p:spPr>
          <a:xfrm>
            <a:off x="3657600" y="3790950"/>
            <a:ext cx="19240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425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迫使离位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89B5784-9CB9-4CCE-ACBE-3A562E69DDFE}"/>
              </a:ext>
            </a:extLst>
          </p:cNvPr>
          <p:cNvSpPr>
            <a:spLocks noGrp="1"/>
          </p:cNvSpPr>
          <p:nvPr/>
        </p:nvSpPr>
        <p:spPr>
          <a:xfrm>
            <a:off x="3695700" y="4686300"/>
            <a:ext cx="1847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看脚下圈</a:t>
            </a:r>
          </a:p>
          <a:p>
            <a:pPr algn="ctr">
              <a:defRPr sz="112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保留闪避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0B67991A-C840-4998-B995-39016C31938F}"/>
              </a:ext>
            </a:extLst>
          </p:cNvPr>
          <p:cNvSpPr>
            <a:spLocks noGrp="1"/>
          </p:cNvSpPr>
          <p:nvPr/>
        </p:nvSpPr>
        <p:spPr>
          <a:xfrm>
            <a:off x="6134100" y="1676400"/>
            <a:ext cx="2495550" cy="37147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A3C1795-3CF8-4D26-A69C-76571BB9A8BC}"/>
              </a:ext>
            </a:extLst>
          </p:cNvPr>
          <p:cNvSpPr>
            <a:spLocks noGrp="1"/>
          </p:cNvSpPr>
          <p:nvPr/>
        </p:nvSpPr>
        <p:spPr>
          <a:xfrm>
            <a:off x="6134100" y="1676400"/>
            <a:ext cx="2495550" cy="781050"/>
          </a:xfrm>
          <a:prstGeom prst="rect">
            <a:avLst/>
          </a:prstGeom>
          <a:solidFill>
            <a:srgbClr val="1F6F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C7AF00D-DF08-4A46-9EB3-9AF7ED96C26B}"/>
              </a:ext>
            </a:extLst>
          </p:cNvPr>
          <p:cNvSpPr>
            <a:spLocks noGrp="1"/>
          </p:cNvSpPr>
          <p:nvPr/>
        </p:nvSpPr>
        <p:spPr>
          <a:xfrm>
            <a:off x="6305550" y="1847850"/>
            <a:ext cx="2152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sz="1800" b="1">
                <a:solidFill>
                  <a:srgbClr val="FFFFFF"/>
                </a:solidFill>
                <a:latin typeface="SimSun"/>
                <a:ea typeface="SimSun"/>
                <a:cs typeface="SimSun"/>
              </a:rPr>
              <a:t>钟僧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ADF3642-CD3B-482F-A6B9-130133F09B88}"/>
              </a:ext>
            </a:extLst>
          </p:cNvPr>
          <p:cNvSpPr>
            <a:spLocks noGrp="1"/>
          </p:cNvSpPr>
          <p:nvPr/>
        </p:nvSpPr>
        <p:spPr>
          <a:xfrm>
            <a:off x="6362700" y="2857500"/>
            <a:ext cx="2038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脉冲 + 强化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B1D932-4BC1-4F78-9B0A-0735234F5B02}"/>
              </a:ext>
            </a:extLst>
          </p:cNvPr>
          <p:cNvSpPr>
            <a:spLocks noGrp="1"/>
          </p:cNvSpPr>
          <p:nvPr/>
        </p:nvSpPr>
        <p:spPr>
          <a:xfrm>
            <a:off x="6896100" y="3476625"/>
            <a:ext cx="971550" cy="28575"/>
          </a:xfrm>
          <a:prstGeom prst="rect">
            <a:avLst/>
          </a:prstGeom>
          <a:solidFill>
            <a:srgbClr val="1F6F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9663CB2-FCA2-43F4-B750-C08C3E028F8D}"/>
              </a:ext>
            </a:extLst>
          </p:cNvPr>
          <p:cNvSpPr>
            <a:spLocks noGrp="1"/>
          </p:cNvSpPr>
          <p:nvPr/>
        </p:nvSpPr>
        <p:spPr>
          <a:xfrm>
            <a:off x="6419850" y="3790950"/>
            <a:ext cx="19240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425">
                <a:solidFill>
                  <a:srgbClr val="1F2A2F"/>
                </a:solidFill>
                <a:latin typeface="SimSun"/>
                <a:ea typeface="SimSun"/>
                <a:cs typeface="SimSun"/>
              </a:rPr>
              <a:t>改变优先级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6C23554-C110-4F62-8E46-F568A2404DCB}"/>
              </a:ext>
            </a:extLst>
          </p:cNvPr>
          <p:cNvSpPr>
            <a:spLocks noGrp="1"/>
          </p:cNvSpPr>
          <p:nvPr/>
        </p:nvSpPr>
        <p:spPr>
          <a:xfrm>
            <a:off x="6457950" y="4686300"/>
            <a:ext cx="1847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12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破</a:t>
            </a:r>
            <a:r>
              <a:rPr lang="zh-CN" altLang="en-US" sz="112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共振音条</a:t>
            </a:r>
            <a:endParaRPr sz="112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  <a:p>
            <a:pPr algn="ctr">
              <a:defRPr sz="112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12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优先击杀</a:t>
            </a:r>
            <a:endParaRPr sz="112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DA422B86-F30D-4F33-BA5E-ADD8672E2B5B}"/>
              </a:ext>
            </a:extLst>
          </p:cNvPr>
          <p:cNvSpPr>
            <a:spLocks noGrp="1"/>
          </p:cNvSpPr>
          <p:nvPr/>
        </p:nvSpPr>
        <p:spPr>
          <a:xfrm>
            <a:off x="8896350" y="1676400"/>
            <a:ext cx="2495550" cy="3714750"/>
          </a:xfrm>
          <a:prstGeom prst="roundRect">
            <a:avLst>
              <a:gd name="adj" fmla="val 458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4651BD8-0E33-4B25-94A8-927AD8E5A6E1}"/>
              </a:ext>
            </a:extLst>
          </p:cNvPr>
          <p:cNvSpPr>
            <a:spLocks noGrp="1"/>
          </p:cNvSpPr>
          <p:nvPr/>
        </p:nvSpPr>
        <p:spPr>
          <a:xfrm>
            <a:off x="8896350" y="1676400"/>
            <a:ext cx="2495550" cy="781050"/>
          </a:xfrm>
          <a:prstGeom prst="rect">
            <a:avLst/>
          </a:prstGeom>
          <a:solidFill>
            <a:srgbClr val="174D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9DE58B39-B884-4730-A1F7-3D749EDB0F5E}"/>
              </a:ext>
            </a:extLst>
          </p:cNvPr>
          <p:cNvSpPr>
            <a:spLocks noGrp="1"/>
          </p:cNvSpPr>
          <p:nvPr/>
        </p:nvSpPr>
        <p:spPr>
          <a:xfrm>
            <a:off x="9067800" y="1847850"/>
            <a:ext cx="21526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FFFFFF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800" b="1" dirty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灰衣</a:t>
            </a:r>
            <a:r>
              <a:rPr lang="en-US" altLang="zh-CN" sz="1800" b="1" dirty="0">
                <a:solidFill>
                  <a:srgbClr val="FFFFFF"/>
                </a:solidFill>
                <a:latin typeface="SimSun"/>
                <a:ea typeface="SimSun"/>
                <a:cs typeface="SimSun"/>
              </a:rPr>
              <a:t>Boss</a:t>
            </a:r>
            <a:endParaRPr sz="1800" b="1" dirty="0">
              <a:solidFill>
                <a:srgbClr val="FFFFFF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88A1617-B688-4ABF-ACD8-D548853BAA04}"/>
              </a:ext>
            </a:extLst>
          </p:cNvPr>
          <p:cNvSpPr>
            <a:spLocks noGrp="1"/>
          </p:cNvSpPr>
          <p:nvPr/>
        </p:nvSpPr>
        <p:spPr>
          <a:xfrm>
            <a:off x="9124950" y="2857500"/>
            <a:ext cx="2038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扇形重击 + 二阶段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2544C6B1-C9EE-4C75-91D6-4E4BE15BF71D}"/>
              </a:ext>
            </a:extLst>
          </p:cNvPr>
          <p:cNvSpPr>
            <a:spLocks noGrp="1"/>
          </p:cNvSpPr>
          <p:nvPr/>
        </p:nvSpPr>
        <p:spPr>
          <a:xfrm>
            <a:off x="9658350" y="3476625"/>
            <a:ext cx="971550" cy="28575"/>
          </a:xfrm>
          <a:prstGeom prst="rect">
            <a:avLst/>
          </a:prstGeom>
          <a:solidFill>
            <a:srgbClr val="174D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43A4A71-44CA-48DC-A563-E8455B9B2853}"/>
              </a:ext>
            </a:extLst>
          </p:cNvPr>
          <p:cNvSpPr>
            <a:spLocks noGrp="1"/>
          </p:cNvSpPr>
          <p:nvPr/>
        </p:nvSpPr>
        <p:spPr>
          <a:xfrm>
            <a:off x="9182100" y="3790950"/>
            <a:ext cx="19240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425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425">
                <a:solidFill>
                  <a:srgbClr val="1F2A2F"/>
                </a:solidFill>
                <a:latin typeface="SimSun"/>
                <a:ea typeface="SimSun"/>
                <a:cs typeface="SimSun"/>
              </a:rPr>
              <a:t>持续正面压迫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C24D4A6-ABE3-44F9-B7EB-ACEE0C9FC758}"/>
              </a:ext>
            </a:extLst>
          </p:cNvPr>
          <p:cNvSpPr>
            <a:spLocks noGrp="1"/>
          </p:cNvSpPr>
          <p:nvPr/>
        </p:nvSpPr>
        <p:spPr>
          <a:xfrm>
            <a:off x="9220200" y="4686300"/>
            <a:ext cx="18478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12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侧闪扇形</a:t>
            </a:r>
          </a:p>
          <a:p>
            <a:pPr algn="ctr">
              <a:defRPr sz="112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12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控阶段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EF3B5B8-F34B-46B8-A164-399B34306C74}"/>
              </a:ext>
            </a:extLst>
          </p:cNvPr>
          <p:cNvSpPr>
            <a:spLocks noGrp="1"/>
          </p:cNvSpPr>
          <p:nvPr/>
        </p:nvSpPr>
        <p:spPr>
          <a:xfrm>
            <a:off x="1619250" y="5619750"/>
            <a:ext cx="8953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5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玩家在</a:t>
            </a:r>
            <a:r>
              <a:rPr sz="15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 </a:t>
            </a:r>
            <a:r>
              <a:rPr lang="zh-CN" altLang="en-US" sz="15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前</a:t>
            </a:r>
            <a:r>
              <a:rPr lang="en-US" altLang="zh-CN" sz="15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3</a:t>
            </a:r>
            <a:r>
              <a:rPr lang="zh-CN" altLang="en-US" sz="15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部分的单个敌怪遭遇战 中</a:t>
            </a:r>
            <a:r>
              <a:rPr sz="15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已经学会单项对策</a:t>
            </a:r>
            <a:r>
              <a:rPr sz="15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；</a:t>
            </a:r>
            <a:r>
              <a:rPr lang="zh-CN" altLang="en-US" sz="15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决战</a:t>
            </a:r>
            <a:r>
              <a:rPr sz="15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考验</a:t>
            </a:r>
            <a:r>
              <a:rPr lang="zh-CN" altLang="en-US" sz="15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优先级决策</a:t>
            </a:r>
            <a:r>
              <a:rPr sz="1500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与路线</a:t>
            </a:r>
            <a:r>
              <a:rPr lang="zh-CN" altLang="en-US" sz="15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选择</a:t>
            </a:r>
            <a:r>
              <a:rPr sz="1500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65445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325D434-F6E2-4010-9A48-F78E9EEF2AF8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B979D4-64EF-4DCA-B5FB-9632129C145F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16 / ROUTE CHOICE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E6F72A3-0DBE-4B98-B413-344D6B2A0EF9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两条开局路线：压制增援，或先拆辅助核心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8046C4-E458-446F-B4E5-FB545EE105C6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9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A534C4-4109-4873-ADF6-AE6E01723B70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6970" b="6970"/>
          <a:stretch>
            <a:fillRect/>
          </a:stretch>
        </p:blipFill>
        <p:spPr>
          <a:xfrm>
            <a:off x="609600" y="1581150"/>
            <a:ext cx="4953000" cy="2476500"/>
          </a:xfrm>
          <a:prstGeom prst="roundRect">
            <a:avLst>
              <a:gd name="adj" fmla="val 4615"/>
            </a:avLst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4"/>
          <a:srcRect t="6771" b="6771"/>
          <a:stretch>
            <a:fillRect/>
          </a:stretch>
        </p:blipFill>
        <p:spPr>
          <a:xfrm>
            <a:off x="6629400" y="1581150"/>
            <a:ext cx="4953000" cy="2476500"/>
          </a:xfrm>
          <a:prstGeom prst="roundRect">
            <a:avLst>
              <a:gd name="adj" fmla="val 4615"/>
            </a:avLst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CE35E4E8-61B4-4310-AB38-5C2FCD52FE1E}"/>
              </a:ext>
            </a:extLst>
          </p:cNvPr>
          <p:cNvSpPr>
            <a:spLocks noGrp="1"/>
          </p:cNvSpPr>
          <p:nvPr/>
        </p:nvSpPr>
        <p:spPr>
          <a:xfrm>
            <a:off x="762000" y="1733550"/>
            <a:ext cx="1714500" cy="285750"/>
          </a:xfrm>
          <a:prstGeom prst="roundRect">
            <a:avLst>
              <a:gd name="adj" fmla="val 50000"/>
            </a:avLst>
          </a:prstGeom>
          <a:solidFill>
            <a:srgbClr val="EFE3C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AD34F6A-2B5B-4BD3-96FB-557AA858B514}"/>
              </a:ext>
            </a:extLst>
          </p:cNvPr>
          <p:cNvSpPr>
            <a:spLocks noGrp="1"/>
          </p:cNvSpPr>
          <p:nvPr/>
        </p:nvSpPr>
        <p:spPr>
          <a:xfrm>
            <a:off x="857250" y="17526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左路｜先切警钟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2788C14-854B-4970-9422-4AF301D96A03}"/>
              </a:ext>
            </a:extLst>
          </p:cNvPr>
          <p:cNvSpPr>
            <a:spLocks noGrp="1"/>
          </p:cNvSpPr>
          <p:nvPr/>
        </p:nvSpPr>
        <p:spPr>
          <a:xfrm>
            <a:off x="6781800" y="1733550"/>
            <a:ext cx="1809750" cy="285750"/>
          </a:xfrm>
          <a:prstGeom prst="roundRect">
            <a:avLst>
              <a:gd name="adj" fmla="val 50000"/>
            </a:avLst>
          </a:prstGeom>
          <a:solidFill>
            <a:srgbClr val="DCE9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71A138-C4A7-4E31-87A2-CEA01E480B6E}"/>
              </a:ext>
            </a:extLst>
          </p:cNvPr>
          <p:cNvSpPr>
            <a:spLocks noGrp="1"/>
          </p:cNvSpPr>
          <p:nvPr/>
        </p:nvSpPr>
        <p:spPr>
          <a:xfrm>
            <a:off x="6877050" y="1752600"/>
            <a:ext cx="1619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右路｜先杀钟僧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49FAB7A-764F-4EBE-B4D2-12C9A5074D09}"/>
              </a:ext>
            </a:extLst>
          </p:cNvPr>
          <p:cNvSpPr>
            <a:spLocks noGrp="1"/>
          </p:cNvSpPr>
          <p:nvPr/>
        </p:nvSpPr>
        <p:spPr>
          <a:xfrm>
            <a:off x="609600" y="4267200"/>
            <a:ext cx="49530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E3AB898-F6D1-4452-B9B7-97050E7BFCAF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323850" cy="3810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137BD6F-92D2-4A78-B96B-72CD13FB8654}"/>
              </a:ext>
            </a:extLst>
          </p:cNvPr>
          <p:cNvSpPr>
            <a:spLocks noGrp="1"/>
          </p:cNvSpPr>
          <p:nvPr/>
        </p:nvSpPr>
        <p:spPr>
          <a:xfrm>
            <a:off x="781050" y="455295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收益与风险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F10B741-DD9D-40E1-A61B-9213A339C9CF}"/>
              </a:ext>
            </a:extLst>
          </p:cNvPr>
          <p:cNvSpPr>
            <a:spLocks noGrp="1"/>
          </p:cNvSpPr>
          <p:nvPr/>
        </p:nvSpPr>
        <p:spPr>
          <a:xfrm>
            <a:off x="781050" y="4933950"/>
            <a:ext cx="47815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收益：5.8 </a:t>
            </a: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秒内阻止增援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。</a:t>
            </a:r>
          </a:p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风险：开局暴露高，同时承受冲撞、攻击与</a:t>
            </a:r>
            <a:r>
              <a:rPr lang="zh-CN" altLang="en-US"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其他敌怪的</a:t>
            </a: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接近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E88E8722-971C-4A2E-8B2A-808C334FA5C2}"/>
              </a:ext>
            </a:extLst>
          </p:cNvPr>
          <p:cNvSpPr>
            <a:spLocks noGrp="1"/>
          </p:cNvSpPr>
          <p:nvPr/>
        </p:nvSpPr>
        <p:spPr>
          <a:xfrm>
            <a:off x="6629400" y="4267200"/>
            <a:ext cx="49530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3C0FCA7-78C2-430C-8236-B09B89E30E31}"/>
              </a:ext>
            </a:extLst>
          </p:cNvPr>
          <p:cNvSpPr>
            <a:spLocks noGrp="1"/>
          </p:cNvSpPr>
          <p:nvPr/>
        </p:nvSpPr>
        <p:spPr>
          <a:xfrm>
            <a:off x="6800850" y="4438650"/>
            <a:ext cx="323850" cy="38100"/>
          </a:xfrm>
          <a:prstGeom prst="rect">
            <a:avLst/>
          </a:prstGeom>
          <a:solidFill>
            <a:srgbClr val="1F6F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1DACDEF-730F-45E1-9D74-5E593702738F}"/>
              </a:ext>
            </a:extLst>
          </p:cNvPr>
          <p:cNvSpPr>
            <a:spLocks noGrp="1"/>
          </p:cNvSpPr>
          <p:nvPr/>
        </p:nvSpPr>
        <p:spPr>
          <a:xfrm>
            <a:off x="6800850" y="4552950"/>
            <a:ext cx="46101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收益与风险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A1293E9-122F-46F8-9CA4-FBBC29AB7CCD}"/>
              </a:ext>
            </a:extLst>
          </p:cNvPr>
          <p:cNvSpPr>
            <a:spLocks noGrp="1"/>
          </p:cNvSpPr>
          <p:nvPr/>
        </p:nvSpPr>
        <p:spPr>
          <a:xfrm>
            <a:off x="6800850" y="4933950"/>
            <a:ext cx="46101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收益：利用掩体，先移除脉冲与群体强化。</a:t>
            </a:r>
          </a:p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风险：耗时可能越过倒计时，触发单次增援。</a:t>
            </a:r>
          </a:p>
        </p:txBody>
      </p:sp>
    </p:spTree>
    <p:extLst>
      <p:ext uri="{BB962C8B-B14F-4D97-AF65-F5344CB8AC3E}">
        <p14:creationId xmlns:p14="http://schemas.microsoft.com/office/powerpoint/2010/main" val="1310837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FE2C07B3-40F9-4644-91CD-D276AB6E0FE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0024CE1-F1C3-426A-95EF-B3B23D0B5B40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17 / BOSS PRESENTATION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CBBF8B-A603-40B5-9E51-A3051D4500E3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Boss 表现：尺度、色彩、站位与声场共同建立压迫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4BF261-6839-4237-BE32-A322008D459A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20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D4EF4A5-5E5D-464D-8957-EE9BA39940F9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rcRect l="851" r="851"/>
          <a:stretch>
            <a:fillRect/>
          </a:stretch>
        </p:blipFill>
        <p:spPr>
          <a:xfrm>
            <a:off x="609600" y="1485900"/>
            <a:ext cx="7239000" cy="4267200"/>
          </a:xfrm>
          <a:prstGeom prst="roundRect">
            <a:avLst>
              <a:gd name="adj" fmla="val 2679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CBA304E9-9661-46D7-B4E5-9133605B1708}"/>
              </a:ext>
            </a:extLst>
          </p:cNvPr>
          <p:cNvSpPr>
            <a:spLocks noGrp="1"/>
          </p:cNvSpPr>
          <p:nvPr/>
        </p:nvSpPr>
        <p:spPr>
          <a:xfrm>
            <a:off x="781050" y="1657350"/>
            <a:ext cx="1238250" cy="285750"/>
          </a:xfrm>
          <a:prstGeom prst="roundRect">
            <a:avLst>
              <a:gd name="adj" fmla="val 50000"/>
            </a:avLst>
          </a:prstGeom>
          <a:solidFill>
            <a:srgbClr val="EBD6D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C00560F-9A09-451A-84FC-027145DC03FE}"/>
              </a:ext>
            </a:extLst>
          </p:cNvPr>
          <p:cNvSpPr>
            <a:spLocks noGrp="1"/>
          </p:cNvSpPr>
          <p:nvPr/>
        </p:nvSpPr>
        <p:spPr>
          <a:xfrm>
            <a:off x="876300" y="1676400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975" b="1" dirty="0">
                <a:solidFill>
                  <a:srgbClr val="8F3D3D"/>
                </a:solidFill>
                <a:latin typeface="SimSun"/>
                <a:ea typeface="SimSun"/>
                <a:cs typeface="SimSun"/>
              </a:rPr>
              <a:t>左侧毁钟路线</a:t>
            </a:r>
            <a:endParaRPr sz="975" b="1" dirty="0">
              <a:solidFill>
                <a:srgbClr val="8F3D3D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43306BC-BBE9-4A48-9461-003076D11668}"/>
              </a:ext>
            </a:extLst>
          </p:cNvPr>
          <p:cNvSpPr>
            <a:spLocks noGrp="1"/>
          </p:cNvSpPr>
          <p:nvPr/>
        </p:nvSpPr>
        <p:spPr>
          <a:xfrm>
            <a:off x="8115300" y="1485900"/>
            <a:ext cx="314325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E6B144-8CA7-4382-B9A3-55BA53CE9697}"/>
              </a:ext>
            </a:extLst>
          </p:cNvPr>
          <p:cNvSpPr>
            <a:spLocks noGrp="1"/>
          </p:cNvSpPr>
          <p:nvPr/>
        </p:nvSpPr>
        <p:spPr>
          <a:xfrm>
            <a:off x="8286750" y="1657350"/>
            <a:ext cx="323850" cy="38100"/>
          </a:xfrm>
          <a:prstGeom prst="rect">
            <a:avLst/>
          </a:prstGeom>
          <a:solidFill>
            <a:srgbClr val="8F3D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78489C6-B195-46B4-8449-B9D63C44DD64}"/>
              </a:ext>
            </a:extLst>
          </p:cNvPr>
          <p:cNvSpPr>
            <a:spLocks noGrp="1"/>
          </p:cNvSpPr>
          <p:nvPr/>
        </p:nvSpPr>
        <p:spPr>
          <a:xfrm>
            <a:off x="8286750" y="17716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轮廓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A26DD94-0B37-49B9-BCFF-D7161FFC7D2A}"/>
              </a:ext>
            </a:extLst>
          </p:cNvPr>
          <p:cNvSpPr>
            <a:spLocks noGrp="1"/>
          </p:cNvSpPr>
          <p:nvPr/>
        </p:nvSpPr>
        <p:spPr>
          <a:xfrm>
            <a:off x="8286750" y="2152650"/>
            <a:ext cx="28003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角色整体</a:t>
            </a:r>
            <a:r>
              <a:rPr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 1.28 </a:t>
            </a:r>
            <a:r>
              <a:rPr sz="120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倍；高于同场</a:t>
            </a:r>
            <a:r>
              <a:rPr lang="zh-CN" altLang="en-US"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敌怪。</a:t>
            </a:r>
            <a:endParaRPr sz="1200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925DC62-61AE-48EA-B82E-5E8F05F922F3}"/>
              </a:ext>
            </a:extLst>
          </p:cNvPr>
          <p:cNvSpPr>
            <a:spLocks noGrp="1"/>
          </p:cNvSpPr>
          <p:nvPr/>
        </p:nvSpPr>
        <p:spPr>
          <a:xfrm>
            <a:off x="8115300" y="2857500"/>
            <a:ext cx="3143250" cy="118110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F97FA41-67E1-4EEF-93E8-DEB8DD317ED7}"/>
              </a:ext>
            </a:extLst>
          </p:cNvPr>
          <p:cNvSpPr>
            <a:spLocks noGrp="1"/>
          </p:cNvSpPr>
          <p:nvPr/>
        </p:nvSpPr>
        <p:spPr>
          <a:xfrm>
            <a:off x="8286750" y="3028950"/>
            <a:ext cx="323850" cy="3810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AABDAC6-574D-415B-8C77-51B5D864B15C}"/>
              </a:ext>
            </a:extLst>
          </p:cNvPr>
          <p:cNvSpPr>
            <a:spLocks noGrp="1"/>
          </p:cNvSpPr>
          <p:nvPr/>
        </p:nvSpPr>
        <p:spPr>
          <a:xfrm>
            <a:off x="8286750" y="31432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色彩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2FAAA89-9852-4611-8029-5B5270D191B8}"/>
              </a:ext>
            </a:extLst>
          </p:cNvPr>
          <p:cNvSpPr>
            <a:spLocks noGrp="1"/>
          </p:cNvSpPr>
          <p:nvPr/>
        </p:nvSpPr>
        <p:spPr>
          <a:xfrm>
            <a:off x="8286750" y="3524250"/>
            <a:ext cx="2800350" cy="4533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整体画面阴暗</a:t>
            </a:r>
            <a:r>
              <a:rPr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；</a:t>
            </a:r>
            <a:r>
              <a:rPr sz="120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与钟僧金色</a:t>
            </a:r>
            <a:r>
              <a:rPr lang="zh-CN" altLang="en-US"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高光</a:t>
            </a:r>
            <a:r>
              <a:rPr sz="120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标记、提灯童子青光形成职能区分</a:t>
            </a:r>
            <a:r>
              <a:rPr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661D8E4-3CDC-44B8-8302-428A8AF29FBD}"/>
              </a:ext>
            </a:extLst>
          </p:cNvPr>
          <p:cNvSpPr>
            <a:spLocks noGrp="1"/>
          </p:cNvSpPr>
          <p:nvPr/>
        </p:nvSpPr>
        <p:spPr>
          <a:xfrm>
            <a:off x="8115300" y="4229100"/>
            <a:ext cx="3143250" cy="1524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467A92E-7412-4B7E-ABAD-A957638E01D9}"/>
              </a:ext>
            </a:extLst>
          </p:cNvPr>
          <p:cNvSpPr>
            <a:spLocks noGrp="1"/>
          </p:cNvSpPr>
          <p:nvPr/>
        </p:nvSpPr>
        <p:spPr>
          <a:xfrm>
            <a:off x="8286750" y="4400550"/>
            <a:ext cx="323850" cy="38100"/>
          </a:xfrm>
          <a:prstGeom prst="rect">
            <a:avLst/>
          </a:prstGeom>
          <a:solidFill>
            <a:srgbClr val="1F6F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761B76E-ACFF-4E21-B385-2A3D2A5F8A78}"/>
              </a:ext>
            </a:extLst>
          </p:cNvPr>
          <p:cNvSpPr>
            <a:spLocks noGrp="1"/>
          </p:cNvSpPr>
          <p:nvPr/>
        </p:nvSpPr>
        <p:spPr>
          <a:xfrm>
            <a:off x="8286750" y="4514850"/>
            <a:ext cx="28003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出场与声场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8FEA0C0-B6D8-4F2C-8235-D831E5532984}"/>
              </a:ext>
            </a:extLst>
          </p:cNvPr>
          <p:cNvSpPr>
            <a:spLocks noGrp="1"/>
          </p:cNvSpPr>
          <p:nvPr/>
        </p:nvSpPr>
        <p:spPr>
          <a:xfrm>
            <a:off x="8286750" y="4895850"/>
            <a:ext cx="28003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0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初始位于大厅后部</a:t>
            </a:r>
            <a:r>
              <a:rPr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；</a:t>
            </a:r>
            <a:br>
              <a:rPr lang="en-US"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</a:br>
            <a:r>
              <a:rPr sz="1200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警钟倒计时先制造第一层压迫</a:t>
            </a:r>
            <a:r>
              <a:rPr sz="1200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89998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AE265246-3590-40E7-9284-9EA5CD6D551D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32656F-0D56-448F-B2A4-AC399749E611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18 / BOSS MECHANICS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343E1B-83AF-47C1-AB2B-84C8B3B9A372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Boss 机制：60% 生命阈值重排全场节奏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FFB5142-D5FA-4C5B-B703-DBBDD015280A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21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915927-52D3-43F6-982F-B9A3A061322B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AB4332-4940-48FF-A26F-7F9D4594A641}"/>
              </a:ext>
            </a:extLst>
          </p:cNvPr>
          <p:cNvSpPr>
            <a:spLocks noGrp="1"/>
          </p:cNvSpPr>
          <p:nvPr/>
        </p:nvSpPr>
        <p:spPr>
          <a:xfrm>
            <a:off x="1428750" y="2905125"/>
            <a:ext cx="9334500" cy="47625"/>
          </a:xfrm>
          <a:prstGeom prst="rect">
            <a:avLst/>
          </a:prstGeom>
          <a:solidFill>
            <a:srgbClr val="C4CBC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6BB87C5-280E-4D7D-96C4-F662133220B6}"/>
              </a:ext>
            </a:extLst>
          </p:cNvPr>
          <p:cNvSpPr>
            <a:spLocks noGrp="1"/>
          </p:cNvSpPr>
          <p:nvPr/>
        </p:nvSpPr>
        <p:spPr>
          <a:xfrm>
            <a:off x="1171575" y="2533650"/>
            <a:ext cx="800100" cy="800100"/>
          </a:xfrm>
          <a:prstGeom prst="ellipse">
            <a:avLst/>
          </a:prstGeom>
          <a:solidFill>
            <a:srgbClr val="F5F1E8"/>
          </a:solidFill>
          <a:ln w="66675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B8E9F1B-0556-4CF9-A38C-B62B0D42E79C}"/>
              </a:ext>
            </a:extLst>
          </p:cNvPr>
          <p:cNvSpPr>
            <a:spLocks noGrp="1"/>
          </p:cNvSpPr>
          <p:nvPr/>
        </p:nvSpPr>
        <p:spPr>
          <a:xfrm>
            <a:off x="1190625" y="2714625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100%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4E8DEA-B2D3-4382-9558-9E87C237CD4C}"/>
              </a:ext>
            </a:extLst>
          </p:cNvPr>
          <p:cNvSpPr>
            <a:spLocks noGrp="1"/>
          </p:cNvSpPr>
          <p:nvPr/>
        </p:nvSpPr>
        <p:spPr>
          <a:xfrm>
            <a:off x="523875" y="38481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第一阶段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878FD02-7073-475D-B7BE-E0B6AE3BDA1B}"/>
              </a:ext>
            </a:extLst>
          </p:cNvPr>
          <p:cNvSpPr>
            <a:spLocks noGrp="1"/>
          </p:cNvSpPr>
          <p:nvPr/>
        </p:nvSpPr>
        <p:spPr>
          <a:xfrm>
            <a:off x="314325" y="4324350"/>
            <a:ext cx="2514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260 HP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扇形重击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稳定追击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0036F086-0286-4496-8885-A73717F3036C}"/>
              </a:ext>
            </a:extLst>
          </p:cNvPr>
          <p:cNvSpPr>
            <a:spLocks noGrp="1"/>
          </p:cNvSpPr>
          <p:nvPr/>
        </p:nvSpPr>
        <p:spPr>
          <a:xfrm>
            <a:off x="5219700" y="2533650"/>
            <a:ext cx="800100" cy="800100"/>
          </a:xfrm>
          <a:prstGeom prst="ellipse">
            <a:avLst/>
          </a:prstGeom>
          <a:solidFill>
            <a:srgbClr val="F5F1E8"/>
          </a:solidFill>
          <a:ln w="66675">
            <a:solidFill>
              <a:srgbClr val="8F3D3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485F5A5-284E-4CFB-B4D2-3A5CD70CED58}"/>
              </a:ext>
            </a:extLst>
          </p:cNvPr>
          <p:cNvSpPr>
            <a:spLocks noGrp="1"/>
          </p:cNvSpPr>
          <p:nvPr/>
        </p:nvSpPr>
        <p:spPr>
          <a:xfrm>
            <a:off x="5238750" y="2714625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60%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2792722-C95B-4CB9-9EB5-956DBF96D62A}"/>
              </a:ext>
            </a:extLst>
          </p:cNvPr>
          <p:cNvSpPr>
            <a:spLocks noGrp="1"/>
          </p:cNvSpPr>
          <p:nvPr/>
        </p:nvSpPr>
        <p:spPr>
          <a:xfrm>
            <a:off x="4572000" y="38481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阶段转换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7E2B2CC-D4D0-493B-BD2B-AA3CED6F55EE}"/>
              </a:ext>
            </a:extLst>
          </p:cNvPr>
          <p:cNvSpPr>
            <a:spLocks noGrp="1"/>
          </p:cNvSpPr>
          <p:nvPr/>
        </p:nvSpPr>
        <p:spPr>
          <a:xfrm>
            <a:off x="4362450" y="4324350"/>
            <a:ext cx="2514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警示音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自身强化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16 m 友军强化 5 秒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C190F599-B61E-4D86-81D6-F14CF39BF6F2}"/>
              </a:ext>
            </a:extLst>
          </p:cNvPr>
          <p:cNvSpPr>
            <a:spLocks noGrp="1"/>
          </p:cNvSpPr>
          <p:nvPr/>
        </p:nvSpPr>
        <p:spPr>
          <a:xfrm>
            <a:off x="9267825" y="2533650"/>
            <a:ext cx="800100" cy="800100"/>
          </a:xfrm>
          <a:prstGeom prst="ellipse">
            <a:avLst/>
          </a:prstGeom>
          <a:solidFill>
            <a:srgbClr val="F5F1E8"/>
          </a:solidFill>
          <a:ln w="66675">
            <a:solidFill>
              <a:srgbClr val="B58A3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908F92-4AF1-4DA7-8E92-D05663530E7A}"/>
              </a:ext>
            </a:extLst>
          </p:cNvPr>
          <p:cNvSpPr>
            <a:spLocks noGrp="1"/>
          </p:cNvSpPr>
          <p:nvPr/>
        </p:nvSpPr>
        <p:spPr>
          <a:xfrm>
            <a:off x="9286875" y="2714625"/>
            <a:ext cx="762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0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0%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8919373-22B7-44E6-B449-F4E561A855E4}"/>
              </a:ext>
            </a:extLst>
          </p:cNvPr>
          <p:cNvSpPr>
            <a:spLocks noGrp="1"/>
          </p:cNvSpPr>
          <p:nvPr/>
        </p:nvSpPr>
        <p:spPr>
          <a:xfrm>
            <a:off x="8620125" y="3848100"/>
            <a:ext cx="2095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72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72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击败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68F6B7E-DB88-432D-A8D7-76C23201FD9F}"/>
              </a:ext>
            </a:extLst>
          </p:cNvPr>
          <p:cNvSpPr>
            <a:spLocks noGrp="1"/>
          </p:cNvSpPr>
          <p:nvPr/>
        </p:nvSpPr>
        <p:spPr>
          <a:xfrm>
            <a:off x="8410575" y="4324350"/>
            <a:ext cx="25146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账册解锁</a:t>
            </a:r>
          </a:p>
          <a:p>
            <a:pPr algn="ctr"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推进 S70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DA7EA0E-3F4E-477C-AE4C-930C00A25429}"/>
              </a:ext>
            </a:extLst>
          </p:cNvPr>
          <p:cNvSpPr>
            <a:spLocks noGrp="1"/>
          </p:cNvSpPr>
          <p:nvPr/>
        </p:nvSpPr>
        <p:spPr>
          <a:xfrm>
            <a:off x="1905000" y="1809750"/>
            <a:ext cx="3143250" cy="285750"/>
          </a:xfrm>
          <a:prstGeom prst="roundRect">
            <a:avLst>
              <a:gd name="adj" fmla="val 50000"/>
            </a:avLst>
          </a:prstGeom>
          <a:solidFill>
            <a:srgbClr val="EBD6D1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9C92C02-ACB2-44E2-8387-1F08CC131C6D}"/>
              </a:ext>
            </a:extLst>
          </p:cNvPr>
          <p:cNvSpPr>
            <a:spLocks noGrp="1"/>
          </p:cNvSpPr>
          <p:nvPr/>
        </p:nvSpPr>
        <p:spPr>
          <a:xfrm>
            <a:off x="2000250" y="1828800"/>
            <a:ext cx="2952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重击：0.56 秒预警 / 2.45 m / 92°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9BA367ED-E7C6-4318-8BF5-0A2638CBE1F5}"/>
              </a:ext>
            </a:extLst>
          </p:cNvPr>
          <p:cNvSpPr>
            <a:spLocks noGrp="1"/>
          </p:cNvSpPr>
          <p:nvPr/>
        </p:nvSpPr>
        <p:spPr>
          <a:xfrm>
            <a:off x="5276850" y="1809750"/>
            <a:ext cx="3048000" cy="285750"/>
          </a:xfrm>
          <a:prstGeom prst="roundRect">
            <a:avLst>
              <a:gd name="adj" fmla="val 50000"/>
            </a:avLst>
          </a:prstGeom>
          <a:solidFill>
            <a:srgbClr val="DCE9E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5362DBA-9257-4742-B50C-D81FF90D1CD0}"/>
              </a:ext>
            </a:extLst>
          </p:cNvPr>
          <p:cNvSpPr>
            <a:spLocks noGrp="1"/>
          </p:cNvSpPr>
          <p:nvPr/>
        </p:nvSpPr>
        <p:spPr>
          <a:xfrm>
            <a:off x="5372100" y="182880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强化：速度 ×1.22 / 冷却 ×0.72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FCDAEB3E-735C-4BD1-8AE1-6878B365392D}"/>
              </a:ext>
            </a:extLst>
          </p:cNvPr>
          <p:cNvSpPr>
            <a:spLocks noGrp="1"/>
          </p:cNvSpPr>
          <p:nvPr/>
        </p:nvSpPr>
        <p:spPr>
          <a:xfrm>
            <a:off x="8553450" y="1809750"/>
            <a:ext cx="2952750" cy="285750"/>
          </a:xfrm>
          <a:prstGeom prst="roundRect">
            <a:avLst>
              <a:gd name="adj" fmla="val 50000"/>
            </a:avLst>
          </a:prstGeom>
          <a:solidFill>
            <a:srgbClr val="EFE3C9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058DCA8E-A483-4531-98E3-3483E21E8B90}"/>
              </a:ext>
            </a:extLst>
          </p:cNvPr>
          <p:cNvSpPr>
            <a:spLocks noGrp="1"/>
          </p:cNvSpPr>
          <p:nvPr/>
        </p:nvSpPr>
        <p:spPr>
          <a:xfrm>
            <a:off x="8648700" y="182880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975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Bell Monk 蓄力期仅受 25% 伤害</a:t>
            </a:r>
          </a:p>
        </p:txBody>
      </p:sp>
    </p:spTree>
    <p:extLst>
      <p:ext uri="{BB962C8B-B14F-4D97-AF65-F5344CB8AC3E}">
        <p14:creationId xmlns:p14="http://schemas.microsoft.com/office/powerpoint/2010/main" val="17887979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0A76A158-A38D-4BE8-9BC2-946B5D16018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EB1845C-7C35-4EEA-AA33-F163690BDEC3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19 / CLOSURE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56E0A71-51D2-485A-8684-6197ACB4D2ED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账册回收全部线索，失败规则保留玩家学习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3D194A-A1DE-4939-A89D-F79D74A178C8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2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2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CA8B73A-217B-41F4-968A-94FFD9C7DBBE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rcRect l="7922" r="7922"/>
          <a:stretch>
            <a:fillRect/>
          </a:stretch>
        </p:blipFill>
        <p:spPr>
          <a:xfrm>
            <a:off x="609600" y="1504950"/>
            <a:ext cx="5905500" cy="4095750"/>
          </a:xfrm>
          <a:prstGeom prst="roundRect">
            <a:avLst>
              <a:gd name="adj" fmla="val 2791"/>
            </a:avLst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87EEE6AE-1DCC-45F1-B87F-F92582B0E916}"/>
              </a:ext>
            </a:extLst>
          </p:cNvPr>
          <p:cNvSpPr>
            <a:spLocks noGrp="1"/>
          </p:cNvSpPr>
          <p:nvPr/>
        </p:nvSpPr>
        <p:spPr>
          <a:xfrm>
            <a:off x="6800850" y="1504950"/>
            <a:ext cx="44767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6CB4A5-5B16-4D4C-A8C1-353872CB58E8}"/>
              </a:ext>
            </a:extLst>
          </p:cNvPr>
          <p:cNvSpPr>
            <a:spLocks noGrp="1"/>
          </p:cNvSpPr>
          <p:nvPr/>
        </p:nvSpPr>
        <p:spPr>
          <a:xfrm>
            <a:off x="6972300" y="1676400"/>
            <a:ext cx="323850" cy="3810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C62C585-BA7D-47BD-9337-3A0E1F7BE722}"/>
              </a:ext>
            </a:extLst>
          </p:cNvPr>
          <p:cNvSpPr>
            <a:spLocks noGrp="1"/>
          </p:cNvSpPr>
          <p:nvPr/>
        </p:nvSpPr>
        <p:spPr>
          <a:xfrm>
            <a:off x="6972300" y="1790700"/>
            <a:ext cx="413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Boss 后结算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8120589-C66F-4CB7-A366-0E7F1857956C}"/>
              </a:ext>
            </a:extLst>
          </p:cNvPr>
          <p:cNvSpPr>
            <a:spLocks noGrp="1"/>
          </p:cNvSpPr>
          <p:nvPr/>
        </p:nvSpPr>
        <p:spPr>
          <a:xfrm>
            <a:off x="6972300" y="2171700"/>
            <a:ext cx="413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灰衣</a:t>
            </a:r>
            <a:r>
              <a:rPr lang="en-US" altLang="zh-CN"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Boss</a:t>
            </a: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死亡后账册解锁；任务推进至</a:t>
            </a:r>
            <a:r>
              <a:rPr lang="zh-CN" altLang="en-US"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最终环节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，</a:t>
            </a:r>
            <a:br>
              <a:rPr lang="en-US"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</a:br>
            <a:r>
              <a:rPr sz="1275" dirty="0" err="1">
                <a:solidFill>
                  <a:srgbClr val="667177"/>
                </a:solidFill>
                <a:latin typeface="SimSun"/>
                <a:ea typeface="SimSun"/>
                <a:cs typeface="SimSun"/>
              </a:rPr>
              <a:t>再前往崖口</a:t>
            </a:r>
            <a:r>
              <a:rPr lang="zh-CN" altLang="en-US"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撤离，回顾整个日志</a:t>
            </a:r>
            <a:r>
              <a:rPr sz="12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4F6F0BC-B353-4078-AF30-B005AC2039A8}"/>
              </a:ext>
            </a:extLst>
          </p:cNvPr>
          <p:cNvSpPr>
            <a:spLocks noGrp="1"/>
          </p:cNvSpPr>
          <p:nvPr/>
        </p:nvSpPr>
        <p:spPr>
          <a:xfrm>
            <a:off x="6800850" y="2895600"/>
            <a:ext cx="4476750" cy="120015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27A297-04F2-4885-8CE0-22F4721B884F}"/>
              </a:ext>
            </a:extLst>
          </p:cNvPr>
          <p:cNvSpPr>
            <a:spLocks noGrp="1"/>
          </p:cNvSpPr>
          <p:nvPr/>
        </p:nvSpPr>
        <p:spPr>
          <a:xfrm>
            <a:off x="6972300" y="3067050"/>
            <a:ext cx="323850" cy="38100"/>
          </a:xfrm>
          <a:prstGeom prst="rect">
            <a:avLst/>
          </a:prstGeom>
          <a:solidFill>
            <a:srgbClr val="1F6F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317FC8F-167E-44DE-B7D5-22F5225CEC14}"/>
              </a:ext>
            </a:extLst>
          </p:cNvPr>
          <p:cNvSpPr>
            <a:spLocks noGrp="1"/>
          </p:cNvSpPr>
          <p:nvPr/>
        </p:nvSpPr>
        <p:spPr>
          <a:xfrm>
            <a:off x="6972300" y="3181350"/>
            <a:ext cx="413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叙事闭环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A659DEE-0E60-41E2-B423-5764EA98CC7D}"/>
              </a:ext>
            </a:extLst>
          </p:cNvPr>
          <p:cNvSpPr>
            <a:spLocks noGrp="1"/>
          </p:cNvSpPr>
          <p:nvPr/>
        </p:nvSpPr>
        <p:spPr>
          <a:xfrm>
            <a:off x="6972300" y="3562350"/>
            <a:ext cx="41338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货车、押运队、夜间活动与地下据点最终汇入“走私网络 + 县中内应”。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17143A4-3FCE-440D-B044-28DBD7190906}"/>
              </a:ext>
            </a:extLst>
          </p:cNvPr>
          <p:cNvSpPr>
            <a:spLocks noGrp="1"/>
          </p:cNvSpPr>
          <p:nvPr/>
        </p:nvSpPr>
        <p:spPr>
          <a:xfrm>
            <a:off x="6800850" y="4286250"/>
            <a:ext cx="4476750" cy="131445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7051E95-B98A-4129-AD90-40231626A612}"/>
              </a:ext>
            </a:extLst>
          </p:cNvPr>
          <p:cNvSpPr>
            <a:spLocks noGrp="1"/>
          </p:cNvSpPr>
          <p:nvPr/>
        </p:nvSpPr>
        <p:spPr>
          <a:xfrm>
            <a:off x="6972300" y="4457700"/>
            <a:ext cx="323850" cy="38100"/>
          </a:xfrm>
          <a:prstGeom prst="rect">
            <a:avLst/>
          </a:prstGeom>
          <a:solidFill>
            <a:srgbClr val="8F3D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491BC04-B5FC-4C23-BC66-815606608B79}"/>
              </a:ext>
            </a:extLst>
          </p:cNvPr>
          <p:cNvSpPr>
            <a:spLocks noGrp="1"/>
          </p:cNvSpPr>
          <p:nvPr/>
        </p:nvSpPr>
        <p:spPr>
          <a:xfrm>
            <a:off x="6972300" y="4572000"/>
            <a:ext cx="41338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 b="1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b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失败与学习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D0DC85E-7AF7-4051-9687-E74C603516A7}"/>
              </a:ext>
            </a:extLst>
          </p:cNvPr>
          <p:cNvSpPr>
            <a:spLocks noGrp="1"/>
          </p:cNvSpPr>
          <p:nvPr/>
        </p:nvSpPr>
        <p:spPr>
          <a:xfrm>
            <a:off x="6972300" y="4953000"/>
            <a:ext cx="4133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t"/>
          <a:lstStyle/>
          <a:p>
            <a:pPr>
              <a:defRPr sz="12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1275">
                <a:solidFill>
                  <a:srgbClr val="667177"/>
                </a:solidFill>
                <a:latin typeface="SimSun"/>
                <a:ea typeface="SimSun"/>
                <a:cs typeface="SimSun"/>
              </a:rPr>
              <a:t>死亡复位玩家与存活敌人；证据、已击败敌人和已触发警报波次保留，重试聚焦当前挑战。</a:t>
            </a:r>
          </a:p>
        </p:txBody>
      </p:sp>
    </p:spTree>
    <p:extLst>
      <p:ext uri="{BB962C8B-B14F-4D97-AF65-F5344CB8AC3E}">
        <p14:creationId xmlns:p14="http://schemas.microsoft.com/office/powerpoint/2010/main" val="5756305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7462C93E-1A5C-41F8-8296-E65EAE2B1DA7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19100" cy="47625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C8DB273-2D9D-4085-AC19-F650A00CC879}"/>
              </a:ext>
            </a:extLst>
          </p:cNvPr>
          <p:cNvSpPr>
            <a:spLocks noGrp="1"/>
          </p:cNvSpPr>
          <p:nvPr/>
        </p:nvSpPr>
        <p:spPr>
          <a:xfrm>
            <a:off x="1181100" y="323850"/>
            <a:ext cx="4000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0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0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20 / TAKEAWAYS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5D0C49D-1349-4C24-ACC1-F1DC1ACD783E}"/>
              </a:ext>
            </a:extLst>
          </p:cNvPr>
          <p:cNvSpPr>
            <a:spLocks noGrp="1"/>
          </p:cNvSpPr>
          <p:nvPr/>
        </p:nvSpPr>
        <p:spPr>
          <a:xfrm>
            <a:off x="609600" y="723900"/>
            <a:ext cx="10668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300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300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关卡设计结论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36E313C-0201-43F0-8BB7-692EF635C762}"/>
              </a:ext>
            </a:extLst>
          </p:cNvPr>
          <p:cNvSpPr>
            <a:spLocks noGrp="1"/>
          </p:cNvSpPr>
          <p:nvPr/>
        </p:nvSpPr>
        <p:spPr>
          <a:xfrm>
            <a:off x="11191875" y="6191250"/>
            <a:ext cx="47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75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2</a:t>
            </a:r>
            <a:r>
              <a:rPr lang="en-US" sz="975" dirty="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3</a:t>
            </a:r>
            <a:endParaRPr sz="975" dirty="0">
              <a:solidFill>
                <a:srgbClr val="667177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97BDA53-B081-4D22-93BB-DFAC18F36A18}"/>
              </a:ext>
            </a:extLst>
          </p:cNvPr>
          <p:cNvSpPr>
            <a:spLocks noGrp="1"/>
          </p:cNvSpPr>
          <p:nvPr/>
        </p:nvSpPr>
        <p:spPr>
          <a:xfrm>
            <a:off x="609600" y="61912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900">
                <a:solidFill>
                  <a:srgbClr val="667177"/>
                </a:solidFill>
                <a:latin typeface="SimSun"/>
                <a:ea typeface="SimSun"/>
                <a:cs typeface="SimSun"/>
              </a:defRPr>
            </a:pPr>
            <a:r>
              <a:rPr sz="900">
                <a:solidFill>
                  <a:srgbClr val="667177"/>
                </a:solidFill>
                <a:latin typeface="SimSun"/>
                <a:ea typeface="SimSun"/>
                <a:cs typeface="SimSun"/>
              </a:rPr>
              <a:t>《荒寺夜钟：义庄疑案》｜关卡设计演示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8CA2BAC-1158-4D6F-9D04-C95C53ACF364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93345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448234B-2353-4FAE-996A-1CB534D6C27E}"/>
              </a:ext>
            </a:extLst>
          </p:cNvPr>
          <p:cNvSpPr>
            <a:spLocks noGrp="1"/>
          </p:cNvSpPr>
          <p:nvPr/>
        </p:nvSpPr>
        <p:spPr>
          <a:xfrm>
            <a:off x="1428750" y="1619250"/>
            <a:ext cx="133350" cy="66675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3BB107C-7E81-4423-A398-96B397180877}"/>
              </a:ext>
            </a:extLst>
          </p:cNvPr>
          <p:cNvSpPr>
            <a:spLocks noGrp="1"/>
          </p:cNvSpPr>
          <p:nvPr/>
        </p:nvSpPr>
        <p:spPr>
          <a:xfrm>
            <a:off x="1847850" y="17335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一条主题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8EC25C0-0A69-42AD-9FFE-79F6F8552B89}"/>
              </a:ext>
            </a:extLst>
          </p:cNvPr>
          <p:cNvSpPr>
            <a:spLocks noGrp="1"/>
          </p:cNvSpPr>
          <p:nvPr/>
        </p:nvSpPr>
        <p:spPr>
          <a:xfrm>
            <a:off x="3638550" y="17335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lang="zh-CN" altLang="en-US" sz="1500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以查案推进关卡流程</a:t>
            </a:r>
            <a:endParaRPr sz="1500" dirty="0">
              <a:solidFill>
                <a:srgbClr val="1F2A2F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304DC0EC-D935-4546-8EA4-E5A7B371AE9A}"/>
              </a:ext>
            </a:extLst>
          </p:cNvPr>
          <p:cNvSpPr>
            <a:spLocks noGrp="1"/>
          </p:cNvSpPr>
          <p:nvPr/>
        </p:nvSpPr>
        <p:spPr>
          <a:xfrm>
            <a:off x="1428750" y="2457450"/>
            <a:ext cx="93345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B51FC4E-5E3C-4E59-8D7E-72AD029FE75F}"/>
              </a:ext>
            </a:extLst>
          </p:cNvPr>
          <p:cNvSpPr>
            <a:spLocks noGrp="1"/>
          </p:cNvSpPr>
          <p:nvPr/>
        </p:nvSpPr>
        <p:spPr>
          <a:xfrm>
            <a:off x="1428750" y="2457450"/>
            <a:ext cx="133350" cy="666750"/>
          </a:xfrm>
          <a:prstGeom prst="rect">
            <a:avLst/>
          </a:prstGeom>
          <a:solidFill>
            <a:srgbClr val="1F6F78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1DD853-9B47-49A6-8D70-E68155568F35}"/>
              </a:ext>
            </a:extLst>
          </p:cNvPr>
          <p:cNvSpPr>
            <a:spLocks noGrp="1"/>
          </p:cNvSpPr>
          <p:nvPr/>
        </p:nvSpPr>
        <p:spPr>
          <a:xfrm>
            <a:off x="1847850" y="25717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1F6F78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F6F78"/>
                </a:solidFill>
                <a:latin typeface="SimSun"/>
                <a:ea typeface="SimSun"/>
                <a:cs typeface="SimSun"/>
              </a:rPr>
              <a:t>一次翻转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0D47BF1-EC96-4702-889E-DF572E3312ED}"/>
              </a:ext>
            </a:extLst>
          </p:cNvPr>
          <p:cNvSpPr>
            <a:spLocks noGrp="1"/>
          </p:cNvSpPr>
          <p:nvPr/>
        </p:nvSpPr>
        <p:spPr>
          <a:xfrm>
            <a:off x="3638550" y="25717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 dirty="0" err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地表开放调查</a:t>
            </a:r>
            <a:r>
              <a:rPr sz="1500" dirty="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 → </a:t>
            </a:r>
            <a:r>
              <a:rPr sz="1500" dirty="0" err="1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地下压迫路径</a:t>
            </a:r>
            <a:endParaRPr sz="1500" dirty="0">
              <a:solidFill>
                <a:srgbClr val="1F2A2F"/>
              </a:solidFill>
              <a:latin typeface="SimSun"/>
              <a:ea typeface="SimSun"/>
              <a:cs typeface="SimSun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840FFAA-28D3-44A3-A25D-FD24FD10D1BC}"/>
              </a:ext>
            </a:extLst>
          </p:cNvPr>
          <p:cNvSpPr>
            <a:spLocks noGrp="1"/>
          </p:cNvSpPr>
          <p:nvPr/>
        </p:nvSpPr>
        <p:spPr>
          <a:xfrm>
            <a:off x="1428750" y="3295650"/>
            <a:ext cx="93345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3E63E7-706C-48E7-8176-40EDE0E84ABE}"/>
              </a:ext>
            </a:extLst>
          </p:cNvPr>
          <p:cNvSpPr>
            <a:spLocks noGrp="1"/>
          </p:cNvSpPr>
          <p:nvPr/>
        </p:nvSpPr>
        <p:spPr>
          <a:xfrm>
            <a:off x="1428750" y="3295650"/>
            <a:ext cx="133350" cy="666750"/>
          </a:xfrm>
          <a:prstGeom prst="rect">
            <a:avLst/>
          </a:prstGeom>
          <a:solidFill>
            <a:srgbClr val="8F3D3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38B34C-1D7D-46B4-A6D2-3E5C77838640}"/>
              </a:ext>
            </a:extLst>
          </p:cNvPr>
          <p:cNvSpPr>
            <a:spLocks noGrp="1"/>
          </p:cNvSpPr>
          <p:nvPr/>
        </p:nvSpPr>
        <p:spPr>
          <a:xfrm>
            <a:off x="1847850" y="34099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8F3D3D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8F3D3D"/>
                </a:solidFill>
                <a:latin typeface="SimSun"/>
                <a:ea typeface="SimSun"/>
                <a:cs typeface="SimSun"/>
              </a:rPr>
              <a:t>三段教学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4647FF2-79F9-4E37-A01F-8631A8D7FA85}"/>
              </a:ext>
            </a:extLst>
          </p:cNvPr>
          <p:cNvSpPr>
            <a:spLocks noGrp="1"/>
          </p:cNvSpPr>
          <p:nvPr/>
        </p:nvSpPr>
        <p:spPr>
          <a:xfrm>
            <a:off x="3638550" y="34099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冲撞、定点、脉冲先拆分后组合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DBBE3720-AB26-4D04-9AFB-E4C52AAE04F9}"/>
              </a:ext>
            </a:extLst>
          </p:cNvPr>
          <p:cNvSpPr>
            <a:spLocks noGrp="1"/>
          </p:cNvSpPr>
          <p:nvPr/>
        </p:nvSpPr>
        <p:spPr>
          <a:xfrm>
            <a:off x="1428750" y="4133850"/>
            <a:ext cx="93345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D52F112-36DE-4BA3-A97D-8B51BF4FBF1E}"/>
              </a:ext>
            </a:extLst>
          </p:cNvPr>
          <p:cNvSpPr>
            <a:spLocks noGrp="1"/>
          </p:cNvSpPr>
          <p:nvPr/>
        </p:nvSpPr>
        <p:spPr>
          <a:xfrm>
            <a:off x="1428750" y="4133850"/>
            <a:ext cx="133350" cy="666750"/>
          </a:xfrm>
          <a:prstGeom prst="rect">
            <a:avLst/>
          </a:prstGeom>
          <a:solidFill>
            <a:srgbClr val="174D5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0C53F58-F11C-4BEB-A639-CB56AF2E3170}"/>
              </a:ext>
            </a:extLst>
          </p:cNvPr>
          <p:cNvSpPr>
            <a:spLocks noGrp="1"/>
          </p:cNvSpPr>
          <p:nvPr/>
        </p:nvSpPr>
        <p:spPr>
          <a:xfrm>
            <a:off x="1847850" y="42481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两条路线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97F0C5B-BD7A-4040-9EBF-F9D59B8DA341}"/>
              </a:ext>
            </a:extLst>
          </p:cNvPr>
          <p:cNvSpPr>
            <a:spLocks noGrp="1"/>
          </p:cNvSpPr>
          <p:nvPr/>
        </p:nvSpPr>
        <p:spPr>
          <a:xfrm>
            <a:off x="3638550" y="42481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警钟与钟僧形成有后果的开局选择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759A4D98-A902-490F-8C0A-6E2FB7F1671D}"/>
              </a:ext>
            </a:extLst>
          </p:cNvPr>
          <p:cNvSpPr>
            <a:spLocks noGrp="1"/>
          </p:cNvSpPr>
          <p:nvPr/>
        </p:nvSpPr>
        <p:spPr>
          <a:xfrm>
            <a:off x="1428750" y="4972050"/>
            <a:ext cx="9334500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9525">
            <a:solidFill>
              <a:srgbClr val="D9DD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18EA509-2AE7-4A25-9F17-8F83FBDB1DDC}"/>
              </a:ext>
            </a:extLst>
          </p:cNvPr>
          <p:cNvSpPr>
            <a:spLocks noGrp="1"/>
          </p:cNvSpPr>
          <p:nvPr/>
        </p:nvSpPr>
        <p:spPr>
          <a:xfrm>
            <a:off x="1428750" y="4972050"/>
            <a:ext cx="133350" cy="666750"/>
          </a:xfrm>
          <a:prstGeom prst="rect">
            <a:avLst/>
          </a:prstGeom>
          <a:solidFill>
            <a:srgbClr val="B58A3B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7AA8695-376D-4A24-8C24-38FE0D950AF6}"/>
              </a:ext>
            </a:extLst>
          </p:cNvPr>
          <p:cNvSpPr>
            <a:spLocks noGrp="1"/>
          </p:cNvSpPr>
          <p:nvPr/>
        </p:nvSpPr>
        <p:spPr>
          <a:xfrm>
            <a:off x="1847850" y="5086350"/>
            <a:ext cx="1619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650" b="1">
                <a:solidFill>
                  <a:srgbClr val="B58A3B"/>
                </a:solidFill>
                <a:latin typeface="SimSun"/>
                <a:ea typeface="SimSun"/>
                <a:cs typeface="SimSun"/>
              </a:defRPr>
            </a:pPr>
            <a:r>
              <a:rPr sz="1650" b="1">
                <a:solidFill>
                  <a:srgbClr val="B58A3B"/>
                </a:solidFill>
                <a:latin typeface="SimSun"/>
                <a:ea typeface="SimSun"/>
                <a:cs typeface="SimSun"/>
              </a:rPr>
              <a:t>一个闭环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F7F4B0B-1EF6-4BDA-8974-71CD00F20FB4}"/>
              </a:ext>
            </a:extLst>
          </p:cNvPr>
          <p:cNvSpPr>
            <a:spLocks noGrp="1"/>
          </p:cNvSpPr>
          <p:nvPr/>
        </p:nvSpPr>
        <p:spPr>
          <a:xfrm>
            <a:off x="3638550" y="508635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>
              <a:defRPr sz="1500">
                <a:solidFill>
                  <a:srgbClr val="1F2A2F"/>
                </a:solidFill>
                <a:latin typeface="SimSun"/>
                <a:ea typeface="SimSun"/>
                <a:cs typeface="SimSun"/>
              </a:defRPr>
            </a:pPr>
            <a:r>
              <a:rPr sz="1500">
                <a:solidFill>
                  <a:srgbClr val="1F2A2F"/>
                </a:solidFill>
                <a:latin typeface="SimSun"/>
                <a:ea typeface="SimSun"/>
                <a:cs typeface="SimSun"/>
              </a:rPr>
              <a:t>Boss → 账册 → 内应证据 → 崖口撤离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4D4B3FA-D4B4-4D4A-8597-11326FC7AE72}"/>
              </a:ext>
            </a:extLst>
          </p:cNvPr>
          <p:cNvSpPr>
            <a:spLocks noGrp="1"/>
          </p:cNvSpPr>
          <p:nvPr/>
        </p:nvSpPr>
        <p:spPr>
          <a:xfrm>
            <a:off x="1047750" y="5943600"/>
            <a:ext cx="1009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4D54"/>
                </a:solidFill>
                <a:latin typeface="SimSun"/>
                <a:ea typeface="SimSun"/>
                <a:cs typeface="SimSun"/>
              </a:defRPr>
            </a:pPr>
            <a:r>
              <a:rPr sz="1275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完整体验约</a:t>
            </a:r>
            <a:r>
              <a:rPr sz="1275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 8—10 </a:t>
            </a:r>
            <a:r>
              <a:rPr sz="1275" b="1" dirty="0" err="1">
                <a:solidFill>
                  <a:srgbClr val="174D54"/>
                </a:solidFill>
                <a:latin typeface="SimSun"/>
                <a:ea typeface="SimSun"/>
                <a:cs typeface="SimSun"/>
              </a:rPr>
              <a:t>分钟｜单场景可运行</a:t>
            </a:r>
            <a:r>
              <a:rPr sz="1275" b="1" dirty="0">
                <a:solidFill>
                  <a:srgbClr val="174D54"/>
                </a:solidFill>
                <a:latin typeface="SimSun"/>
                <a:ea typeface="SimSun"/>
                <a:cs typeface="SimSun"/>
              </a:rPr>
              <a:t> Demo</a:t>
            </a:r>
          </a:p>
        </p:txBody>
      </p:sp>
    </p:spTree>
    <p:extLst>
      <p:ext uri="{BB962C8B-B14F-4D97-AF65-F5344CB8AC3E}">
        <p14:creationId xmlns:p14="http://schemas.microsoft.com/office/powerpoint/2010/main" val="70516678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1526</TotalTime>
  <Words>4422</Words>
  <Application>Microsoft Office PowerPoint</Application>
  <DocSecurity>0</DocSecurity>
  <PresentationFormat>宽屏</PresentationFormat>
  <Paragraphs>504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5" baseType="lpstr">
      <vt:lpstr>SimSun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帆 俞</cp:lastModifiedBy>
  <cp:revision>16</cp:revision>
  <dcterms:created xsi:type="dcterms:W3CDTF">2026-08-27T09:43:48Z</dcterms:created>
  <dcterms:modified xsi:type="dcterms:W3CDTF">2026-09-11T05:38:39Z</dcterms:modified>
</cp:coreProperties>
</file>